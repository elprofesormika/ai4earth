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PkTkAWNH5fpuO7/th7ky6I5BZ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3535A-3EC2-33EA-5EEE-25062EC9F0A1}" v="46" dt="2026-07-19T12:08:32.133"/>
    <p1510:client id="{F90FB761-7A09-693B-28BB-E30B92F7D23E}" v="23" dt="2026-07-20T13:40:48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0" y="1278400"/>
            <a:ext cx="85206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7915"/>
              </a:lnSpc>
              <a:spcBef>
                <a:spcPts val="1400"/>
              </a:spcBef>
              <a:spcAft>
                <a:spcPts val="400"/>
              </a:spcAft>
            </a:pPr>
            <a:r>
              <a:rPr lang="en" sz="4000" b="1">
                <a:ea typeface="Calibri"/>
                <a:sym typeface="Times New Roman"/>
              </a:rPr>
              <a:t>Smart Waste Management Systems</a:t>
            </a:r>
            <a:endParaRPr lang="en-US" sz="4000" b="1"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736100"/>
            <a:ext cx="52767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lnSpc>
                <a:spcPct val="107915"/>
              </a:lnSpc>
              <a:spcBef>
                <a:spcPts val="1400"/>
              </a:spcBef>
              <a:spcAft>
                <a:spcPts val="400"/>
              </a:spcAft>
            </a:pPr>
            <a:r>
              <a:rPr lang="en" sz="1500" b="1" dirty="0" err="1">
                <a:solidFill>
                  <a:srgbClr val="E85D25"/>
                </a:solidFill>
                <a:ea typeface="Calibri"/>
                <a:sym typeface="Calibri"/>
              </a:rPr>
              <a:t>SmartWasteAI</a:t>
            </a:r>
            <a:r>
              <a:rPr lang="en" sz="1500" b="1" dirty="0">
                <a:solidFill>
                  <a:srgbClr val="E85D25"/>
                </a:solidFill>
                <a:ea typeface="Calibri"/>
                <a:sym typeface="Calibri"/>
              </a:rPr>
              <a:t> : </a:t>
            </a:r>
            <a:r>
              <a:rPr lang="en" sz="1500" b="1" i="1" dirty="0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A Federated, Explainable AI Framework for Predictive Waste Management with Informal Sector Integration</a:t>
            </a:r>
            <a:endParaRPr lang="en" dirty="0"/>
          </a:p>
          <a:p>
            <a:pPr marL="0" lvl="0" indent="0" algn="l" rtl="0">
              <a:lnSpc>
                <a:spcPct val="115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Team Name:</a:t>
            </a:r>
            <a:r>
              <a:rPr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AI4Earth</a:t>
            </a:r>
          </a:p>
          <a:p>
            <a:pPr marL="0" lvl="0" indent="0" algn="l" rtl="0">
              <a:lnSpc>
                <a:spcPct val="115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en" sz="13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Team Leader:</a:t>
            </a:r>
            <a:r>
              <a:rPr lang="en" sz="1300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Housseni</a:t>
            </a:r>
            <a:r>
              <a:rPr lang="en" sz="1300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YABRE</a:t>
            </a:r>
            <a:endParaRPr lang="en" sz="1300" dirty="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15000"/>
              </a:lnSpc>
              <a:spcBef>
                <a:spcPts val="140"/>
              </a:spcBef>
              <a:spcAft>
                <a:spcPts val="140"/>
              </a:spcAft>
            </a:pPr>
            <a:r>
              <a:rPr lang="en" sz="13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Teammates:</a:t>
            </a:r>
            <a:r>
              <a:rPr lang="en" sz="1300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Kossi </a:t>
            </a:r>
            <a:r>
              <a:rPr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Sylvanus AMEYIDA ; Rich DEGBEVI</a:t>
            </a:r>
            <a:endParaRPr lang="en" sz="1300" dirty="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14999"/>
              </a:lnSpc>
              <a:spcBef>
                <a:spcPts val="140"/>
              </a:spcBef>
              <a:spcAft>
                <a:spcPts val="140"/>
              </a:spcAft>
            </a:pPr>
            <a:r>
              <a:rPr lang="en" sz="1100" b="1">
                <a:solidFill>
                  <a:srgbClr val="002060"/>
                </a:solidFill>
                <a:ea typeface="Calibri"/>
                <a:sym typeface="Calibri"/>
              </a:rPr>
              <a:t>College Name</a:t>
            </a:r>
            <a:r>
              <a:rPr lang="en" sz="11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100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>
                <a:solidFill>
                  <a:srgbClr val="1F2937"/>
                </a:solidFill>
                <a:ea typeface="Calibri"/>
                <a:sym typeface="Calibri"/>
              </a:rPr>
              <a:t>University of Technology of Troyes, France</a:t>
            </a:r>
            <a:endParaRPr lang="en" dirty="0"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3475" y="58800"/>
            <a:ext cx="2435905" cy="6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97550" y="58788"/>
            <a:ext cx="1524000" cy="60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10651" y="76342"/>
            <a:ext cx="1524000" cy="631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16075" y="103675"/>
            <a:ext cx="947372" cy="6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0575" y="113850"/>
            <a:ext cx="1524000" cy="593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5400000">
            <a:off x="4401225" y="-3711450"/>
            <a:ext cx="319075" cy="9157224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Card 501"/>
          <p:cNvSpPr/>
          <p:nvPr/>
        </p:nvSpPr>
        <p:spPr>
          <a:xfrm>
            <a:off x="5806440" y="2834640"/>
            <a:ext cx="2240280" cy="685800"/>
          </a:xfrm>
          <a:prstGeom prst="roundRect">
            <a:avLst>
              <a:gd name="adj" fmla="val 20000"/>
            </a:avLst>
          </a:prstGeom>
          <a:solidFill>
            <a:srgbClr val="E85D25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"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SmartAIthon 2026</a:t>
            </a:r>
          </a:p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 1 Submission</a:t>
            </a:r>
          </a:p>
        </p:txBody>
      </p:sp>
      <p:sp>
        <p:nvSpPr>
          <p:cNvPr id="502" name="TextBox 502"/>
          <p:cNvSpPr txBox="1"/>
          <p:nvPr/>
        </p:nvSpPr>
        <p:spPr>
          <a:xfrm>
            <a:off x="5623560" y="361188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IEEE Computational Intelligence Society</a:t>
            </a:r>
          </a:p>
        </p:txBody>
      </p:sp>
    </p:spTree>
    <p:extLst>
      <p:ext uri="{BB962C8B-B14F-4D97-AF65-F5344CB8AC3E}">
        <p14:creationId xmlns:p14="http://schemas.microsoft.com/office/powerpoint/2010/main" val="105355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ctrTitle"/>
          </p:nvPr>
        </p:nvSpPr>
        <p:spPr>
          <a:xfrm>
            <a:off x="42950" y="0"/>
            <a:ext cx="50538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latin typeface="Times New Roman"/>
                <a:ea typeface="Times New Roman"/>
                <a:cs typeface="Times New Roman"/>
                <a:sym typeface="Times New Roman"/>
              </a:rPr>
              <a:t>PROBLEM  STATEMENT</a:t>
            </a:r>
            <a:endParaRPr sz="2800"/>
          </a:p>
        </p:txBody>
      </p:sp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43663" y="431600"/>
            <a:ext cx="256675" cy="91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>
            <a:off x="4412474" y="-3667330"/>
            <a:ext cx="319075" cy="90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TextBox 501"/>
          <p:cNvSpPr txBox="1"/>
          <p:nvPr/>
        </p:nvSpPr>
        <p:spPr>
          <a:xfrm>
            <a:off x="268877" y="1031966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waste crisis isn't a hardware problem. It's an </a:t>
            </a:r>
            <a:r>
              <a:rPr lang="en" sz="1400" b="1" i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intelligence problem.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3716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3.4 B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tons of waste / year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" sz="85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by 2050 · World Bank</a:t>
            </a:r>
          </a:p>
        </p:txBody>
      </p:sp>
      <p:sp>
        <p:nvSpPr>
          <p:cNvPr id="503" name="Card 503"/>
          <p:cNvSpPr/>
          <p:nvPr/>
        </p:nvSpPr>
        <p:spPr>
          <a:xfrm>
            <a:off x="2377440" y="13716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24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44 %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of global waste is organic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" sz="85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high fire &amp; biohazard risk</a:t>
            </a:r>
          </a:p>
        </p:txBody>
      </p:sp>
      <p:sp>
        <p:nvSpPr>
          <p:cNvPr id="504" name="Card 504"/>
          <p:cNvSpPr/>
          <p:nvPr/>
        </p:nvSpPr>
        <p:spPr>
          <a:xfrm>
            <a:off x="4480560" y="13716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24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&lt; 20 %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recycled or composted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" sz="85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globally · World Bank</a:t>
            </a:r>
          </a:p>
        </p:txBody>
      </p:sp>
      <p:sp>
        <p:nvSpPr>
          <p:cNvPr id="505" name="Card 505"/>
          <p:cNvSpPr/>
          <p:nvPr/>
        </p:nvSpPr>
        <p:spPr>
          <a:xfrm>
            <a:off x="6583680" y="13716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24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20 M+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informal waste pickers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" sz="85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invisible to city systems</a:t>
            </a:r>
          </a:p>
        </p:txBody>
      </p:sp>
      <p:sp>
        <p:nvSpPr>
          <p:cNvPr id="506" name="Card 506"/>
          <p:cNvSpPr/>
          <p:nvPr/>
        </p:nvSpPr>
        <p:spPr>
          <a:xfrm>
            <a:off x="274320" y="2468880"/>
            <a:ext cx="4251960" cy="85039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BLIND BINS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Ultrasonic sensors detect fill level only. They cannot tell plastic from paper or organic. No sorting quality signal.</a:t>
            </a:r>
          </a:p>
        </p:txBody>
      </p:sp>
      <p:sp>
        <p:nvSpPr>
          <p:cNvPr id="507" name="Card 507"/>
          <p:cNvSpPr/>
          <p:nvPr/>
        </p:nvSpPr>
        <p:spPr>
          <a:xfrm>
            <a:off x="4617720" y="2468880"/>
            <a:ext cx="4251960" cy="85039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REACTIVE ROUTES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Trucks follow fixed schedules, not real needs. Half-empty pickups on one street, overflowing bins on another.</a:t>
            </a:r>
          </a:p>
        </p:txBody>
      </p:sp>
      <p:sp>
        <p:nvSpPr>
          <p:cNvPr id="508" name="Card 508"/>
          <p:cNvSpPr/>
          <p:nvPr/>
        </p:nvSpPr>
        <p:spPr>
          <a:xfrm>
            <a:off x="274320" y="3364992"/>
            <a:ext cx="4251960" cy="85039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2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ORGANIC WASTE RISK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Wet organic waste + heat = fire + biohazard. No system today monitors gas, temperature and humidity together.</a:t>
            </a:r>
          </a:p>
        </p:txBody>
      </p:sp>
      <p:sp>
        <p:nvSpPr>
          <p:cNvPr id="509" name="Card 509"/>
          <p:cNvSpPr/>
          <p:nvPr/>
        </p:nvSpPr>
        <p:spPr>
          <a:xfrm>
            <a:off x="4617720" y="3364992"/>
            <a:ext cx="4251960" cy="85039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2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INFORMAL SECTOR IGNORED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20 M+ waste pickers worldwide handle roughly 60 % of urban recyclables. Yet no platform tracks or pays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ctrTitle"/>
          </p:nvPr>
        </p:nvSpPr>
        <p:spPr>
          <a:xfrm>
            <a:off x="42951" y="79725"/>
            <a:ext cx="3141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800"/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4412462" y="-3678216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Card 501"/>
          <p:cNvSpPr/>
          <p:nvPr/>
        </p:nvSpPr>
        <p:spPr>
          <a:xfrm>
            <a:off x="274320" y="1108165"/>
            <a:ext cx="8595360" cy="537755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spcFirstLastPara="1" wrap="square" lIns="137160" tIns="137160" rIns="137160" bIns="13716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err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SmartWasteAI</a:t>
            </a:r>
            <a:r>
              <a:rPr lang="en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  A </a:t>
            </a:r>
            <a:r>
              <a:rPr lang="en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Federated, Multi-Agent, Explainable AI Framework</a:t>
            </a:r>
            <a:r>
              <a:rPr lang="en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for predictive urban waste management.</a:t>
            </a:r>
            <a:endParaRPr lang="en" dirty="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2" name="Card 502"/>
          <p:cNvSpPr/>
          <p:nvPr/>
        </p:nvSpPr>
        <p:spPr>
          <a:xfrm>
            <a:off x="274320" y="1783080"/>
            <a:ext cx="4206240" cy="1234440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1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◆  TECHNICAL  ·  Federated Edge AI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On-device YOLO vision + IoT sensing. No image ever leaves the bin. Bins train a shared model together via Federated Learning.</a:t>
            </a:r>
          </a:p>
        </p:txBody>
      </p:sp>
      <p:sp>
        <p:nvSpPr>
          <p:cNvPr id="503" name="Card 503"/>
          <p:cNvSpPr/>
          <p:nvPr/>
        </p:nvSpPr>
        <p:spPr>
          <a:xfrm>
            <a:off x="4663440" y="1783080"/>
            <a:ext cx="4206240" cy="1234440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1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◆  TECHNICAL  ·  Explainable Decision Layer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SHAP-based XAI Engine + Digital Twin. Every alert comes with a "why". Cities simulate scenarios before dispatching.</a:t>
            </a:r>
          </a:p>
        </p:txBody>
      </p:sp>
      <p:sp>
        <p:nvSpPr>
          <p:cNvPr id="504" name="Card 504"/>
          <p:cNvSpPr/>
          <p:nvPr/>
        </p:nvSpPr>
        <p:spPr>
          <a:xfrm>
            <a:off x="274320" y="3154680"/>
            <a:ext cx="4206240" cy="1234440"/>
          </a:xfrm>
          <a:prstGeom prst="roundRect">
            <a:avLst>
              <a:gd name="adj" fmla="val 6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15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●  PREDICTIVE  ·  Dynamic Priority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DCPI + WQS: a bin at 70 % in wet, hot conditions can be more urgent than one at 90 %. Sorting quality feeds recycling KPIs.</a:t>
            </a:r>
          </a:p>
        </p:txBody>
      </p:sp>
      <p:sp>
        <p:nvSpPr>
          <p:cNvPr id="505" name="Card 505"/>
          <p:cNvSpPr/>
          <p:nvPr/>
        </p:nvSpPr>
        <p:spPr>
          <a:xfrm>
            <a:off x="4663440" y="3154680"/>
            <a:ext cx="4206240" cy="12344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15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■  SOCIAL  ·  Informal Sector Bridge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Waste pickers integrated via QR + mobile app. Traceability, dignity, micropayments. From invisible workforce to tracked partners.</a:t>
            </a:r>
          </a:p>
        </p:txBody>
      </p:sp>
      <p:sp>
        <p:nvSpPr>
          <p:cNvPr id="506" name="Card 506"/>
          <p:cNvSpPr/>
          <p:nvPr/>
        </p:nvSpPr>
        <p:spPr>
          <a:xfrm>
            <a:off x="274320" y="4160520"/>
            <a:ext cx="8595360" cy="384048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Outcome:  </a:t>
            </a:r>
            <a:r>
              <a:rPr lang="en" sz="115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cities gain a predictive nervous system · workers gain visibility &amp; revenue · recyclers gain quality · citizens gain cleaner streets.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4412462" y="-37380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/>
          <p:nvPr/>
        </p:nvSpPr>
        <p:spPr>
          <a:xfrm>
            <a:off x="111000" y="73325"/>
            <a:ext cx="54804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TextBox 501"/>
          <p:cNvSpPr txBox="1"/>
          <p:nvPr/>
        </p:nvSpPr>
        <p:spPr>
          <a:xfrm>
            <a:off x="268877" y="1031966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Open-source · edge-first · privacy-preserving. Deployable at </a:t>
            </a:r>
            <a:r>
              <a:rPr lang="en" sz="115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&lt; $200 / bin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280160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18872" tIns="118872" rIns="118872" bIns="118872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" sz="11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EDGE  VISION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YOLOv8n · MobileNetV3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INT8 quantized · TFLite</a:t>
            </a:r>
          </a:p>
        </p:txBody>
      </p:sp>
      <p:sp>
        <p:nvSpPr>
          <p:cNvPr id="503" name="Card 503"/>
          <p:cNvSpPr/>
          <p:nvPr/>
        </p:nvSpPr>
        <p:spPr>
          <a:xfrm>
            <a:off x="3154680" y="1280160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118872" tIns="118872" rIns="118872" bIns="118872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" sz="11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EDGE  HARDWARE</a:t>
            </a:r>
          </a:p>
          <a:p>
            <a:pPr>
              <a:lnSpc>
                <a:spcPct val="115000"/>
              </a:lnSpc>
              <a:spcAft>
                <a:spcPts val="80"/>
              </a:spcAft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Raspberry Pi 5 · Ultrasonic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Load cell · DHT22 · MQ-4 gas</a:t>
            </a:r>
          </a:p>
        </p:txBody>
      </p:sp>
      <p:sp>
        <p:nvSpPr>
          <p:cNvPr id="504" name="Card 504"/>
          <p:cNvSpPr/>
          <p:nvPr/>
        </p:nvSpPr>
        <p:spPr>
          <a:xfrm>
            <a:off x="6035040" y="1280160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18872" tIns="118872" rIns="118872" bIns="118872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" sz="11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FEDERATED  LEARNING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Flower framework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Differential Privacy · Async FL</a:t>
            </a:r>
          </a:p>
        </p:txBody>
      </p:sp>
      <p:sp>
        <p:nvSpPr>
          <p:cNvPr id="505" name="Card 505"/>
          <p:cNvSpPr/>
          <p:nvPr/>
        </p:nvSpPr>
        <p:spPr>
          <a:xfrm>
            <a:off x="274320" y="2834640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18872" tIns="118872" rIns="118872" bIns="118872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" sz="11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BACKEND  &amp;  DATA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FastAPI · PostgreSQL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TimescaleDB · MQTT · REST</a:t>
            </a:r>
          </a:p>
        </p:txBody>
      </p:sp>
      <p:sp>
        <p:nvSpPr>
          <p:cNvPr id="506" name="Card 506"/>
          <p:cNvSpPr/>
          <p:nvPr/>
        </p:nvSpPr>
        <p:spPr>
          <a:xfrm>
            <a:off x="3154680" y="2834640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118872" tIns="118872" rIns="118872" bIns="118872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" sz="11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AI  &amp;  OPTIMIZATION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XGBoost · SHAP (XAI)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Google OR-Tools · Genetic Algo</a:t>
            </a:r>
          </a:p>
        </p:txBody>
      </p:sp>
      <p:sp>
        <p:nvSpPr>
          <p:cNvPr id="507" name="Card 507"/>
          <p:cNvSpPr/>
          <p:nvPr/>
        </p:nvSpPr>
        <p:spPr>
          <a:xfrm>
            <a:off x="6035040" y="2834640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18872" tIns="118872" rIns="118872" bIns="118872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" sz="11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FRONTEND  &amp;  TWIN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React · Leaflet · Three.js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Recharts · Docker · GitLab CI</a:t>
            </a:r>
          </a:p>
        </p:txBody>
      </p:sp>
      <p:sp>
        <p:nvSpPr>
          <p:cNvPr id="508" name="Card 508"/>
          <p:cNvSpPr/>
          <p:nvPr/>
        </p:nvSpPr>
        <p:spPr>
          <a:xfrm>
            <a:off x="274320" y="4160520"/>
            <a:ext cx="8595360" cy="3657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★ </a:t>
            </a:r>
            <a:r>
              <a:rPr lang="en" sz="11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Key differentiator: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Federated Learning + On-device Inference = full privacy, low bandwidth. Deployable from Nairobi to Jakarta to São Paulo.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4412462" y="-3705430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41625" y="63425"/>
            <a:ext cx="7492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&amp; DRAWBACKS 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TextBox 501"/>
          <p:cNvSpPr txBox="1"/>
          <p:nvPr/>
        </p:nvSpPr>
        <p:spPr>
          <a:xfrm>
            <a:off x="268877" y="1031966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Market leaders (</a:t>
            </a:r>
            <a:r>
              <a:rPr lang="en" sz="11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Bigbelly · Enevo · Sensoneo · SmartBin · Compology</a:t>
            </a:r>
            <a:r>
              <a:rPr lang="en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 stop at </a:t>
            </a:r>
            <a:r>
              <a:rPr lang="en" sz="1150" b="1" i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"connected bins".</a:t>
            </a:r>
            <a:r>
              <a:rPr lang="en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Cities need intelligent waste </a:t>
            </a:r>
            <a:r>
              <a:rPr lang="en" sz="1150" b="1" i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systems.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325880"/>
            <a:ext cx="3931920" cy="365760"/>
          </a:xfrm>
          <a:prstGeom prst="roundRect">
            <a:avLst>
              <a:gd name="adj" fmla="val 3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</a:p>
        </p:txBody>
      </p:sp>
      <p:sp>
        <p:nvSpPr>
          <p:cNvPr id="503" name="Card 503"/>
          <p:cNvSpPr/>
          <p:nvPr/>
        </p:nvSpPr>
        <p:spPr>
          <a:xfrm>
            <a:off x="4206240" y="1325880"/>
            <a:ext cx="2331720" cy="365760"/>
          </a:xfrm>
          <a:prstGeom prst="roundRect">
            <a:avLst>
              <a:gd name="adj" fmla="val 3000"/>
            </a:avLst>
          </a:prstGeom>
          <a:solidFill>
            <a:srgbClr val="4B5563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SYSTEMS</a:t>
            </a:r>
          </a:p>
        </p:txBody>
      </p:sp>
      <p:sp>
        <p:nvSpPr>
          <p:cNvPr id="504" name="Card 504"/>
          <p:cNvSpPr/>
          <p:nvPr/>
        </p:nvSpPr>
        <p:spPr>
          <a:xfrm>
            <a:off x="6537960" y="1325880"/>
            <a:ext cx="2331720" cy="365760"/>
          </a:xfrm>
          <a:prstGeom prst="roundRect">
            <a:avLst>
              <a:gd name="adj" fmla="val 3000"/>
            </a:avLst>
          </a:prstGeom>
          <a:solidFill>
            <a:srgbClr val="E85D25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SmartWasteAI</a:t>
            </a:r>
          </a:p>
        </p:txBody>
      </p:sp>
      <p:sp>
        <p:nvSpPr>
          <p:cNvPr id="505" name="Card 505"/>
          <p:cNvSpPr/>
          <p:nvPr/>
        </p:nvSpPr>
        <p:spPr>
          <a:xfrm>
            <a:off x="274320" y="1691640"/>
            <a:ext cx="39319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Fill-level detection</a:t>
            </a:r>
          </a:p>
        </p:txBody>
      </p:sp>
      <p:sp>
        <p:nvSpPr>
          <p:cNvPr id="506" name="Card 506"/>
          <p:cNvSpPr/>
          <p:nvPr/>
        </p:nvSpPr>
        <p:spPr>
          <a:xfrm>
            <a:off x="4206240" y="1691640"/>
            <a:ext cx="23317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07" name="Card 507"/>
          <p:cNvSpPr/>
          <p:nvPr/>
        </p:nvSpPr>
        <p:spPr>
          <a:xfrm>
            <a:off x="6537960" y="1691640"/>
            <a:ext cx="2331720" cy="292608"/>
          </a:xfrm>
          <a:prstGeom prst="roundRect">
            <a:avLst>
              <a:gd name="adj" fmla="val 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08" name="Card 508"/>
          <p:cNvSpPr/>
          <p:nvPr/>
        </p:nvSpPr>
        <p:spPr>
          <a:xfrm>
            <a:off x="274320" y="1984248"/>
            <a:ext cx="39319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Waste type recognition (AI)</a:t>
            </a:r>
          </a:p>
        </p:txBody>
      </p:sp>
      <p:sp>
        <p:nvSpPr>
          <p:cNvPr id="509" name="Card 509"/>
          <p:cNvSpPr/>
          <p:nvPr/>
        </p:nvSpPr>
        <p:spPr>
          <a:xfrm>
            <a:off x="4206240" y="1984248"/>
            <a:ext cx="23317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</a:p>
        </p:txBody>
      </p:sp>
      <p:sp>
        <p:nvSpPr>
          <p:cNvPr id="510" name="Card 510"/>
          <p:cNvSpPr/>
          <p:nvPr/>
        </p:nvSpPr>
        <p:spPr>
          <a:xfrm>
            <a:off x="6537960" y="1984248"/>
            <a:ext cx="2331720" cy="292608"/>
          </a:xfrm>
          <a:prstGeom prst="roundRect">
            <a:avLst>
              <a:gd name="adj" fmla="val 0"/>
            </a:avLst>
          </a:prstGeom>
          <a:solidFill>
            <a:srgbClr val="FBEDE3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11" name="Card 511"/>
          <p:cNvSpPr/>
          <p:nvPr/>
        </p:nvSpPr>
        <p:spPr>
          <a:xfrm>
            <a:off x="274320" y="2276856"/>
            <a:ext cx="39319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 quality score (WQS)</a:t>
            </a:r>
          </a:p>
        </p:txBody>
      </p:sp>
      <p:sp>
        <p:nvSpPr>
          <p:cNvPr id="512" name="Card 512"/>
          <p:cNvSpPr/>
          <p:nvPr/>
        </p:nvSpPr>
        <p:spPr>
          <a:xfrm>
            <a:off x="4206240" y="2276856"/>
            <a:ext cx="23317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</a:p>
        </p:txBody>
      </p:sp>
      <p:sp>
        <p:nvSpPr>
          <p:cNvPr id="513" name="Card 513"/>
          <p:cNvSpPr/>
          <p:nvPr/>
        </p:nvSpPr>
        <p:spPr>
          <a:xfrm>
            <a:off x="6537960" y="2276856"/>
            <a:ext cx="2331720" cy="292608"/>
          </a:xfrm>
          <a:prstGeom prst="roundRect">
            <a:avLst>
              <a:gd name="adj" fmla="val 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14" name="Card 514"/>
          <p:cNvSpPr/>
          <p:nvPr/>
        </p:nvSpPr>
        <p:spPr>
          <a:xfrm>
            <a:off x="274320" y="2569464"/>
            <a:ext cx="39319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Predictive collection (DCPI)</a:t>
            </a:r>
          </a:p>
        </p:txBody>
      </p:sp>
      <p:sp>
        <p:nvSpPr>
          <p:cNvPr id="515" name="Card 515"/>
          <p:cNvSpPr/>
          <p:nvPr/>
        </p:nvSpPr>
        <p:spPr>
          <a:xfrm>
            <a:off x="4206240" y="2569464"/>
            <a:ext cx="23317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◐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</a:p>
        </p:txBody>
      </p:sp>
      <p:sp>
        <p:nvSpPr>
          <p:cNvPr id="516" name="Card 516"/>
          <p:cNvSpPr/>
          <p:nvPr/>
        </p:nvSpPr>
        <p:spPr>
          <a:xfrm>
            <a:off x="6537960" y="2569464"/>
            <a:ext cx="2331720" cy="292608"/>
          </a:xfrm>
          <a:prstGeom prst="roundRect">
            <a:avLst>
              <a:gd name="adj" fmla="val 0"/>
            </a:avLst>
          </a:prstGeom>
          <a:solidFill>
            <a:srgbClr val="FBEDE3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17" name="Card 517"/>
          <p:cNvSpPr/>
          <p:nvPr/>
        </p:nvSpPr>
        <p:spPr>
          <a:xfrm>
            <a:off x="274320" y="2862072"/>
            <a:ext cx="39319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Explainable AI (SHAP)</a:t>
            </a:r>
          </a:p>
        </p:txBody>
      </p:sp>
      <p:sp>
        <p:nvSpPr>
          <p:cNvPr id="518" name="Card 518"/>
          <p:cNvSpPr/>
          <p:nvPr/>
        </p:nvSpPr>
        <p:spPr>
          <a:xfrm>
            <a:off x="4206240" y="2862072"/>
            <a:ext cx="23317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</a:p>
        </p:txBody>
      </p:sp>
      <p:sp>
        <p:nvSpPr>
          <p:cNvPr id="519" name="Card 519"/>
          <p:cNvSpPr/>
          <p:nvPr/>
        </p:nvSpPr>
        <p:spPr>
          <a:xfrm>
            <a:off x="6537960" y="2862072"/>
            <a:ext cx="2331720" cy="292608"/>
          </a:xfrm>
          <a:prstGeom prst="roundRect">
            <a:avLst>
              <a:gd name="adj" fmla="val 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20" name="Card 520"/>
          <p:cNvSpPr/>
          <p:nvPr/>
        </p:nvSpPr>
        <p:spPr>
          <a:xfrm>
            <a:off x="274320" y="3154680"/>
            <a:ext cx="39319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Digital Twin simulation</a:t>
            </a:r>
          </a:p>
        </p:txBody>
      </p:sp>
      <p:sp>
        <p:nvSpPr>
          <p:cNvPr id="521" name="Card 521"/>
          <p:cNvSpPr/>
          <p:nvPr/>
        </p:nvSpPr>
        <p:spPr>
          <a:xfrm>
            <a:off x="4206240" y="3154680"/>
            <a:ext cx="23317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</a:p>
        </p:txBody>
      </p:sp>
      <p:sp>
        <p:nvSpPr>
          <p:cNvPr id="522" name="Card 522"/>
          <p:cNvSpPr/>
          <p:nvPr/>
        </p:nvSpPr>
        <p:spPr>
          <a:xfrm>
            <a:off x="6537960" y="3154680"/>
            <a:ext cx="2331720" cy="292608"/>
          </a:xfrm>
          <a:prstGeom prst="roundRect">
            <a:avLst>
              <a:gd name="adj" fmla="val 0"/>
            </a:avLst>
          </a:prstGeom>
          <a:solidFill>
            <a:srgbClr val="FBEDE3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23" name="Card 523"/>
          <p:cNvSpPr/>
          <p:nvPr/>
        </p:nvSpPr>
        <p:spPr>
          <a:xfrm>
            <a:off x="274320" y="3447288"/>
            <a:ext cx="39319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Federated Learning (privacy)</a:t>
            </a:r>
          </a:p>
        </p:txBody>
      </p:sp>
      <p:sp>
        <p:nvSpPr>
          <p:cNvPr id="524" name="Card 524"/>
          <p:cNvSpPr/>
          <p:nvPr/>
        </p:nvSpPr>
        <p:spPr>
          <a:xfrm>
            <a:off x="4206240" y="3447288"/>
            <a:ext cx="2331720" cy="2926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</a:p>
        </p:txBody>
      </p:sp>
      <p:sp>
        <p:nvSpPr>
          <p:cNvPr id="525" name="Card 525"/>
          <p:cNvSpPr/>
          <p:nvPr/>
        </p:nvSpPr>
        <p:spPr>
          <a:xfrm>
            <a:off x="6537960" y="3447288"/>
            <a:ext cx="2331720" cy="292608"/>
          </a:xfrm>
          <a:prstGeom prst="roundRect">
            <a:avLst>
              <a:gd name="adj" fmla="val 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26" name="Card 526"/>
          <p:cNvSpPr/>
          <p:nvPr/>
        </p:nvSpPr>
        <p:spPr>
          <a:xfrm>
            <a:off x="274320" y="3739896"/>
            <a:ext cx="39319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Informal sector integration</a:t>
            </a:r>
          </a:p>
        </p:txBody>
      </p:sp>
      <p:sp>
        <p:nvSpPr>
          <p:cNvPr id="527" name="Card 527"/>
          <p:cNvSpPr/>
          <p:nvPr/>
        </p:nvSpPr>
        <p:spPr>
          <a:xfrm>
            <a:off x="4206240" y="3739896"/>
            <a:ext cx="2331720" cy="29260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</a:p>
        </p:txBody>
      </p:sp>
      <p:sp>
        <p:nvSpPr>
          <p:cNvPr id="528" name="Card 528"/>
          <p:cNvSpPr/>
          <p:nvPr/>
        </p:nvSpPr>
        <p:spPr>
          <a:xfrm>
            <a:off x="6537960" y="3739896"/>
            <a:ext cx="2331720" cy="292608"/>
          </a:xfrm>
          <a:prstGeom prst="roundRect">
            <a:avLst>
              <a:gd name="adj" fmla="val 0"/>
            </a:avLst>
          </a:prstGeom>
          <a:solidFill>
            <a:srgbClr val="FBEDE3"/>
          </a:solidFill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</a:p>
        </p:txBody>
      </p:sp>
      <p:sp>
        <p:nvSpPr>
          <p:cNvPr id="529" name="Card 529"/>
          <p:cNvSpPr/>
          <p:nvPr/>
        </p:nvSpPr>
        <p:spPr>
          <a:xfrm>
            <a:off x="274320" y="4160520"/>
            <a:ext cx="8595360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Existing platforms optimize the </a:t>
            </a:r>
            <a:r>
              <a:rPr lang="en" sz="11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top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of the waste pyramid. </a:t>
            </a:r>
            <a:r>
              <a:rPr lang="en" sz="1100" b="1" i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We include the base, where 60 % of urban recyclables are actually handled.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71350" y="83250"/>
            <a:ext cx="44100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TextBox 501"/>
          <p:cNvSpPr txBox="1"/>
          <p:nvPr/>
        </p:nvSpPr>
        <p:spPr>
          <a:xfrm>
            <a:off x="268877" y="1031966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Five </a:t>
            </a:r>
            <a:r>
              <a:rPr lang="en" sz="12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technical modules</a:t>
            </a: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+ one </a:t>
            </a:r>
            <a:r>
              <a:rPr lang="en" sz="125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social bridge</a:t>
            </a:r>
            <a:r>
              <a:rPr lang="en" sz="1250" i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All interconnected.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298448"/>
            <a:ext cx="2788920" cy="1481328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" sz="10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AI VISION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YOLOv8n identifies each waste item (plastic, paper, glass, metal, organic, e-waste) directly on-device.</a:t>
            </a:r>
          </a:p>
        </p:txBody>
      </p:sp>
      <p:sp>
        <p:nvSpPr>
          <p:cNvPr id="503" name="Card 503"/>
          <p:cNvSpPr/>
          <p:nvPr/>
        </p:nvSpPr>
        <p:spPr>
          <a:xfrm>
            <a:off x="3154680" y="1298448"/>
            <a:ext cx="2788920" cy="1481328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  </a:t>
            </a:r>
            <a:r>
              <a:rPr lang="en" sz="10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SMART BIN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Ultrasonic, load, temperature, humidity, gas sensors compute a real-time bin health &amp; fire risk score.</a:t>
            </a:r>
          </a:p>
        </p:txBody>
      </p:sp>
      <p:sp>
        <p:nvSpPr>
          <p:cNvPr id="504" name="Card 504"/>
          <p:cNvSpPr/>
          <p:nvPr/>
        </p:nvSpPr>
        <p:spPr>
          <a:xfrm>
            <a:off x="6035040" y="1298448"/>
            <a:ext cx="2788920" cy="1481328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3  </a:t>
            </a:r>
            <a:r>
              <a:rPr lang="en" sz="10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FEDERATED PREDICTION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Flower + XGBoost forecast fill per district from habits, weather, events. No data upload required.</a:t>
            </a:r>
          </a:p>
        </p:txBody>
      </p:sp>
      <p:sp>
        <p:nvSpPr>
          <p:cNvPr id="505" name="Card 505"/>
          <p:cNvSpPr/>
          <p:nvPr/>
        </p:nvSpPr>
        <p:spPr>
          <a:xfrm>
            <a:off x="274320" y="2871216"/>
            <a:ext cx="2788920" cy="1481328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4  </a:t>
            </a:r>
            <a:r>
              <a:rPr lang="en" sz="10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XAI ROUTE OPTIMIZER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OR-Tools computes best truck tour. SHAP explains WHY each stop is chosen. Full operator trust.</a:t>
            </a:r>
          </a:p>
        </p:txBody>
      </p:sp>
      <p:sp>
        <p:nvSpPr>
          <p:cNvPr id="506" name="Card 506"/>
          <p:cNvSpPr/>
          <p:nvPr/>
        </p:nvSpPr>
        <p:spPr>
          <a:xfrm>
            <a:off x="3154680" y="2871216"/>
            <a:ext cx="2788920" cy="1481328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  </a:t>
            </a:r>
            <a:r>
              <a:rPr lang="en" sz="10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React + Three.js dashboard simulates events, weather, breakdowns before decisions are taken.</a:t>
            </a:r>
          </a:p>
        </p:txBody>
      </p:sp>
      <p:sp>
        <p:nvSpPr>
          <p:cNvPr id="507" name="Card 507"/>
          <p:cNvSpPr/>
          <p:nvPr/>
        </p:nvSpPr>
        <p:spPr>
          <a:xfrm>
            <a:off x="6035040" y="2871216"/>
            <a:ext cx="2788920" cy="1481328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09728" tIns="109728" rIns="109728" bIns="109728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6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6  </a:t>
            </a:r>
            <a:r>
              <a:rPr lang="en" sz="105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INFORMAL SECTOR BRIDGE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QR + mobile app connects waste pickers to the platform. Traceability + auto micropayments.</a:t>
            </a:r>
          </a:p>
        </p:txBody>
      </p:sp>
      <p:sp>
        <p:nvSpPr>
          <p:cNvPr id="508" name="Card 508"/>
          <p:cNvSpPr/>
          <p:nvPr/>
        </p:nvSpPr>
        <p:spPr>
          <a:xfrm>
            <a:off x="274320" y="4160520"/>
            <a:ext cx="8595360" cy="384048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Module 6 = the </a:t>
            </a:r>
            <a:r>
              <a:rPr lang="en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invisible base 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the global waste economy. </a:t>
            </a:r>
            <a:r>
              <a:rPr lang="en" sz="11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competitor addresses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4412462" y="-3732644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/ WORKFLOW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TextBox 501"/>
          <p:cNvSpPr txBox="1"/>
          <p:nvPr/>
        </p:nvSpPr>
        <p:spPr>
          <a:xfrm>
            <a:off x="274320" y="972094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Three tiers + one social bridge. Data flows up, decisions flow down.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234440"/>
            <a:ext cx="731520" cy="731520"/>
          </a:xfrm>
          <a:prstGeom prst="roundRect">
            <a:avLst>
              <a:gd name="adj" fmla="val 6000"/>
            </a:avLst>
          </a:prstGeom>
          <a:solidFill>
            <a:srgbClr val="1F7ACD"/>
          </a:solidFill>
          <a:ln>
            <a:noFill/>
          </a:ln>
        </p:spPr>
        <p:txBody>
          <a:bodyPr spcFirstLastPara="1" wrap="square" lIns="45720" tIns="45720" rIns="4572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503" name="Card 503"/>
          <p:cNvSpPr/>
          <p:nvPr/>
        </p:nvSpPr>
        <p:spPr>
          <a:xfrm>
            <a:off x="1097280" y="1234440"/>
            <a:ext cx="7772400" cy="731520"/>
          </a:xfrm>
          <a:prstGeom prst="roundRect">
            <a:avLst>
              <a:gd name="adj" fmla="val 6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118872" tIns="118872" rIns="118872" bIns="11887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100" b="1">
                <a:solidFill>
                  <a:srgbClr val="1F7ACD"/>
                </a:solidFill>
                <a:latin typeface="Calibri"/>
                <a:ea typeface="Calibri"/>
                <a:cs typeface="Calibri"/>
                <a:sym typeface="Calibri"/>
              </a:rPr>
              <a:t>TIER 1 · EDGE  (per bin)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Camera → YOLOv8n (INT8) → local classification    |    Ultrasonic · Load · Temp · Humidity · Gas → Raspberry Pi 4</a:t>
            </a:r>
          </a:p>
        </p:txBody>
      </p:sp>
      <p:sp>
        <p:nvSpPr>
          <p:cNvPr id="504" name="Card 504"/>
          <p:cNvSpPr/>
          <p:nvPr/>
        </p:nvSpPr>
        <p:spPr>
          <a:xfrm>
            <a:off x="274320" y="2039112"/>
            <a:ext cx="731520" cy="73152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45720" tIns="45720" rIns="4572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505" name="Card 505"/>
          <p:cNvSpPr/>
          <p:nvPr/>
        </p:nvSpPr>
        <p:spPr>
          <a:xfrm>
            <a:off x="1097280" y="2039112"/>
            <a:ext cx="7772400" cy="7315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spcFirstLastPara="1" wrap="square" lIns="118872" tIns="118872" rIns="118872" bIns="11887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1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TIER 2 · FEDERATED  CLOUD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Flower FL server aggregates model weights (no raw data)    |    TimescaleDB stores telemetry    |    XGBoost forecasts fill</a:t>
            </a:r>
          </a:p>
        </p:txBody>
      </p:sp>
      <p:sp>
        <p:nvSpPr>
          <p:cNvPr id="506" name="Card 506"/>
          <p:cNvSpPr/>
          <p:nvPr/>
        </p:nvSpPr>
        <p:spPr>
          <a:xfrm>
            <a:off x="274320" y="2843784"/>
            <a:ext cx="731520" cy="731520"/>
          </a:xfrm>
          <a:prstGeom prst="roundRect">
            <a:avLst>
              <a:gd name="adj" fmla="val 6000"/>
            </a:avLst>
          </a:prstGeom>
          <a:solidFill>
            <a:srgbClr val="E85D25"/>
          </a:solidFill>
          <a:ln>
            <a:noFill/>
          </a:ln>
        </p:spPr>
        <p:txBody>
          <a:bodyPr spcFirstLastPara="1" wrap="square" lIns="45720" tIns="45720" rIns="4572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507" name="Card 507"/>
          <p:cNvSpPr/>
          <p:nvPr/>
        </p:nvSpPr>
        <p:spPr>
          <a:xfrm>
            <a:off x="1097280" y="2843784"/>
            <a:ext cx="7772400" cy="731520"/>
          </a:xfrm>
          <a:prstGeom prst="roundRect">
            <a:avLst>
              <a:gd name="adj" fmla="val 6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118872" tIns="118872" rIns="118872" bIns="11887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1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TIER 3 · DECISION  LAYER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OR-Tools computes routes    |    SHAP explains each dispatch    |    Digital Twin runs what-if simulations → React + Leaflet dashboard</a:t>
            </a:r>
          </a:p>
        </p:txBody>
      </p:sp>
      <p:sp>
        <p:nvSpPr>
          <p:cNvPr id="508" name="Card 508"/>
          <p:cNvSpPr/>
          <p:nvPr/>
        </p:nvSpPr>
        <p:spPr>
          <a:xfrm>
            <a:off x="274320" y="3694176"/>
            <a:ext cx="8595360" cy="64008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118872" tIns="118872" rIns="118872" bIns="118872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◆  BRIDGE · INFORMAL SECTOR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Worker mobile app scans bin QR → logs collection → auto-pays waste picker    |    same platform, base of the global waste economy now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4368919" y="-3759858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UNIQUENESS / INNOVATION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TextBox 501"/>
          <p:cNvSpPr txBox="1"/>
          <p:nvPr/>
        </p:nvSpPr>
        <p:spPr>
          <a:xfrm>
            <a:off x="274320" y="933994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Six </a:t>
            </a:r>
            <a:r>
              <a:rPr lang="en" sz="1250" b="1" i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firsts</a:t>
            </a: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that </a:t>
            </a:r>
            <a:r>
              <a:rPr lang="en" sz="12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existing platform combines.</a:t>
            </a:r>
            <a:r>
              <a:rPr lang="en" sz="125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 Three technical, three strategic.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298448"/>
            <a:ext cx="1673352" cy="1463040"/>
          </a:xfrm>
          <a:prstGeom prst="roundRect">
            <a:avLst>
              <a:gd name="adj" fmla="val 8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WQS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Waste Quality Score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AI metric of sorting quality per bin &amp; district.</a:t>
            </a:r>
          </a:p>
        </p:txBody>
      </p:sp>
      <p:sp>
        <p:nvSpPr>
          <p:cNvPr id="503" name="Card 503"/>
          <p:cNvSpPr/>
          <p:nvPr/>
        </p:nvSpPr>
        <p:spPr>
          <a:xfrm>
            <a:off x="2011680" y="1298448"/>
            <a:ext cx="1673352" cy="1463040"/>
          </a:xfrm>
          <a:prstGeom prst="roundRect">
            <a:avLst>
              <a:gd name="adj" fmla="val 8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DCPI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Dynamic Priority Index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Weather + events + smell. A bin at 70 % beats one at 90 %.</a:t>
            </a:r>
          </a:p>
        </p:txBody>
      </p:sp>
      <p:sp>
        <p:nvSpPr>
          <p:cNvPr id="504" name="Card 504"/>
          <p:cNvSpPr/>
          <p:nvPr/>
        </p:nvSpPr>
        <p:spPr>
          <a:xfrm>
            <a:off x="3749040" y="1298448"/>
            <a:ext cx="1673352" cy="1463040"/>
          </a:xfrm>
          <a:prstGeom prst="roundRect">
            <a:avLst>
              <a:gd name="adj" fmla="val 8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9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Federated Learning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First FL-based waste system. Full privacy.</a:t>
            </a:r>
          </a:p>
        </p:txBody>
      </p:sp>
      <p:sp>
        <p:nvSpPr>
          <p:cNvPr id="505" name="Card 505"/>
          <p:cNvSpPr/>
          <p:nvPr/>
        </p:nvSpPr>
        <p:spPr>
          <a:xfrm>
            <a:off x="5486400" y="1298448"/>
            <a:ext cx="1673352" cy="1463040"/>
          </a:xfrm>
          <a:prstGeom prst="roundRect">
            <a:avLst>
              <a:gd name="adj" fmla="val 8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XAI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Explainable Engine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Every alert with a SHAP-based "why".</a:t>
            </a:r>
          </a:p>
        </p:txBody>
      </p:sp>
      <p:sp>
        <p:nvSpPr>
          <p:cNvPr id="506" name="Card 506"/>
          <p:cNvSpPr/>
          <p:nvPr/>
        </p:nvSpPr>
        <p:spPr>
          <a:xfrm>
            <a:off x="7223760" y="1298448"/>
            <a:ext cx="1673352" cy="1463040"/>
          </a:xfrm>
          <a:prstGeom prst="roundRect">
            <a:avLst>
              <a:gd name="adj" fmla="val 8000"/>
            </a:avLst>
          </a:prstGeom>
          <a:solidFill>
            <a:srgbClr val="DDECF9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" sz="10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Simulate events, weather, breakdowns first.</a:t>
            </a:r>
          </a:p>
        </p:txBody>
      </p:sp>
      <p:sp>
        <p:nvSpPr>
          <p:cNvPr id="507" name="Card 507"/>
          <p:cNvSpPr/>
          <p:nvPr/>
        </p:nvSpPr>
        <p:spPr>
          <a:xfrm>
            <a:off x="274320" y="2880360"/>
            <a:ext cx="8595360" cy="146304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182880" tIns="182880" rIns="182880" bIns="18288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 6.  INFORMAL SECTOR BRIDGE  ·  the paper's core contribution</a:t>
            </a:r>
          </a:p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smart-waste platform to integrate </a:t>
            </a: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world's 20 M+ waste pickers</a:t>
            </a: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into the digital loop. QR-based waste handover, traceability from bin to recycler, </a:t>
            </a: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automatic micropayments</a:t>
            </a: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Directly addresses IEEE Smart Cities &amp; UN SDG 8, 11, 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LIMITATIONS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Card 501"/>
          <p:cNvSpPr/>
          <p:nvPr/>
        </p:nvSpPr>
        <p:spPr>
          <a:xfrm>
            <a:off x="306976" y="1385750"/>
            <a:ext cx="4206240" cy="2861855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201168" tIns="201168" rIns="201168" bIns="201168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ADVANTAGES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−30 %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 cost (predictive routing + DCPI)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−82 %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overflow risk (early anticipation)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+40 %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recycling rate (WQS + informal sector)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images uploaded. Full user privacy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$200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per bin. Deployable worldwide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M+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informal workers monetized (global reach)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16A34A"/>
              </a:buClr>
              <a:buFont typeface="Arial"/>
              <a:buChar char="✓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IEEE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paper-publishable contribution</a:t>
            </a:r>
          </a:p>
        </p:txBody>
      </p:sp>
      <p:sp>
        <p:nvSpPr>
          <p:cNvPr id="502" name="Card 502"/>
          <p:cNvSpPr/>
          <p:nvPr/>
        </p:nvSpPr>
        <p:spPr>
          <a:xfrm>
            <a:off x="4717869" y="1380308"/>
            <a:ext cx="4206240" cy="286729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201168" tIns="201168" rIns="201168" bIns="201168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LIMITATIONS  &amp;  MITIGATIONS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compute constraint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INT8 quantization · YOLOv8n / MobileNetV3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Labeled dataset effort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TrashNet + TACO + local fine-tuning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Rural connectivity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LoRaWAN fallback + edge buffering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Federated round latency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Asynchronous FL rounds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Informal worker onboarding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NGO + municipal partnerships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 scope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Simulation-first, physics extension future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90"/>
              </a:spcBef>
              <a:spcAft>
                <a:spcPts val="90"/>
              </a:spcAft>
              <a:buClr>
                <a:srgbClr val="E85D25"/>
              </a:buClr>
              <a:buFont typeface="Arial"/>
              <a:buChar char="▸"/>
            </a:pPr>
            <a:r>
              <a:rPr lang="en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 privacy  →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On-device inference. No image upload.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152400" y="1524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TextBox 501"/>
          <p:cNvSpPr txBox="1"/>
          <p:nvPr/>
        </p:nvSpPr>
        <p:spPr>
          <a:xfrm>
            <a:off x="268877" y="1119051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22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are not building a smarter bin.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We are building a smarter waste </a:t>
            </a:r>
            <a:r>
              <a:rPr lang="en" sz="2400" b="1" i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economy.</a:t>
            </a:r>
          </a:p>
        </p:txBody>
      </p:sp>
      <p:sp>
        <p:nvSpPr>
          <p:cNvPr id="502" name="TextBox 502"/>
          <p:cNvSpPr txBox="1"/>
          <p:nvPr/>
        </p:nvSpPr>
        <p:spPr>
          <a:xfrm>
            <a:off x="274320" y="2331720"/>
            <a:ext cx="8595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SmartWasteAI is the first framework to fuse </a:t>
            </a:r>
            <a:r>
              <a:rPr lang="en" sz="125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federated on-device AI, explainable decisions, digital-twin simulation </a:t>
            </a: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" sz="125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informal sector integration </a:t>
            </a:r>
            <a:r>
              <a:rPr lang="en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into one deployable platform. Technically sound, socially transformative, publishable as an IEEE contribution.</a:t>
            </a:r>
          </a:p>
        </p:txBody>
      </p:sp>
      <p:sp>
        <p:nvSpPr>
          <p:cNvPr id="503" name="Card 503"/>
          <p:cNvSpPr/>
          <p:nvPr/>
        </p:nvSpPr>
        <p:spPr>
          <a:xfrm>
            <a:off x="274320" y="3383280"/>
            <a:ext cx="2761488" cy="8686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137160" tIns="137160" rIns="137160" bIns="13716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0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ENVIRONMENTAL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−30 % CO₂ · +40 % recycling</a:t>
            </a:r>
          </a:p>
        </p:txBody>
      </p:sp>
      <p:sp>
        <p:nvSpPr>
          <p:cNvPr id="504" name="Card 504"/>
          <p:cNvSpPr/>
          <p:nvPr/>
        </p:nvSpPr>
        <p:spPr>
          <a:xfrm>
            <a:off x="3191256" y="3383280"/>
            <a:ext cx="2761488" cy="86868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txBody>
          <a:bodyPr spcFirstLastPara="1" wrap="square" lIns="137160" tIns="137160" rIns="137160" bIns="13716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−30 % cost · new revenue stream</a:t>
            </a:r>
          </a:p>
        </p:txBody>
      </p:sp>
      <p:sp>
        <p:nvSpPr>
          <p:cNvPr id="505" name="Card 505"/>
          <p:cNvSpPr/>
          <p:nvPr/>
        </p:nvSpPr>
        <p:spPr>
          <a:xfrm>
            <a:off x="6108192" y="3383280"/>
            <a:ext cx="2761488" cy="868680"/>
          </a:xfrm>
          <a:prstGeom prst="roundRect">
            <a:avLst>
              <a:gd name="adj" fmla="val 8000"/>
            </a:avLst>
          </a:prstGeom>
          <a:solidFill>
            <a:srgbClr val="FDE4D8"/>
          </a:solidFill>
          <a:ln>
            <a:noFill/>
          </a:ln>
        </p:spPr>
        <p:txBody>
          <a:bodyPr spcFirstLastPara="1" wrap="square" lIns="137160" tIns="137160" rIns="137160" bIns="13716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00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Dignity + income for 20 M+ workers</a:t>
            </a:r>
          </a:p>
        </p:txBody>
      </p:sp>
      <p:sp>
        <p:nvSpPr>
          <p:cNvPr id="506" name="Card 506"/>
          <p:cNvSpPr/>
          <p:nvPr/>
        </p:nvSpPr>
        <p:spPr>
          <a:xfrm>
            <a:off x="274320" y="4187952"/>
            <a:ext cx="8595360" cy="3657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73152" tIns="73152" rIns="73152" bIns="73152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Waste management becomes urban intelligence,  and </a:t>
            </a:r>
            <a:r>
              <a:rPr lang="en" sz="135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intelligence.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447300" y="431600"/>
            <a:ext cx="256675" cy="91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 txBox="1">
            <a:spLocks noGrp="1"/>
          </p:cNvSpPr>
          <p:nvPr>
            <p:ph type="ctrTitle"/>
          </p:nvPr>
        </p:nvSpPr>
        <p:spPr>
          <a:xfrm>
            <a:off x="42950" y="0"/>
            <a:ext cx="29421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500"/>
          </a:p>
        </p:txBody>
      </p:sp>
      <p:sp>
        <p:nvSpPr>
          <p:cNvPr id="501" name="TextBox 501"/>
          <p:cNvSpPr txBox="1"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Foundational works underpinning our contribution. Vision, federated learning, XAI, digital twin, and informal-sector waste economics.</a:t>
            </a:r>
          </a:p>
        </p:txBody>
      </p:sp>
      <p:sp>
        <p:nvSpPr>
          <p:cNvPr id="502" name="Card 502"/>
          <p:cNvSpPr/>
          <p:nvPr/>
        </p:nvSpPr>
        <p:spPr>
          <a:xfrm>
            <a:off x="274320" y="1371600"/>
            <a:ext cx="2788920" cy="33832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128016" tIns="128016" rIns="128016" bIns="128016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" sz="105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Vision &amp; Datasets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Redmon, J., &amp; Farhadi, A. (2018).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YOLOv3: An Incremental Improvement. arXiv:1804.02767.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[2]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Jocher, G. et al. (2023).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YOLOv8 by Ultralytics. GitHub repository.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Proença, P. F., &amp; Simões, P. (2020).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TACO: Trash Annotations in Context. arXiv:2003.06975.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[4]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Yang, M., &amp; Thung, G. (2016).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TrashNet: Classification of Trash for Recyclability. Stanford CS229.</a:t>
            </a:r>
          </a:p>
        </p:txBody>
      </p:sp>
      <p:sp>
        <p:nvSpPr>
          <p:cNvPr id="503" name="Card 503"/>
          <p:cNvSpPr/>
          <p:nvPr/>
        </p:nvSpPr>
        <p:spPr>
          <a:xfrm>
            <a:off x="3154680" y="1371600"/>
            <a:ext cx="2788920" cy="33832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128016" tIns="128016" rIns="128016" bIns="128016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" sz="105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Federated Learning &amp; XAI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Beutel, D. J. et al. (2020).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Flower: A Friendly Federated Learning Research Framework. arXiv:2007.14390.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[2]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McMahan, B. et al. (2017).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Communication-Efficient Learning of Deep Networks from Decentralized Data. AISTATS.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Lundberg, S., &amp; Lee, S.-I. (2017).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A Unified Approach to Interpreting Model Predictions (SHAP). NeurIPS.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[4]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Adadi, A., &amp; Berrada, M. (2018).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Peeking Inside the Black-Box: A Survey on XAI. IEEE Access, 6.</a:t>
            </a:r>
          </a:p>
        </p:txBody>
      </p:sp>
      <p:sp>
        <p:nvSpPr>
          <p:cNvPr id="504" name="Card 504"/>
          <p:cNvSpPr/>
          <p:nvPr/>
        </p:nvSpPr>
        <p:spPr>
          <a:xfrm>
            <a:off x="6035040" y="1371600"/>
            <a:ext cx="2788920" cy="33832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128016" tIns="128016" rIns="128016" bIns="128016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" sz="1050" b="1">
                <a:solidFill>
                  <a:srgbClr val="E85D25"/>
                </a:solidFill>
                <a:latin typeface="Calibri"/>
                <a:ea typeface="Calibri"/>
                <a:cs typeface="Calibri"/>
                <a:sym typeface="Calibri"/>
              </a:rPr>
              <a:t>Waste, Cities &amp; Informal Sector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Kaza, S. et al. (2018).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What a Waste 2.0. World Bank Group.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[2]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Dias, S. M. (2016).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Waste pickers and cities. Environment &amp; Urbanization, 28(2), 375-390.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WIEGO (2020).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The Global Alliance of Waste Pickers. Statistical Snapshot.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[4]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UN-Habitat (2021).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Waste Wise Cities Tool: Baseline Report.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[5]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Grieves, M., &amp; Vickers, J. (2017).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Digital Twin: Mitigating Emergent Behavior in Complex Systems. Springer.</a:t>
            </a:r>
          </a:p>
          <a:p>
            <a:pPr marL="180000" lvl="0" indent="-180000" algn="l" rtl="0">
              <a:lnSpc>
                <a:spcPct val="118000"/>
              </a:lnSpc>
              <a:spcBef>
                <a:spcPts val="80"/>
              </a:spcBef>
              <a:spcAft>
                <a:spcPts val="80"/>
              </a:spcAft>
              <a:buNone/>
            </a:pPr>
            <a:r>
              <a:rPr lang="en" sz="9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[6] </a:t>
            </a:r>
            <a:r>
              <a:rPr lang="en" sz="9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Perron, L., &amp; Furnon, V.</a:t>
            </a:r>
            <a:r>
              <a:rPr lang="en" sz="9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Google OR-Tools. Vehicle Routing Problem Solver.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Light</vt:lpstr>
      <vt:lpstr>Smart Waste Management Systems</vt:lpstr>
      <vt:lpstr>PROBLEM  STATEMENT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38</cp:revision>
  <dcterms:modified xsi:type="dcterms:W3CDTF">2026-07-20T13:41:35Z</dcterms:modified>
</cp:coreProperties>
</file>