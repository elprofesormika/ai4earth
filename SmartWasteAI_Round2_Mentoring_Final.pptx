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(15 sec).
Good morning / afternoon. I'm Housseni YABRE, team leader of AI4Earth. Our project is SmartWasteAI, submitted for Round 1 already, and today we're 3 days away from Round 2 submission on August 18. In the next few minutes I'll walk you through where we stand and where we need your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STATEMENT (60 sec).
Waste management worldwide is stuck at what we call connected bins. Existing platforms like Bigbelly, Enevo, Sensoneo detect fill level with ultrasonic sensors, but they are blind to what is actually inside the bin. They cannot measure sorting quality, they cannot predict overflow, and they cannot explain their alerts to municipal operators.
The numbers are stark: 3.4 billion tons of waste per year by 2050 according to the World Bank. 44 percent of global waste is organic, which creates fire and biohazard risk when it accumulates in heat and humidity. Less than 20 percent of global waste is recycled or composted. And critically, over 20 million informal waste pickers worldwide handle roughly 60 percent of urban recyclables, yet no platform tracks or pays them.
So the problem is not a hardware problem. It's an intelligence and integration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SOLUTION (60 sec).
Our answer is SmartWasteAI: a Federated, Multi-Agent, Explainable AI Framework for predictive urban waste management.
It has three technical tiers plus one social bridge.
Tier 1, at the edge, on each bin: a camera runs YOLOv8n locally, classifying each waste item before it falls in. Ultrasonic, load, temperature, humidity and gas sensors feed a Raspberry Pi.
Tier 2, the federated cloud: bins collaboratively train a shared prediction model through Flower. Model weights are aggregated, raw images never leave the bin. TimescaleDB stores telemetry, XGBoost forecasts fill.
Tier 3, the decision layer: OR-Tools computes optimized truck routes, SHAP explains every dispatch in natural language, and a Three.js Digital Twin simulates what-if scenarios before decisions are taken.
The bridge is what makes us unique: a mobile app that integrates the world's 20 million informal waste pickers through QR-based collection tracking and automatic micropayments.
Five named contributions: WQS, DCPI, Federated Learning, XAI, Digital Twin. No existing platform combines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PROGRESS (60 sec).
Since Round 1, we deliberately focused on thinking through the build before writing any code. Four concrete deliverables:
First, the web application architecture is completely designed. Six dashboard modules specified, data flow mapped, API contracts drafted, database schema drafted. We know exactly what to code, in what order.
Second, we evaluated candidate ML models. YOLOv8n against MobileNetV3 and EfficientNet-Lite on our target task. We chose YOLOv8n as primary. Fine-tuning strategy is defined step by step.
Third, dataset strategy is locked in. We use TrashNet and TACO, we mapped their classes to our 6 waste categories, we wrote the augmentation plan, we set the train/val/test split policy. Nothing labeled from scratch by hand.
Fourth, our implementation roadmap covers the next 72 hours hour by hour with owners and a pre-decided cut-line.
I need to be fully transparent with you: no repo, no code, no artifacts to show yet. Implementation kickoff is tonight, right after this session. That is a deliberate choice — we did the thinking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APPROACH (90 sec).
On the ML side: we selected YOLOv8n as our primary model. 3.2 million parameters, INT8 edge-deployable, open weights, state-of-the-art on small-object detection which fits waste classification well. MobileNetV3 is our fallback if YOLOv8n underperforms. We rejected EfficientNet-B0 as too heavy for edge deployment.
Fine-tuning strategy is standard transfer learning: load pretrained YOLOv8n on COCO, replace the detection head for our 6 waste classes, freeze the backbone for the first 20 epochs to train the head, apply data augmentation including rotation, flip, color jitter and mosaic, then unfreeze with a low learning rate for 30 more epochs. Evaluation with F1 and per-class precision/recall. Final step: export to INT8 TFLite for edge inference.
On the web application side: React with Vite for the frontend, Leaflet for the live map, Recharts for the dashboard, Three.js for the digital twin. FastAPI backend with REST endpoints per module, MQTT ingestion listener, an ML inference wrapper, and a DCPI plus XAI scoring service. Data layer is PostgreSQL with TimescaleDB extension for time-series telemetry. Six dashboard modules are fully specified: Live Map, Prediction, Route Planning, Digital Twin, KPIs, and Alerts + Audit Log.
Everything open-source. Target unit cost under 200 dollars per bin when hardware is added later. Deployable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PLAN TO BUILD (90 sec).
In the next 72 hours, we build a working end-to-end demonstration.
Day 1, tonight, right after this session: we scaffold the repo on GitHub with CI green. We launch the YOLOv8n fine-tuning run on TrashNet plus TACO. We stand up the FastAPI backend skeleton and migrate the database schema. We bootstrap the React project with routing. We code the sensor simulator version zero, so we have a bin telemetry stream flowing.
Day 2, tomorrow, 16 August: the fine-tuning run completes, we generate F1 and confusion matrix. We wire the backend REST endpoints per module. We get the live map and prediction module functional with mock data. We code the DCPI scoring service. And critically, we achieve the first end-to-end call: ML classifies, backend receives, UI displays.
Day 3, 17 August: we integrate, polish, handle edge cases. We wire in the route optimizer with SHAP explanations. We add a basic Digital Twin what-if scenario. We prepare the deployment demo, record a short video walkthrough, and finalize the presentation deck and submission materials.
18 August is the submission gate. What ships is decided in advance: ML pipeline, web app, sensor simulator, working end-to-end demo. What stays as design plus stub: full Federated Learning multi-round training, and the waste-picker mobile app. No last-minute scope creep.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CHALLENGES WE ARE FACING (90 sec).
I want to be completely honest about what we do not have.
First, no physical bin. No Raspberry Pi, no sensors procured. The edge tier will be demonstrated through our sensor simulator, not real hardware.
Second, no code repository yet as of today. Implementation kicks off tonight after this session.
Third, the Federated Learning contribution will likely stay as designed architecture plus a code stub. 72 hours is not enough for a proper multi-round federated benchmark with convergence curves.
Fourth, the waste-picker mobile app stays as design plus API contract, not a shipped React Native build.
Fifth, we depend on public datasets TrashNet and TACO. No custom-labeled local waste data.
Sixth, no confirmed NGO or municipal partner yet for the informal-sector bridge pilot.
Where we need your help, five specific asks:
One: validate our software-first cut-line. Given 3 days, is our decision to prioritize ML pipeline plus web app plus simulator, instead of physical hardware, the right one?
Two: sharpen our ML approach. Is our fine-tuning strategy on YOLOv8n with TrashNet and TACO the right path? Anything we are missing?
Three: guide the Federated Learning story. How do we present this contribution honestly, given it will be design plus stub not full demo?
Four: post-hackathon next steps. If we place well, what does the paper track look like? Which IEEE venue fits? Any reviewer contacts?
Five: any resource unlock. Post-submission access to hardware for a v2. Any NGO connection for a pilot.
We would rather show you the honest state and get sharp guidance than dress up something we have not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(30 sec).
To summarize: the framework is thought through, the build starts tonight, and we know exactly what will and will not ship on August 18.
We are asking for three things from you today: guidance on our cut-line and technical narratives, any resource unlock for a v2 demo, and any connection for the informal-sector pilot.
Thank you for your time.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235440" y="457200"/>
            <a:ext cx="2560320" cy="502920"/>
          </a:xfrm>
          <a:prstGeom prst="roundRect">
            <a:avLst>
              <a:gd name="adj" fmla="val 36364"/>
            </a:avLst>
          </a:prstGeom>
          <a:solidFill>
            <a:srgbClr val="DC2626"/>
          </a:solidFill>
          <a:ln/>
        </p:spPr>
      </p:sp>
      <p:sp>
        <p:nvSpPr>
          <p:cNvPr id="3" name="Text 1"/>
          <p:cNvSpPr/>
          <p:nvPr/>
        </p:nvSpPr>
        <p:spPr>
          <a:xfrm>
            <a:off x="9235440" y="457200"/>
            <a:ext cx="25603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 days to submission</a:t>
            </a:r>
            <a:endParaRPr lang="en-US" sz="1200" dirty="0"/>
          </a:p>
        </p:txBody>
      </p:sp>
      <p:sp>
        <p:nvSpPr>
          <p:cNvPr id="4" name="Text 2"/>
          <p:cNvSpPr/>
          <p:nvPr/>
        </p:nvSpPr>
        <p:spPr>
          <a:xfrm>
            <a:off x="685800" y="1600200"/>
            <a:ext cx="10972800" cy="1188720"/>
          </a:xfrm>
          <a:prstGeom prst="rect">
            <a:avLst/>
          </a:prstGeom>
          <a:noFill/>
          <a:ln/>
        </p:spPr>
        <p:txBody>
          <a:bodyPr wrap="square" lIns="0" tIns="0" rIns="0" bIns="0" rtlCol="0" anchor="ctr"/>
          <a:lstStyle/>
          <a:p>
            <a:pPr algn="l" indent="0" marL="0">
              <a:buNone/>
            </a:pPr>
            <a:r>
              <a:rPr lang="en-US" sz="6800" b="1" spc="-100" kern="0" dirty="0">
                <a:solidFill>
                  <a:srgbClr val="1E3A8A"/>
                </a:solidFill>
                <a:latin typeface="Calibri" pitchFamily="34" charset="0"/>
                <a:ea typeface="Calibri" pitchFamily="34" charset="-122"/>
                <a:cs typeface="Calibri" pitchFamily="34" charset="-120"/>
              </a:rPr>
              <a:t>SmartWasteAI</a:t>
            </a:r>
            <a:endParaRPr lang="en-US" sz="6800" dirty="0"/>
          </a:p>
        </p:txBody>
      </p:sp>
      <p:sp>
        <p:nvSpPr>
          <p:cNvPr id="5" name="Text 3"/>
          <p:cNvSpPr/>
          <p:nvPr/>
        </p:nvSpPr>
        <p:spPr>
          <a:xfrm>
            <a:off x="685800" y="2834640"/>
            <a:ext cx="10972800" cy="548640"/>
          </a:xfrm>
          <a:prstGeom prst="rect">
            <a:avLst/>
          </a:prstGeom>
          <a:noFill/>
          <a:ln/>
        </p:spPr>
        <p:txBody>
          <a:bodyPr wrap="square" lIns="0" tIns="0" rIns="0" bIns="0" rtlCol="0" anchor="ctr"/>
          <a:lstStyle/>
          <a:p>
            <a:pPr algn="l" indent="0" marL="0">
              <a:buNone/>
            </a:pPr>
            <a:r>
              <a:rPr lang="en-US" sz="2200" i="1" dirty="0">
                <a:solidFill>
                  <a:srgbClr val="E85D25"/>
                </a:solidFill>
                <a:latin typeface="Calibri" pitchFamily="34" charset="0"/>
                <a:ea typeface="Calibri" pitchFamily="34" charset="-122"/>
                <a:cs typeface="Calibri" pitchFamily="34" charset="-120"/>
              </a:rPr>
              <a:t>Round 2 Mentoring Session</a:t>
            </a:r>
            <a:endParaRPr lang="en-US" sz="2200" dirty="0"/>
          </a:p>
        </p:txBody>
      </p:sp>
      <p:sp>
        <p:nvSpPr>
          <p:cNvPr id="6" name="Text 4"/>
          <p:cNvSpPr/>
          <p:nvPr/>
        </p:nvSpPr>
        <p:spPr>
          <a:xfrm>
            <a:off x="685800" y="3429000"/>
            <a:ext cx="10972800" cy="822960"/>
          </a:xfrm>
          <a:prstGeom prst="rect">
            <a:avLst/>
          </a:prstGeom>
          <a:noFill/>
          <a:ln/>
        </p:spPr>
        <p:txBody>
          <a:bodyPr wrap="square" lIns="0" tIns="0" rIns="0" bIns="0" rtlCol="0" anchor="t"/>
          <a:lstStyle/>
          <a:p>
            <a:pPr algn="l" indent="0" marL="0">
              <a:buNone/>
            </a:pPr>
            <a:r>
              <a:rPr lang="en-US" sz="1500" dirty="0">
                <a:solidFill>
                  <a:srgbClr val="4B5563"/>
                </a:solidFill>
                <a:latin typeface="Calibri" pitchFamily="34" charset="0"/>
                <a:ea typeface="Calibri" pitchFamily="34" charset="-122"/>
                <a:cs typeface="Calibri" pitchFamily="34" charset="-120"/>
              </a:rPr>
              <a:t>A Federated, Explainable AI Framework for Predictive Waste Management with Informal Sector Integration.</a:t>
            </a:r>
            <a:endParaRPr lang="en-US" sz="1500" dirty="0"/>
          </a:p>
        </p:txBody>
      </p:sp>
      <p:sp>
        <p:nvSpPr>
          <p:cNvPr id="7" name="Shape 5"/>
          <p:cNvSpPr/>
          <p:nvPr/>
        </p:nvSpPr>
        <p:spPr>
          <a:xfrm>
            <a:off x="685800" y="4892040"/>
            <a:ext cx="6217920" cy="1371600"/>
          </a:xfrm>
          <a:prstGeom prst="roundRect">
            <a:avLst>
              <a:gd name="adj" fmla="val 6667"/>
            </a:avLst>
          </a:prstGeom>
          <a:solidFill>
            <a:srgbClr val="E0E7FF"/>
          </a:solidFill>
          <a:ln/>
        </p:spPr>
      </p:sp>
      <p:sp>
        <p:nvSpPr>
          <p:cNvPr id="8" name="Text 6"/>
          <p:cNvSpPr/>
          <p:nvPr/>
        </p:nvSpPr>
        <p:spPr>
          <a:xfrm>
            <a:off x="822960" y="4983480"/>
            <a:ext cx="5943600" cy="1188720"/>
          </a:xfrm>
          <a:prstGeom prst="rect">
            <a:avLst/>
          </a:prstGeom>
          <a:noFill/>
          <a:ln/>
        </p:spPr>
        <p:txBody>
          <a:bodyPr wrap="square" lIns="0" tIns="0" rIns="0" bIns="0" rtlCol="0" anchor="t"/>
          <a:lstStyle/>
          <a:p>
            <a:pPr algn="l" indent="0" marL="0">
              <a:spcAft>
                <a:spcPts val="600"/>
              </a:spcAft>
              <a:buNone/>
            </a:pPr>
            <a:r>
              <a:rPr lang="en-US" sz="1300" b="1" dirty="0">
                <a:solidFill>
                  <a:srgbClr val="1E3A8A"/>
                </a:solidFill>
                <a:latin typeface="Calibri" pitchFamily="34" charset="0"/>
                <a:ea typeface="Calibri" pitchFamily="34" charset="-122"/>
                <a:cs typeface="Calibri" pitchFamily="34" charset="-120"/>
              </a:rPr>
              <a:t>Team</a:t>
            </a:r>
            <a:pPr algn="l" indent="0" marL="0">
              <a:spcAft>
                <a:spcPts val="600"/>
              </a:spcAft>
              <a:buNone/>
            </a:pPr>
            <a:r>
              <a:rPr lang="en-US" sz="1300" dirty="0">
                <a:solidFill>
                  <a:srgbClr val="1F2937"/>
                </a:solidFill>
                <a:latin typeface="Calibri" pitchFamily="34" charset="0"/>
                <a:ea typeface="Calibri" pitchFamily="34" charset="-122"/>
                <a:cs typeface="Calibri" pitchFamily="34" charset="-120"/>
              </a:rPr>
              <a:t>   AI4Earth
</a:t>
            </a:r>
            <a:pPr algn="l" indent="0" marL="0">
              <a:spcAft>
                <a:spcPts val="600"/>
              </a:spcAft>
              <a:buNone/>
            </a:pPr>
            <a:r>
              <a:rPr lang="en-US" sz="1300" b="1" dirty="0">
                <a:solidFill>
                  <a:srgbClr val="1E3A8A"/>
                </a:solidFill>
                <a:latin typeface="Calibri" pitchFamily="34" charset="0"/>
                <a:ea typeface="Calibri" pitchFamily="34" charset="-122"/>
                <a:cs typeface="Calibri" pitchFamily="34" charset="-120"/>
              </a:rPr>
              <a:t>Team Leader</a:t>
            </a:r>
            <a:pPr algn="l" indent="0" marL="0">
              <a:spcAft>
                <a:spcPts val="600"/>
              </a:spcAft>
              <a:buNone/>
            </a:pPr>
            <a:r>
              <a:rPr lang="en-US" sz="1300" dirty="0">
                <a:solidFill>
                  <a:srgbClr val="1F2937"/>
                </a:solidFill>
                <a:latin typeface="Calibri" pitchFamily="34" charset="0"/>
                <a:ea typeface="Calibri" pitchFamily="34" charset="-122"/>
                <a:cs typeface="Calibri" pitchFamily="34" charset="-120"/>
              </a:rPr>
              <a:t>   Housseni YABRE
</a:t>
            </a:r>
            <a:pPr algn="l" indent="0" marL="0">
              <a:spcAft>
                <a:spcPts val="600"/>
              </a:spcAft>
              <a:buNone/>
            </a:pPr>
            <a:r>
              <a:rPr lang="en-US" sz="1300" b="1" dirty="0">
                <a:solidFill>
                  <a:srgbClr val="1E3A8A"/>
                </a:solidFill>
                <a:latin typeface="Calibri" pitchFamily="34" charset="0"/>
                <a:ea typeface="Calibri" pitchFamily="34" charset="-122"/>
                <a:cs typeface="Calibri" pitchFamily="34" charset="-120"/>
              </a:rPr>
              <a:t>Theme</a:t>
            </a:r>
            <a:pPr algn="l" indent="0" marL="0">
              <a:spcAft>
                <a:spcPts val="600"/>
              </a:spcAft>
              <a:buNone/>
            </a:pPr>
            <a:r>
              <a:rPr lang="en-US" sz="1300" dirty="0">
                <a:solidFill>
                  <a:srgbClr val="1F2937"/>
                </a:solidFill>
                <a:latin typeface="Calibri" pitchFamily="34" charset="0"/>
                <a:ea typeface="Calibri" pitchFamily="34" charset="-122"/>
                <a:cs typeface="Calibri" pitchFamily="34" charset="-120"/>
              </a:rPr>
              <a:t>   Smart Waste Management Systems</a:t>
            </a:r>
            <a:endParaRPr lang="en-US" sz="1300" dirty="0"/>
          </a:p>
        </p:txBody>
      </p:sp>
      <p:sp>
        <p:nvSpPr>
          <p:cNvPr id="9" name="Shape 7"/>
          <p:cNvSpPr/>
          <p:nvPr/>
        </p:nvSpPr>
        <p:spPr>
          <a:xfrm>
            <a:off x="7315200" y="4892040"/>
            <a:ext cx="4480560" cy="1371600"/>
          </a:xfrm>
          <a:prstGeom prst="roundRect">
            <a:avLst>
              <a:gd name="adj" fmla="val 6667"/>
            </a:avLst>
          </a:prstGeom>
          <a:solidFill>
            <a:srgbClr val="FDE4D8"/>
          </a:solidFill>
          <a:ln/>
        </p:spPr>
      </p:sp>
      <p:sp>
        <p:nvSpPr>
          <p:cNvPr id="10" name="Text 8"/>
          <p:cNvSpPr/>
          <p:nvPr/>
        </p:nvSpPr>
        <p:spPr>
          <a:xfrm>
            <a:off x="7452360" y="4956048"/>
            <a:ext cx="4206240" cy="1234440"/>
          </a:xfrm>
          <a:prstGeom prst="rect">
            <a:avLst/>
          </a:prstGeom>
          <a:noFill/>
          <a:ln/>
        </p:spPr>
        <p:txBody>
          <a:bodyPr wrap="square" lIns="0" tIns="0" rIns="0" bIns="0" rtlCol="0" anchor="t"/>
          <a:lstStyle/>
          <a:p>
            <a:pPr algn="l" indent="0" marL="0">
              <a:spcAft>
                <a:spcPts val="300"/>
              </a:spcAft>
              <a:buNone/>
            </a:pPr>
            <a:r>
              <a:rPr lang="en-US" sz="1300" b="1" dirty="0">
                <a:solidFill>
                  <a:srgbClr val="E85D25"/>
                </a:solidFill>
                <a:latin typeface="Calibri" pitchFamily="34" charset="0"/>
                <a:ea typeface="Calibri" pitchFamily="34" charset="-122"/>
                <a:cs typeface="Calibri" pitchFamily="34" charset="-120"/>
              </a:rPr>
              <a:t>Today   </a:t>
            </a:r>
            <a:pPr algn="l" indent="0" marL="0">
              <a:spcAft>
                <a:spcPts val="300"/>
              </a:spcAft>
              <a:buNone/>
            </a:pPr>
            <a:r>
              <a:rPr lang="en-US" sz="1200" dirty="0">
                <a:solidFill>
                  <a:srgbClr val="1F2937"/>
                </a:solidFill>
                <a:latin typeface="Calibri" pitchFamily="34" charset="0"/>
                <a:ea typeface="Calibri" pitchFamily="34" charset="-122"/>
                <a:cs typeface="Calibri" pitchFamily="34" charset="-120"/>
              </a:rPr>
              <a:t>15 Aug   ·   mentoring + kickoff (tonight)
</a:t>
            </a:r>
            <a:pPr algn="l" indent="0" marL="0">
              <a:spcAft>
                <a:spcPts val="300"/>
              </a:spcAft>
              <a:buNone/>
            </a:pPr>
            <a:r>
              <a:rPr lang="en-US" sz="1300" b="1" dirty="0">
                <a:solidFill>
                  <a:srgbClr val="E85D25"/>
                </a:solidFill>
                <a:latin typeface="Calibri" pitchFamily="34" charset="0"/>
                <a:ea typeface="Calibri" pitchFamily="34" charset="-122"/>
                <a:cs typeface="Calibri" pitchFamily="34" charset="-120"/>
              </a:rPr>
              <a:t>Tomorrow </a:t>
            </a:r>
            <a:pPr algn="l" indent="0" marL="0">
              <a:spcAft>
                <a:spcPts val="300"/>
              </a:spcAft>
              <a:buNone/>
            </a:pPr>
            <a:r>
              <a:rPr lang="en-US" sz="1200" dirty="0">
                <a:solidFill>
                  <a:srgbClr val="1F2937"/>
                </a:solidFill>
                <a:latin typeface="Calibri" pitchFamily="34" charset="0"/>
                <a:ea typeface="Calibri" pitchFamily="34" charset="-122"/>
                <a:cs typeface="Calibri" pitchFamily="34" charset="-120"/>
              </a:rPr>
              <a:t>16 Aug   ·   backend + frontend build
</a:t>
            </a:r>
            <a:pPr algn="l" indent="0" marL="0">
              <a:spcAft>
                <a:spcPts val="300"/>
              </a:spcAft>
              <a:buNone/>
            </a:pPr>
            <a:r>
              <a:rPr lang="en-US" sz="1300" b="1" dirty="0">
                <a:solidFill>
                  <a:srgbClr val="E85D25"/>
                </a:solidFill>
                <a:latin typeface="Calibri" pitchFamily="34" charset="0"/>
                <a:ea typeface="Calibri" pitchFamily="34" charset="-122"/>
                <a:cs typeface="Calibri" pitchFamily="34" charset="-120"/>
              </a:rPr>
              <a:t>Then    </a:t>
            </a:r>
            <a:pPr algn="l" indent="0" marL="0">
              <a:spcAft>
                <a:spcPts val="300"/>
              </a:spcAft>
              <a:buNone/>
            </a:pPr>
            <a:r>
              <a:rPr lang="en-US" sz="1200" dirty="0">
                <a:solidFill>
                  <a:srgbClr val="1F2937"/>
                </a:solidFill>
                <a:latin typeface="Calibri" pitchFamily="34" charset="0"/>
                <a:ea typeface="Calibri" pitchFamily="34" charset="-122"/>
                <a:cs typeface="Calibri" pitchFamily="34" charset="-120"/>
              </a:rPr>
              <a:t>17 Aug   ·   integration + demo prep
</a:t>
            </a:r>
            <a:pPr algn="l" indent="0" marL="0">
              <a:spcAft>
                <a:spcPts val="300"/>
              </a:spcAft>
              <a:buNone/>
            </a:pPr>
            <a:r>
              <a:rPr lang="en-US" sz="1300" b="1" dirty="0">
                <a:solidFill>
                  <a:srgbClr val="DC2626"/>
                </a:solidFill>
                <a:latin typeface="Calibri" pitchFamily="34" charset="0"/>
                <a:ea typeface="Calibri" pitchFamily="34" charset="-122"/>
                <a:cs typeface="Calibri" pitchFamily="34" charset="-120"/>
              </a:rPr>
              <a:t>Deadline</a:t>
            </a:r>
            <a:pPr algn="l" indent="0" marL="0">
              <a:spcAft>
                <a:spcPts val="300"/>
              </a:spcAft>
              <a:buNone/>
            </a:pPr>
            <a:r>
              <a:rPr lang="en-US" sz="1200" b="1" dirty="0">
                <a:solidFill>
                  <a:srgbClr val="1F2937"/>
                </a:solidFill>
                <a:latin typeface="Calibri" pitchFamily="34" charset="0"/>
                <a:ea typeface="Calibri" pitchFamily="34" charset="-122"/>
                <a:cs typeface="Calibri" pitchFamily="34" charset="-120"/>
              </a:rPr>
              <a:t>   18 Aug   ·   Round 2 submission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548640" cy="502920"/>
          </a:xfrm>
          <a:prstGeom prst="roundRect">
            <a:avLst>
              <a:gd name="adj" fmla="val 14545"/>
            </a:avLst>
          </a:prstGeom>
          <a:solidFill>
            <a:srgbClr val="E85D25"/>
          </a:solidFill>
          <a:ln/>
        </p:spPr>
      </p:sp>
      <p:sp>
        <p:nvSpPr>
          <p:cNvPr id="3" name="Text 1"/>
          <p:cNvSpPr/>
          <p:nvPr/>
        </p:nvSpPr>
        <p:spPr>
          <a:xfrm>
            <a:off x="457200" y="365760"/>
            <a:ext cx="54864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01</a:t>
            </a:r>
            <a:endParaRPr lang="en-US" sz="2000" dirty="0"/>
          </a:p>
        </p:txBody>
      </p:sp>
      <p:sp>
        <p:nvSpPr>
          <p:cNvPr id="4" name="Text 2"/>
          <p:cNvSpPr/>
          <p:nvPr/>
        </p:nvSpPr>
        <p:spPr>
          <a:xfrm>
            <a:off x="1143000" y="320040"/>
            <a:ext cx="8686800" cy="594360"/>
          </a:xfrm>
          <a:prstGeom prst="rect">
            <a:avLst/>
          </a:prstGeom>
          <a:noFill/>
          <a:ln/>
        </p:spPr>
        <p:txBody>
          <a:bodyPr wrap="square" lIns="0" tIns="0" rIns="0" bIns="0" rtlCol="0" anchor="ctr"/>
          <a:lstStyle/>
          <a:p>
            <a:pPr algn="l" indent="0" marL="0">
              <a:buNone/>
            </a:pPr>
            <a:r>
              <a:rPr lang="en-US" sz="2800" b="1" dirty="0">
                <a:solidFill>
                  <a:srgbClr val="1E3A8A"/>
                </a:solidFill>
                <a:latin typeface="Calibri" pitchFamily="34" charset="0"/>
                <a:ea typeface="Calibri" pitchFamily="34" charset="-122"/>
                <a:cs typeface="Calibri" pitchFamily="34" charset="-120"/>
              </a:rPr>
              <a:t>Problem Statement</a:t>
            </a:r>
            <a:endParaRPr lang="en-US" sz="2800" dirty="0"/>
          </a:p>
        </p:txBody>
      </p:sp>
      <p:sp>
        <p:nvSpPr>
          <p:cNvPr id="5" name="Text 3"/>
          <p:cNvSpPr/>
          <p:nvPr/>
        </p:nvSpPr>
        <p:spPr>
          <a:xfrm>
            <a:off x="9144000" y="384048"/>
            <a:ext cx="2651760" cy="457200"/>
          </a:xfrm>
          <a:prstGeom prst="rect">
            <a:avLst/>
          </a:prstGeom>
          <a:noFill/>
          <a:ln/>
        </p:spPr>
        <p:txBody>
          <a:bodyPr wrap="square" lIns="0" tIns="0" rIns="0" bIns="0" rtlCol="0" anchor="ctr"/>
          <a:lstStyle/>
          <a:p>
            <a:pPr algn="r" indent="0" marL="0">
              <a:buNone/>
            </a:pPr>
            <a:r>
              <a:rPr lang="en-US" sz="1100" i="1" dirty="0">
                <a:solidFill>
                  <a:srgbClr val="4B5563"/>
                </a:solidFill>
                <a:latin typeface="Calibri" pitchFamily="34" charset="0"/>
                <a:ea typeface="Calibri" pitchFamily="34" charset="-122"/>
                <a:cs typeface="Calibri" pitchFamily="34" charset="-120"/>
              </a:rPr>
              <a:t>Why current smart waste fails</a:t>
            </a:r>
            <a:endParaRPr lang="en-US" sz="1100" dirty="0"/>
          </a:p>
        </p:txBody>
      </p:sp>
      <p:sp>
        <p:nvSpPr>
          <p:cNvPr id="6" name="Text 4"/>
          <p:cNvSpPr/>
          <p:nvPr/>
        </p:nvSpPr>
        <p:spPr>
          <a:xfrm>
            <a:off x="457200" y="1188720"/>
            <a:ext cx="11247120" cy="457200"/>
          </a:xfrm>
          <a:prstGeom prst="rect">
            <a:avLst/>
          </a:prstGeom>
          <a:noFill/>
          <a:ln/>
        </p:spPr>
        <p:txBody>
          <a:bodyPr wrap="square" lIns="0" tIns="0" rIns="0" bIns="0" rtlCol="0" anchor="t"/>
          <a:lstStyle/>
          <a:p>
            <a:pPr algn="l" indent="0" marL="0">
              <a:buNone/>
            </a:pPr>
            <a:r>
              <a:rPr lang="en-US" sz="2000" b="1" dirty="0">
                <a:solidFill>
                  <a:srgbClr val="1F2937"/>
                </a:solidFill>
                <a:latin typeface="Calibri" pitchFamily="34" charset="0"/>
                <a:ea typeface="Calibri" pitchFamily="34" charset="-122"/>
                <a:cs typeface="Calibri" pitchFamily="34" charset="-120"/>
              </a:rPr>
              <a:t>The waste crisis isn't a hardware problem. </a:t>
            </a:r>
            <a:pPr algn="l" indent="0" marL="0">
              <a:buNone/>
            </a:pPr>
            <a:r>
              <a:rPr lang="en-US" sz="2000" b="1" i="1" dirty="0">
                <a:solidFill>
                  <a:srgbClr val="E85D25"/>
                </a:solidFill>
                <a:latin typeface="Calibri" pitchFamily="34" charset="0"/>
                <a:ea typeface="Calibri" pitchFamily="34" charset="-122"/>
                <a:cs typeface="Calibri" pitchFamily="34" charset="-120"/>
              </a:rPr>
              <a:t>It's an intelligence problem.</a:t>
            </a:r>
            <a:endParaRPr lang="en-US" sz="2000" dirty="0"/>
          </a:p>
        </p:txBody>
      </p:sp>
      <p:sp>
        <p:nvSpPr>
          <p:cNvPr id="7" name="Shape 5"/>
          <p:cNvSpPr/>
          <p:nvPr/>
        </p:nvSpPr>
        <p:spPr>
          <a:xfrm>
            <a:off x="457200" y="1828800"/>
            <a:ext cx="2743200" cy="1234440"/>
          </a:xfrm>
          <a:prstGeom prst="roundRect">
            <a:avLst>
              <a:gd name="adj" fmla="val 7407"/>
            </a:avLst>
          </a:prstGeom>
          <a:solidFill>
            <a:srgbClr val="E0E7FF"/>
          </a:solidFill>
          <a:ln/>
        </p:spPr>
      </p:sp>
      <p:sp>
        <p:nvSpPr>
          <p:cNvPr id="8" name="Text 6"/>
          <p:cNvSpPr/>
          <p:nvPr/>
        </p:nvSpPr>
        <p:spPr>
          <a:xfrm>
            <a:off x="457200" y="1920240"/>
            <a:ext cx="2743200" cy="502920"/>
          </a:xfrm>
          <a:prstGeom prst="rect">
            <a:avLst/>
          </a:prstGeom>
          <a:noFill/>
          <a:ln/>
        </p:spPr>
        <p:txBody>
          <a:bodyPr wrap="square" lIns="0" tIns="0" rIns="0" bIns="0" rtlCol="0" anchor="ctr"/>
          <a:lstStyle/>
          <a:p>
            <a:pPr algn="ctr" indent="0" marL="0">
              <a:buNone/>
            </a:pPr>
            <a:r>
              <a:rPr lang="en-US" sz="3400" b="1" dirty="0">
                <a:solidFill>
                  <a:srgbClr val="1E3A8A"/>
                </a:solidFill>
                <a:latin typeface="Calibri" pitchFamily="34" charset="0"/>
                <a:ea typeface="Calibri" pitchFamily="34" charset="-122"/>
                <a:cs typeface="Calibri" pitchFamily="34" charset="-120"/>
              </a:rPr>
              <a:t>3.4 B</a:t>
            </a:r>
            <a:endParaRPr lang="en-US" sz="3400" dirty="0"/>
          </a:p>
        </p:txBody>
      </p:sp>
      <p:sp>
        <p:nvSpPr>
          <p:cNvPr id="9" name="Text 7"/>
          <p:cNvSpPr/>
          <p:nvPr/>
        </p:nvSpPr>
        <p:spPr>
          <a:xfrm>
            <a:off x="457200" y="2468880"/>
            <a:ext cx="2743200" cy="274320"/>
          </a:xfrm>
          <a:prstGeom prst="rect">
            <a:avLst/>
          </a:prstGeom>
          <a:noFill/>
          <a:ln/>
        </p:spPr>
        <p:txBody>
          <a:bodyPr wrap="square" lIns="0" tIns="0" rIns="0" bIns="0"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tons of waste / year</a:t>
            </a:r>
            <a:endParaRPr lang="en-US" sz="1200" dirty="0"/>
          </a:p>
        </p:txBody>
      </p:sp>
      <p:sp>
        <p:nvSpPr>
          <p:cNvPr id="10" name="Text 8"/>
          <p:cNvSpPr/>
          <p:nvPr/>
        </p:nvSpPr>
        <p:spPr>
          <a:xfrm>
            <a:off x="457200" y="2743200"/>
            <a:ext cx="2743200" cy="274320"/>
          </a:xfrm>
          <a:prstGeom prst="rect">
            <a:avLst/>
          </a:prstGeom>
          <a:noFill/>
          <a:ln/>
        </p:spPr>
        <p:txBody>
          <a:bodyPr wrap="square" lIns="0" tIns="0" rIns="0" bIns="0" rtlCol="0" anchor="ctr"/>
          <a:lstStyle/>
          <a:p>
            <a:pPr algn="ctr" indent="0" marL="0">
              <a:buNone/>
            </a:pPr>
            <a:r>
              <a:rPr lang="en-US" sz="1000" i="1" dirty="0">
                <a:solidFill>
                  <a:srgbClr val="4B5563"/>
                </a:solidFill>
                <a:latin typeface="Calibri" pitchFamily="34" charset="0"/>
                <a:ea typeface="Calibri" pitchFamily="34" charset="-122"/>
                <a:cs typeface="Calibri" pitchFamily="34" charset="-120"/>
              </a:rPr>
              <a:t>by 2050 · World Bank</a:t>
            </a:r>
            <a:endParaRPr lang="en-US" sz="1000" dirty="0"/>
          </a:p>
        </p:txBody>
      </p:sp>
      <p:sp>
        <p:nvSpPr>
          <p:cNvPr id="11" name="Shape 9"/>
          <p:cNvSpPr/>
          <p:nvPr/>
        </p:nvSpPr>
        <p:spPr>
          <a:xfrm>
            <a:off x="3319272" y="1828800"/>
            <a:ext cx="2743200" cy="1234440"/>
          </a:xfrm>
          <a:prstGeom prst="roundRect">
            <a:avLst>
              <a:gd name="adj" fmla="val 7407"/>
            </a:avLst>
          </a:prstGeom>
          <a:solidFill>
            <a:srgbClr val="FDE4D8"/>
          </a:solidFill>
          <a:ln/>
        </p:spPr>
      </p:sp>
      <p:sp>
        <p:nvSpPr>
          <p:cNvPr id="12" name="Text 10"/>
          <p:cNvSpPr/>
          <p:nvPr/>
        </p:nvSpPr>
        <p:spPr>
          <a:xfrm>
            <a:off x="3319272" y="1920240"/>
            <a:ext cx="2743200" cy="502920"/>
          </a:xfrm>
          <a:prstGeom prst="rect">
            <a:avLst/>
          </a:prstGeom>
          <a:noFill/>
          <a:ln/>
        </p:spPr>
        <p:txBody>
          <a:bodyPr wrap="square" lIns="0" tIns="0" rIns="0" bIns="0" rtlCol="0" anchor="ctr"/>
          <a:lstStyle/>
          <a:p>
            <a:pPr algn="ctr" indent="0" marL="0">
              <a:buNone/>
            </a:pPr>
            <a:r>
              <a:rPr lang="en-US" sz="3400" b="1" dirty="0">
                <a:solidFill>
                  <a:srgbClr val="E85D25"/>
                </a:solidFill>
                <a:latin typeface="Calibri" pitchFamily="34" charset="0"/>
                <a:ea typeface="Calibri" pitchFamily="34" charset="-122"/>
                <a:cs typeface="Calibri" pitchFamily="34" charset="-120"/>
              </a:rPr>
              <a:t>44 %</a:t>
            </a:r>
            <a:endParaRPr lang="en-US" sz="3400" dirty="0"/>
          </a:p>
        </p:txBody>
      </p:sp>
      <p:sp>
        <p:nvSpPr>
          <p:cNvPr id="13" name="Text 11"/>
          <p:cNvSpPr/>
          <p:nvPr/>
        </p:nvSpPr>
        <p:spPr>
          <a:xfrm>
            <a:off x="3319272" y="2468880"/>
            <a:ext cx="2743200" cy="274320"/>
          </a:xfrm>
          <a:prstGeom prst="rect">
            <a:avLst/>
          </a:prstGeom>
          <a:noFill/>
          <a:ln/>
        </p:spPr>
        <p:txBody>
          <a:bodyPr wrap="square" lIns="0" tIns="0" rIns="0" bIns="0"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of global waste is organic</a:t>
            </a:r>
            <a:endParaRPr lang="en-US" sz="1200" dirty="0"/>
          </a:p>
        </p:txBody>
      </p:sp>
      <p:sp>
        <p:nvSpPr>
          <p:cNvPr id="14" name="Text 12"/>
          <p:cNvSpPr/>
          <p:nvPr/>
        </p:nvSpPr>
        <p:spPr>
          <a:xfrm>
            <a:off x="3319272" y="2743200"/>
            <a:ext cx="2743200" cy="274320"/>
          </a:xfrm>
          <a:prstGeom prst="rect">
            <a:avLst/>
          </a:prstGeom>
          <a:noFill/>
          <a:ln/>
        </p:spPr>
        <p:txBody>
          <a:bodyPr wrap="square" lIns="0" tIns="0" rIns="0" bIns="0" rtlCol="0" anchor="ctr"/>
          <a:lstStyle/>
          <a:p>
            <a:pPr algn="ctr" indent="0" marL="0">
              <a:buNone/>
            </a:pPr>
            <a:r>
              <a:rPr lang="en-US" sz="1000" i="1" dirty="0">
                <a:solidFill>
                  <a:srgbClr val="4B5563"/>
                </a:solidFill>
                <a:latin typeface="Calibri" pitchFamily="34" charset="0"/>
                <a:ea typeface="Calibri" pitchFamily="34" charset="-122"/>
                <a:cs typeface="Calibri" pitchFamily="34" charset="-120"/>
              </a:rPr>
              <a:t>high fire &amp; biohazard risk</a:t>
            </a:r>
            <a:endParaRPr lang="en-US" sz="1000" dirty="0"/>
          </a:p>
        </p:txBody>
      </p:sp>
      <p:sp>
        <p:nvSpPr>
          <p:cNvPr id="15" name="Shape 13"/>
          <p:cNvSpPr/>
          <p:nvPr/>
        </p:nvSpPr>
        <p:spPr>
          <a:xfrm>
            <a:off x="6181344" y="1828800"/>
            <a:ext cx="2743200" cy="1234440"/>
          </a:xfrm>
          <a:prstGeom prst="roundRect">
            <a:avLst>
              <a:gd name="adj" fmla="val 7407"/>
            </a:avLst>
          </a:prstGeom>
          <a:solidFill>
            <a:srgbClr val="FEE2E2"/>
          </a:solidFill>
          <a:ln/>
        </p:spPr>
      </p:sp>
      <p:sp>
        <p:nvSpPr>
          <p:cNvPr id="16" name="Text 14"/>
          <p:cNvSpPr/>
          <p:nvPr/>
        </p:nvSpPr>
        <p:spPr>
          <a:xfrm>
            <a:off x="6181344" y="1920240"/>
            <a:ext cx="2743200" cy="502920"/>
          </a:xfrm>
          <a:prstGeom prst="rect">
            <a:avLst/>
          </a:prstGeom>
          <a:noFill/>
          <a:ln/>
        </p:spPr>
        <p:txBody>
          <a:bodyPr wrap="square" lIns="0" tIns="0" rIns="0" bIns="0" rtlCol="0" anchor="ctr"/>
          <a:lstStyle/>
          <a:p>
            <a:pPr algn="ctr" indent="0" marL="0">
              <a:buNone/>
            </a:pPr>
            <a:r>
              <a:rPr lang="en-US" sz="3400" b="1" dirty="0">
                <a:solidFill>
                  <a:srgbClr val="DC2626"/>
                </a:solidFill>
                <a:latin typeface="Calibri" pitchFamily="34" charset="0"/>
                <a:ea typeface="Calibri" pitchFamily="34" charset="-122"/>
                <a:cs typeface="Calibri" pitchFamily="34" charset="-120"/>
              </a:rPr>
              <a:t>&lt; 20 %</a:t>
            </a:r>
            <a:endParaRPr lang="en-US" sz="3400" dirty="0"/>
          </a:p>
        </p:txBody>
      </p:sp>
      <p:sp>
        <p:nvSpPr>
          <p:cNvPr id="17" name="Text 15"/>
          <p:cNvSpPr/>
          <p:nvPr/>
        </p:nvSpPr>
        <p:spPr>
          <a:xfrm>
            <a:off x="6181344" y="2468880"/>
            <a:ext cx="2743200" cy="274320"/>
          </a:xfrm>
          <a:prstGeom prst="rect">
            <a:avLst/>
          </a:prstGeom>
          <a:noFill/>
          <a:ln/>
        </p:spPr>
        <p:txBody>
          <a:bodyPr wrap="square" lIns="0" tIns="0" rIns="0" bIns="0"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recycled or composted</a:t>
            </a:r>
            <a:endParaRPr lang="en-US" sz="1200" dirty="0"/>
          </a:p>
        </p:txBody>
      </p:sp>
      <p:sp>
        <p:nvSpPr>
          <p:cNvPr id="18" name="Text 16"/>
          <p:cNvSpPr/>
          <p:nvPr/>
        </p:nvSpPr>
        <p:spPr>
          <a:xfrm>
            <a:off x="6181344" y="2743200"/>
            <a:ext cx="2743200" cy="274320"/>
          </a:xfrm>
          <a:prstGeom prst="rect">
            <a:avLst/>
          </a:prstGeom>
          <a:noFill/>
          <a:ln/>
        </p:spPr>
        <p:txBody>
          <a:bodyPr wrap="square" lIns="0" tIns="0" rIns="0" bIns="0" rtlCol="0" anchor="ctr"/>
          <a:lstStyle/>
          <a:p>
            <a:pPr algn="ctr" indent="0" marL="0">
              <a:buNone/>
            </a:pPr>
            <a:r>
              <a:rPr lang="en-US" sz="1000" i="1" dirty="0">
                <a:solidFill>
                  <a:srgbClr val="4B5563"/>
                </a:solidFill>
                <a:latin typeface="Calibri" pitchFamily="34" charset="0"/>
                <a:ea typeface="Calibri" pitchFamily="34" charset="-122"/>
                <a:cs typeface="Calibri" pitchFamily="34" charset="-120"/>
              </a:rPr>
              <a:t>globally · World Bank</a:t>
            </a:r>
            <a:endParaRPr lang="en-US" sz="1000" dirty="0"/>
          </a:p>
        </p:txBody>
      </p:sp>
      <p:sp>
        <p:nvSpPr>
          <p:cNvPr id="19" name="Shape 17"/>
          <p:cNvSpPr/>
          <p:nvPr/>
        </p:nvSpPr>
        <p:spPr>
          <a:xfrm>
            <a:off x="9043416" y="1828800"/>
            <a:ext cx="2743200" cy="1234440"/>
          </a:xfrm>
          <a:prstGeom prst="roundRect">
            <a:avLst>
              <a:gd name="adj" fmla="val 7407"/>
            </a:avLst>
          </a:prstGeom>
          <a:solidFill>
            <a:srgbClr val="DCFCE7"/>
          </a:solidFill>
          <a:ln/>
        </p:spPr>
      </p:sp>
      <p:sp>
        <p:nvSpPr>
          <p:cNvPr id="20" name="Text 18"/>
          <p:cNvSpPr/>
          <p:nvPr/>
        </p:nvSpPr>
        <p:spPr>
          <a:xfrm>
            <a:off x="9043416" y="1920240"/>
            <a:ext cx="2743200" cy="502920"/>
          </a:xfrm>
          <a:prstGeom prst="rect">
            <a:avLst/>
          </a:prstGeom>
          <a:noFill/>
          <a:ln/>
        </p:spPr>
        <p:txBody>
          <a:bodyPr wrap="square" lIns="0" tIns="0" rIns="0" bIns="0" rtlCol="0" anchor="ctr"/>
          <a:lstStyle/>
          <a:p>
            <a:pPr algn="ctr" indent="0" marL="0">
              <a:buNone/>
            </a:pPr>
            <a:r>
              <a:rPr lang="en-US" sz="3400" b="1" dirty="0">
                <a:solidFill>
                  <a:srgbClr val="16A34A"/>
                </a:solidFill>
                <a:latin typeface="Calibri" pitchFamily="34" charset="0"/>
                <a:ea typeface="Calibri" pitchFamily="34" charset="-122"/>
                <a:cs typeface="Calibri" pitchFamily="34" charset="-120"/>
              </a:rPr>
              <a:t>20 M+</a:t>
            </a:r>
            <a:endParaRPr lang="en-US" sz="3400" dirty="0"/>
          </a:p>
        </p:txBody>
      </p:sp>
      <p:sp>
        <p:nvSpPr>
          <p:cNvPr id="21" name="Text 19"/>
          <p:cNvSpPr/>
          <p:nvPr/>
        </p:nvSpPr>
        <p:spPr>
          <a:xfrm>
            <a:off x="9043416" y="2468880"/>
            <a:ext cx="2743200" cy="274320"/>
          </a:xfrm>
          <a:prstGeom prst="rect">
            <a:avLst/>
          </a:prstGeom>
          <a:noFill/>
          <a:ln/>
        </p:spPr>
        <p:txBody>
          <a:bodyPr wrap="square" lIns="0" tIns="0" rIns="0" bIns="0"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informal waste pickers</a:t>
            </a:r>
            <a:endParaRPr lang="en-US" sz="1200" dirty="0"/>
          </a:p>
        </p:txBody>
      </p:sp>
      <p:sp>
        <p:nvSpPr>
          <p:cNvPr id="22" name="Text 20"/>
          <p:cNvSpPr/>
          <p:nvPr/>
        </p:nvSpPr>
        <p:spPr>
          <a:xfrm>
            <a:off x="9043416" y="2743200"/>
            <a:ext cx="2743200" cy="274320"/>
          </a:xfrm>
          <a:prstGeom prst="rect">
            <a:avLst/>
          </a:prstGeom>
          <a:noFill/>
          <a:ln/>
        </p:spPr>
        <p:txBody>
          <a:bodyPr wrap="square" lIns="0" tIns="0" rIns="0" bIns="0" rtlCol="0" anchor="ctr"/>
          <a:lstStyle/>
          <a:p>
            <a:pPr algn="ctr" indent="0" marL="0">
              <a:buNone/>
            </a:pPr>
            <a:r>
              <a:rPr lang="en-US" sz="1000" i="1" dirty="0">
                <a:solidFill>
                  <a:srgbClr val="4B5563"/>
                </a:solidFill>
                <a:latin typeface="Calibri" pitchFamily="34" charset="0"/>
                <a:ea typeface="Calibri" pitchFamily="34" charset="-122"/>
                <a:cs typeface="Calibri" pitchFamily="34" charset="-120"/>
              </a:rPr>
              <a:t>invisible to city systems</a:t>
            </a:r>
            <a:endParaRPr lang="en-US" sz="1000" dirty="0"/>
          </a:p>
        </p:txBody>
      </p:sp>
      <p:sp>
        <p:nvSpPr>
          <p:cNvPr id="23" name="Shape 21"/>
          <p:cNvSpPr/>
          <p:nvPr/>
        </p:nvSpPr>
        <p:spPr>
          <a:xfrm>
            <a:off x="457200" y="3337560"/>
            <a:ext cx="5623560" cy="1234440"/>
          </a:xfrm>
          <a:prstGeom prst="roundRect">
            <a:avLst>
              <a:gd name="adj" fmla="val 5926"/>
            </a:avLst>
          </a:prstGeom>
          <a:solidFill>
            <a:srgbClr val="F3F4F6"/>
          </a:solidFill>
          <a:ln/>
        </p:spPr>
      </p:sp>
      <p:sp>
        <p:nvSpPr>
          <p:cNvPr id="24" name="Text 22"/>
          <p:cNvSpPr/>
          <p:nvPr/>
        </p:nvSpPr>
        <p:spPr>
          <a:xfrm>
            <a:off x="594360" y="3429000"/>
            <a:ext cx="5349240" cy="320040"/>
          </a:xfrm>
          <a:prstGeom prst="rect">
            <a:avLst/>
          </a:prstGeom>
          <a:noFill/>
          <a:ln/>
        </p:spPr>
        <p:txBody>
          <a:bodyPr wrap="square" lIns="0" tIns="0" rIns="0" bIns="0" rtlCol="0" anchor="t"/>
          <a:lstStyle/>
          <a:p>
            <a:pPr algn="l" indent="0" marL="0">
              <a:buNone/>
            </a:pPr>
            <a:r>
              <a:rPr lang="en-US" sz="1300" b="1" dirty="0">
                <a:solidFill>
                  <a:srgbClr val="DC2626"/>
                </a:solidFill>
                <a:latin typeface="Calibri" pitchFamily="34" charset="0"/>
                <a:ea typeface="Calibri" pitchFamily="34" charset="-122"/>
                <a:cs typeface="Calibri" pitchFamily="34" charset="-120"/>
              </a:rPr>
              <a:t>BLIND BINS</a:t>
            </a:r>
            <a:endParaRPr lang="en-US" sz="1300" dirty="0"/>
          </a:p>
        </p:txBody>
      </p:sp>
      <p:sp>
        <p:nvSpPr>
          <p:cNvPr id="25" name="Text 23"/>
          <p:cNvSpPr/>
          <p:nvPr/>
        </p:nvSpPr>
        <p:spPr>
          <a:xfrm>
            <a:off x="594360" y="3794760"/>
            <a:ext cx="5349240" cy="73152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Ultrasonic sensors detect fill level only. They cannot tell plastic from paper or organic. No sorting quality signal.</a:t>
            </a:r>
            <a:endParaRPr lang="en-US" sz="1200" dirty="0"/>
          </a:p>
        </p:txBody>
      </p:sp>
      <p:sp>
        <p:nvSpPr>
          <p:cNvPr id="26" name="Shape 24"/>
          <p:cNvSpPr/>
          <p:nvPr/>
        </p:nvSpPr>
        <p:spPr>
          <a:xfrm>
            <a:off x="6217920" y="3337560"/>
            <a:ext cx="5623560" cy="1234440"/>
          </a:xfrm>
          <a:prstGeom prst="roundRect">
            <a:avLst>
              <a:gd name="adj" fmla="val 5926"/>
            </a:avLst>
          </a:prstGeom>
          <a:solidFill>
            <a:srgbClr val="F3F4F6"/>
          </a:solidFill>
          <a:ln/>
        </p:spPr>
      </p:sp>
      <p:sp>
        <p:nvSpPr>
          <p:cNvPr id="27" name="Text 25"/>
          <p:cNvSpPr/>
          <p:nvPr/>
        </p:nvSpPr>
        <p:spPr>
          <a:xfrm>
            <a:off x="6355080" y="3429000"/>
            <a:ext cx="5349240" cy="320040"/>
          </a:xfrm>
          <a:prstGeom prst="rect">
            <a:avLst/>
          </a:prstGeom>
          <a:noFill/>
          <a:ln/>
        </p:spPr>
        <p:txBody>
          <a:bodyPr wrap="square" lIns="0" tIns="0" rIns="0" bIns="0" rtlCol="0" anchor="t"/>
          <a:lstStyle/>
          <a:p>
            <a:pPr algn="l" indent="0" marL="0">
              <a:buNone/>
            </a:pPr>
            <a:r>
              <a:rPr lang="en-US" sz="1300" b="1" dirty="0">
                <a:solidFill>
                  <a:srgbClr val="DC2626"/>
                </a:solidFill>
                <a:latin typeface="Calibri" pitchFamily="34" charset="0"/>
                <a:ea typeface="Calibri" pitchFamily="34" charset="-122"/>
                <a:cs typeface="Calibri" pitchFamily="34" charset="-120"/>
              </a:rPr>
              <a:t>REACTIVE ROUTES</a:t>
            </a:r>
            <a:endParaRPr lang="en-US" sz="1300" dirty="0"/>
          </a:p>
        </p:txBody>
      </p:sp>
      <p:sp>
        <p:nvSpPr>
          <p:cNvPr id="28" name="Text 26"/>
          <p:cNvSpPr/>
          <p:nvPr/>
        </p:nvSpPr>
        <p:spPr>
          <a:xfrm>
            <a:off x="6355080" y="3794760"/>
            <a:ext cx="5349240" cy="73152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Trucks follow fixed schedules, not real needs. Half-empty pickups on one street, overflowing bins on another.</a:t>
            </a:r>
            <a:endParaRPr lang="en-US" sz="1200" dirty="0"/>
          </a:p>
        </p:txBody>
      </p:sp>
      <p:sp>
        <p:nvSpPr>
          <p:cNvPr id="29" name="Shape 27"/>
          <p:cNvSpPr/>
          <p:nvPr/>
        </p:nvSpPr>
        <p:spPr>
          <a:xfrm>
            <a:off x="457200" y="4709160"/>
            <a:ext cx="5623560" cy="1234440"/>
          </a:xfrm>
          <a:prstGeom prst="roundRect">
            <a:avLst>
              <a:gd name="adj" fmla="val 5926"/>
            </a:avLst>
          </a:prstGeom>
          <a:solidFill>
            <a:srgbClr val="F3F4F6"/>
          </a:solidFill>
          <a:ln/>
        </p:spPr>
      </p:sp>
      <p:sp>
        <p:nvSpPr>
          <p:cNvPr id="30" name="Text 28"/>
          <p:cNvSpPr/>
          <p:nvPr/>
        </p:nvSpPr>
        <p:spPr>
          <a:xfrm>
            <a:off x="594360" y="4800600"/>
            <a:ext cx="5349240" cy="320040"/>
          </a:xfrm>
          <a:prstGeom prst="rect">
            <a:avLst/>
          </a:prstGeom>
          <a:noFill/>
          <a:ln/>
        </p:spPr>
        <p:txBody>
          <a:bodyPr wrap="square" lIns="0" tIns="0" rIns="0" bIns="0" rtlCol="0" anchor="t"/>
          <a:lstStyle/>
          <a:p>
            <a:pPr algn="l" indent="0" marL="0">
              <a:buNone/>
            </a:pPr>
            <a:r>
              <a:rPr lang="en-US" sz="1300" b="1" dirty="0">
                <a:solidFill>
                  <a:srgbClr val="E85D25"/>
                </a:solidFill>
                <a:latin typeface="Calibri" pitchFamily="34" charset="0"/>
                <a:ea typeface="Calibri" pitchFamily="34" charset="-122"/>
                <a:cs typeface="Calibri" pitchFamily="34" charset="-120"/>
              </a:rPr>
              <a:t>ORGANIC WASTE RISK</a:t>
            </a:r>
            <a:endParaRPr lang="en-US" sz="1300" dirty="0"/>
          </a:p>
        </p:txBody>
      </p:sp>
      <p:sp>
        <p:nvSpPr>
          <p:cNvPr id="31" name="Text 29"/>
          <p:cNvSpPr/>
          <p:nvPr/>
        </p:nvSpPr>
        <p:spPr>
          <a:xfrm>
            <a:off x="594360" y="5166360"/>
            <a:ext cx="5349240" cy="73152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Wet organic waste + heat = fire + biohazard. No system today monitors gas, temperature and humidity together.</a:t>
            </a:r>
            <a:endParaRPr lang="en-US" sz="1200" dirty="0"/>
          </a:p>
        </p:txBody>
      </p:sp>
      <p:sp>
        <p:nvSpPr>
          <p:cNvPr id="32" name="Shape 30"/>
          <p:cNvSpPr/>
          <p:nvPr/>
        </p:nvSpPr>
        <p:spPr>
          <a:xfrm>
            <a:off x="6217920" y="4709160"/>
            <a:ext cx="5623560" cy="1234440"/>
          </a:xfrm>
          <a:prstGeom prst="roundRect">
            <a:avLst>
              <a:gd name="adj" fmla="val 5926"/>
            </a:avLst>
          </a:prstGeom>
          <a:solidFill>
            <a:srgbClr val="F3F4F6"/>
          </a:solidFill>
          <a:ln/>
        </p:spPr>
      </p:sp>
      <p:sp>
        <p:nvSpPr>
          <p:cNvPr id="33" name="Text 31"/>
          <p:cNvSpPr/>
          <p:nvPr/>
        </p:nvSpPr>
        <p:spPr>
          <a:xfrm>
            <a:off x="6355080" y="4800600"/>
            <a:ext cx="5349240" cy="320040"/>
          </a:xfrm>
          <a:prstGeom prst="rect">
            <a:avLst/>
          </a:prstGeom>
          <a:noFill/>
          <a:ln/>
        </p:spPr>
        <p:txBody>
          <a:bodyPr wrap="square" lIns="0" tIns="0" rIns="0" bIns="0" rtlCol="0" anchor="t"/>
          <a:lstStyle/>
          <a:p>
            <a:pPr algn="l" indent="0" marL="0">
              <a:buNone/>
            </a:pPr>
            <a:r>
              <a:rPr lang="en-US" sz="1300" b="1" dirty="0">
                <a:solidFill>
                  <a:srgbClr val="E85D25"/>
                </a:solidFill>
                <a:latin typeface="Calibri" pitchFamily="34" charset="0"/>
                <a:ea typeface="Calibri" pitchFamily="34" charset="-122"/>
                <a:cs typeface="Calibri" pitchFamily="34" charset="-120"/>
              </a:rPr>
              <a:t>INFORMAL SECTOR IGNORED</a:t>
            </a:r>
            <a:endParaRPr lang="en-US" sz="1300" dirty="0"/>
          </a:p>
        </p:txBody>
      </p:sp>
      <p:sp>
        <p:nvSpPr>
          <p:cNvPr id="34" name="Text 32"/>
          <p:cNvSpPr/>
          <p:nvPr/>
        </p:nvSpPr>
        <p:spPr>
          <a:xfrm>
            <a:off x="6355080" y="5166360"/>
            <a:ext cx="5349240" cy="73152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20 M+ waste pickers worldwide handle roughly 60 % of urban recyclables. Yet no platform tracks or pays them.</a:t>
            </a:r>
            <a:endParaRPr lang="en-US" sz="1200" dirty="0"/>
          </a:p>
        </p:txBody>
      </p:sp>
      <p:sp>
        <p:nvSpPr>
          <p:cNvPr id="35" name="Text 33"/>
          <p:cNvSpPr/>
          <p:nvPr/>
        </p:nvSpPr>
        <p:spPr>
          <a:xfrm>
            <a:off x="457200" y="6263640"/>
            <a:ext cx="11247120" cy="320040"/>
          </a:xfrm>
          <a:prstGeom prst="rect">
            <a:avLst/>
          </a:prstGeom>
          <a:noFill/>
          <a:ln/>
        </p:spPr>
        <p:txBody>
          <a:bodyPr wrap="square" lIns="0" tIns="0" rIns="0" bIns="0" rtlCol="0" anchor="ctr"/>
          <a:lstStyle/>
          <a:p>
            <a:pPr algn="ctr" indent="0" marL="0">
              <a:buNone/>
            </a:pPr>
            <a:r>
              <a:rPr lang="en-US" sz="1200" i="1" dirty="0">
                <a:solidFill>
                  <a:srgbClr val="4B5563"/>
                </a:solidFill>
                <a:latin typeface="Calibri" pitchFamily="34" charset="0"/>
                <a:ea typeface="Calibri" pitchFamily="34" charset="-122"/>
                <a:cs typeface="Calibri" pitchFamily="34" charset="-120"/>
              </a:rPr>
              <a:t>Wasted fuel · low recycling · degraded urban hygiene · higher CO₂</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548640" cy="502920"/>
          </a:xfrm>
          <a:prstGeom prst="roundRect">
            <a:avLst>
              <a:gd name="adj" fmla="val 14545"/>
            </a:avLst>
          </a:prstGeom>
          <a:solidFill>
            <a:srgbClr val="E85D25"/>
          </a:solidFill>
          <a:ln/>
        </p:spPr>
      </p:sp>
      <p:sp>
        <p:nvSpPr>
          <p:cNvPr id="3" name="Text 1"/>
          <p:cNvSpPr/>
          <p:nvPr/>
        </p:nvSpPr>
        <p:spPr>
          <a:xfrm>
            <a:off x="457200" y="365760"/>
            <a:ext cx="54864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02</a:t>
            </a:r>
            <a:endParaRPr lang="en-US" sz="2000" dirty="0"/>
          </a:p>
        </p:txBody>
      </p:sp>
      <p:sp>
        <p:nvSpPr>
          <p:cNvPr id="4" name="Text 2"/>
          <p:cNvSpPr/>
          <p:nvPr/>
        </p:nvSpPr>
        <p:spPr>
          <a:xfrm>
            <a:off x="1143000" y="320040"/>
            <a:ext cx="8686800" cy="594360"/>
          </a:xfrm>
          <a:prstGeom prst="rect">
            <a:avLst/>
          </a:prstGeom>
          <a:noFill/>
          <a:ln/>
        </p:spPr>
        <p:txBody>
          <a:bodyPr wrap="square" lIns="0" tIns="0" rIns="0" bIns="0" rtlCol="0" anchor="ctr"/>
          <a:lstStyle/>
          <a:p>
            <a:pPr algn="l" indent="0" marL="0">
              <a:buNone/>
            </a:pPr>
            <a:r>
              <a:rPr lang="en-US" sz="2800" b="1" dirty="0">
                <a:solidFill>
                  <a:srgbClr val="1E3A8A"/>
                </a:solidFill>
                <a:latin typeface="Calibri" pitchFamily="34" charset="0"/>
                <a:ea typeface="Calibri" pitchFamily="34" charset="-122"/>
                <a:cs typeface="Calibri" pitchFamily="34" charset="-120"/>
              </a:rPr>
              <a:t>Proposed Solution</a:t>
            </a:r>
            <a:endParaRPr lang="en-US" sz="2800" dirty="0"/>
          </a:p>
        </p:txBody>
      </p:sp>
      <p:sp>
        <p:nvSpPr>
          <p:cNvPr id="5" name="Text 3"/>
          <p:cNvSpPr/>
          <p:nvPr/>
        </p:nvSpPr>
        <p:spPr>
          <a:xfrm>
            <a:off x="9144000" y="384048"/>
            <a:ext cx="2651760" cy="457200"/>
          </a:xfrm>
          <a:prstGeom prst="rect">
            <a:avLst/>
          </a:prstGeom>
          <a:noFill/>
          <a:ln/>
        </p:spPr>
        <p:txBody>
          <a:bodyPr wrap="square" lIns="0" tIns="0" rIns="0" bIns="0" rtlCol="0" anchor="ctr"/>
          <a:lstStyle/>
          <a:p>
            <a:pPr algn="r" indent="0" marL="0">
              <a:buNone/>
            </a:pPr>
            <a:r>
              <a:rPr lang="en-US" sz="1100" i="1" dirty="0">
                <a:solidFill>
                  <a:srgbClr val="4B5563"/>
                </a:solidFill>
                <a:latin typeface="Calibri" pitchFamily="34" charset="0"/>
                <a:ea typeface="Calibri" pitchFamily="34" charset="-122"/>
                <a:cs typeface="Calibri" pitchFamily="34" charset="-120"/>
              </a:rPr>
              <a:t>Three tiers + one social bridge</a:t>
            </a:r>
            <a:endParaRPr lang="en-US" sz="1100" dirty="0"/>
          </a:p>
        </p:txBody>
      </p:sp>
      <p:sp>
        <p:nvSpPr>
          <p:cNvPr id="6" name="Shape 4"/>
          <p:cNvSpPr/>
          <p:nvPr/>
        </p:nvSpPr>
        <p:spPr>
          <a:xfrm>
            <a:off x="457200" y="1143000"/>
            <a:ext cx="11247120" cy="731520"/>
          </a:xfrm>
          <a:prstGeom prst="roundRect">
            <a:avLst>
              <a:gd name="adj" fmla="val 12500"/>
            </a:avLst>
          </a:prstGeom>
          <a:solidFill>
            <a:srgbClr val="E0E7FF"/>
          </a:solidFill>
          <a:ln/>
        </p:spPr>
      </p:sp>
      <p:sp>
        <p:nvSpPr>
          <p:cNvPr id="7" name="Text 5"/>
          <p:cNvSpPr/>
          <p:nvPr/>
        </p:nvSpPr>
        <p:spPr>
          <a:xfrm>
            <a:off x="640080" y="1143000"/>
            <a:ext cx="10881360" cy="731520"/>
          </a:xfrm>
          <a:prstGeom prst="rect">
            <a:avLst/>
          </a:prstGeom>
          <a:noFill/>
          <a:ln/>
        </p:spPr>
        <p:txBody>
          <a:bodyPr wrap="square" lIns="0" tIns="0" rIns="0" bIns="0" rtlCol="0" anchor="ctr"/>
          <a:lstStyle/>
          <a:p>
            <a:pPr algn="l" indent="0" marL="0">
              <a:buNone/>
            </a:pPr>
            <a:r>
              <a:rPr lang="en-US" sz="1800" b="1" dirty="0">
                <a:solidFill>
                  <a:srgbClr val="E85D25"/>
                </a:solidFill>
                <a:latin typeface="Calibri" pitchFamily="34" charset="0"/>
                <a:ea typeface="Calibri" pitchFamily="34" charset="-122"/>
                <a:cs typeface="Calibri" pitchFamily="34" charset="-120"/>
              </a:rPr>
              <a:t>SmartWasteAI  ·  </a:t>
            </a:r>
            <a:pPr algn="l" indent="0" marL="0">
              <a:buNone/>
            </a:pPr>
            <a:r>
              <a:rPr lang="en-US" sz="1600" dirty="0">
                <a:solidFill>
                  <a:srgbClr val="1F2937"/>
                </a:solidFill>
                <a:latin typeface="Calibri" pitchFamily="34" charset="0"/>
                <a:ea typeface="Calibri" pitchFamily="34" charset="-122"/>
                <a:cs typeface="Calibri" pitchFamily="34" charset="-120"/>
              </a:rPr>
              <a:t>A Federated, Multi-Agent, Explainable AI Framework for predictive urban waste management.</a:t>
            </a:r>
            <a:endParaRPr lang="en-US" sz="1800" dirty="0"/>
          </a:p>
        </p:txBody>
      </p:sp>
      <p:sp>
        <p:nvSpPr>
          <p:cNvPr id="8" name="Shape 6"/>
          <p:cNvSpPr/>
          <p:nvPr/>
        </p:nvSpPr>
        <p:spPr>
          <a:xfrm>
            <a:off x="457200" y="2057400"/>
            <a:ext cx="777240" cy="822960"/>
          </a:xfrm>
          <a:prstGeom prst="roundRect">
            <a:avLst>
              <a:gd name="adj" fmla="val 11765"/>
            </a:avLst>
          </a:prstGeom>
          <a:solidFill>
            <a:srgbClr val="2563EB"/>
          </a:solidFill>
          <a:ln/>
        </p:spPr>
      </p:sp>
      <p:sp>
        <p:nvSpPr>
          <p:cNvPr id="9" name="Text 7"/>
          <p:cNvSpPr/>
          <p:nvPr/>
        </p:nvSpPr>
        <p:spPr>
          <a:xfrm>
            <a:off x="457200" y="2057400"/>
            <a:ext cx="777240" cy="82296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1</a:t>
            </a:r>
            <a:endParaRPr lang="en-US" sz="3200" dirty="0"/>
          </a:p>
        </p:txBody>
      </p:sp>
      <p:sp>
        <p:nvSpPr>
          <p:cNvPr id="10" name="Shape 8"/>
          <p:cNvSpPr/>
          <p:nvPr/>
        </p:nvSpPr>
        <p:spPr>
          <a:xfrm>
            <a:off x="1325880" y="2057400"/>
            <a:ext cx="10378440" cy="822960"/>
          </a:xfrm>
          <a:prstGeom prst="roundRect">
            <a:avLst>
              <a:gd name="adj" fmla="val 8889"/>
            </a:avLst>
          </a:prstGeom>
          <a:solidFill>
            <a:srgbClr val="DBEAFE"/>
          </a:solidFill>
          <a:ln/>
        </p:spPr>
      </p:sp>
      <p:sp>
        <p:nvSpPr>
          <p:cNvPr id="11" name="Text 9"/>
          <p:cNvSpPr/>
          <p:nvPr/>
        </p:nvSpPr>
        <p:spPr>
          <a:xfrm>
            <a:off x="1463040" y="2130552"/>
            <a:ext cx="10104120" cy="320040"/>
          </a:xfrm>
          <a:prstGeom prst="rect">
            <a:avLst/>
          </a:prstGeom>
          <a:noFill/>
          <a:ln/>
        </p:spPr>
        <p:txBody>
          <a:bodyPr wrap="square" lIns="0" tIns="0" rIns="0" bIns="0" rtlCol="0" anchor="t"/>
          <a:lstStyle/>
          <a:p>
            <a:pPr algn="l" indent="0" marL="0">
              <a:buNone/>
            </a:pPr>
            <a:r>
              <a:rPr lang="en-US" sz="1300" b="1" dirty="0">
                <a:solidFill>
                  <a:srgbClr val="2563EB"/>
                </a:solidFill>
                <a:latin typeface="Calibri" pitchFamily="34" charset="0"/>
                <a:ea typeface="Calibri" pitchFamily="34" charset="-122"/>
                <a:cs typeface="Calibri" pitchFamily="34" charset="-120"/>
              </a:rPr>
              <a:t>TIER 1  ·  EDGE  (per bin)</a:t>
            </a:r>
            <a:endParaRPr lang="en-US" sz="1300" dirty="0"/>
          </a:p>
        </p:txBody>
      </p:sp>
      <p:sp>
        <p:nvSpPr>
          <p:cNvPr id="12" name="Text 10"/>
          <p:cNvSpPr/>
          <p:nvPr/>
        </p:nvSpPr>
        <p:spPr>
          <a:xfrm>
            <a:off x="1463040" y="2459736"/>
            <a:ext cx="10104120" cy="384048"/>
          </a:xfrm>
          <a:prstGeom prst="rect">
            <a:avLst/>
          </a:prstGeom>
          <a:noFill/>
          <a:ln/>
        </p:spPr>
        <p:txBody>
          <a:bodyPr wrap="square" lIns="0" tIns="0" rIns="0" bIns="0" rtlCol="0" anchor="t"/>
          <a:lstStyle/>
          <a:p>
            <a:pPr algn="l" indent="0" marL="0">
              <a:buNone/>
            </a:pPr>
            <a:r>
              <a:rPr lang="en-US" sz="1150" dirty="0">
                <a:solidFill>
                  <a:srgbClr val="1F2937"/>
                </a:solidFill>
                <a:latin typeface="Calibri" pitchFamily="34" charset="0"/>
                <a:ea typeface="Calibri" pitchFamily="34" charset="-122"/>
                <a:cs typeface="Calibri" pitchFamily="34" charset="-120"/>
              </a:rPr>
              <a:t>Camera + YOLOv8n (INT8)  →  local waste classification    |    Ultrasonic · Load · Temp · Humidity · Gas  →  Raspberry Pi 4</a:t>
            </a:r>
            <a:endParaRPr lang="en-US" sz="1150" dirty="0"/>
          </a:p>
        </p:txBody>
      </p:sp>
      <p:sp>
        <p:nvSpPr>
          <p:cNvPr id="13" name="Shape 11"/>
          <p:cNvSpPr/>
          <p:nvPr/>
        </p:nvSpPr>
        <p:spPr>
          <a:xfrm>
            <a:off x="457200" y="3017520"/>
            <a:ext cx="777240" cy="822960"/>
          </a:xfrm>
          <a:prstGeom prst="roundRect">
            <a:avLst>
              <a:gd name="adj" fmla="val 11765"/>
            </a:avLst>
          </a:prstGeom>
          <a:solidFill>
            <a:srgbClr val="1E3A8A"/>
          </a:solidFill>
          <a:ln/>
        </p:spPr>
      </p:sp>
      <p:sp>
        <p:nvSpPr>
          <p:cNvPr id="14" name="Text 12"/>
          <p:cNvSpPr/>
          <p:nvPr/>
        </p:nvSpPr>
        <p:spPr>
          <a:xfrm>
            <a:off x="457200" y="3017520"/>
            <a:ext cx="777240" cy="82296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2</a:t>
            </a:r>
            <a:endParaRPr lang="en-US" sz="3200" dirty="0"/>
          </a:p>
        </p:txBody>
      </p:sp>
      <p:sp>
        <p:nvSpPr>
          <p:cNvPr id="15" name="Shape 13"/>
          <p:cNvSpPr/>
          <p:nvPr/>
        </p:nvSpPr>
        <p:spPr>
          <a:xfrm>
            <a:off x="1325880" y="3017520"/>
            <a:ext cx="10378440" cy="822960"/>
          </a:xfrm>
          <a:prstGeom prst="roundRect">
            <a:avLst>
              <a:gd name="adj" fmla="val 8889"/>
            </a:avLst>
          </a:prstGeom>
          <a:solidFill>
            <a:srgbClr val="E0E7FF"/>
          </a:solidFill>
          <a:ln/>
        </p:spPr>
      </p:sp>
      <p:sp>
        <p:nvSpPr>
          <p:cNvPr id="16" name="Text 14"/>
          <p:cNvSpPr/>
          <p:nvPr/>
        </p:nvSpPr>
        <p:spPr>
          <a:xfrm>
            <a:off x="1463040" y="3090672"/>
            <a:ext cx="10104120" cy="320040"/>
          </a:xfrm>
          <a:prstGeom prst="rect">
            <a:avLst/>
          </a:prstGeom>
          <a:noFill/>
          <a:ln/>
        </p:spPr>
        <p:txBody>
          <a:bodyPr wrap="square" lIns="0" tIns="0" rIns="0" bIns="0" rtlCol="0" anchor="t"/>
          <a:lstStyle/>
          <a:p>
            <a:pPr algn="l" indent="0" marL="0">
              <a:buNone/>
            </a:pPr>
            <a:r>
              <a:rPr lang="en-US" sz="1300" b="1" dirty="0">
                <a:solidFill>
                  <a:srgbClr val="1E3A8A"/>
                </a:solidFill>
                <a:latin typeface="Calibri" pitchFamily="34" charset="0"/>
                <a:ea typeface="Calibri" pitchFamily="34" charset="-122"/>
                <a:cs typeface="Calibri" pitchFamily="34" charset="-120"/>
              </a:rPr>
              <a:t>TIER 2  ·  FEDERATED  CLOUD</a:t>
            </a:r>
            <a:endParaRPr lang="en-US" sz="1300" dirty="0"/>
          </a:p>
        </p:txBody>
      </p:sp>
      <p:sp>
        <p:nvSpPr>
          <p:cNvPr id="17" name="Text 15"/>
          <p:cNvSpPr/>
          <p:nvPr/>
        </p:nvSpPr>
        <p:spPr>
          <a:xfrm>
            <a:off x="1463040" y="3419856"/>
            <a:ext cx="10104120" cy="384048"/>
          </a:xfrm>
          <a:prstGeom prst="rect">
            <a:avLst/>
          </a:prstGeom>
          <a:noFill/>
          <a:ln/>
        </p:spPr>
        <p:txBody>
          <a:bodyPr wrap="square" lIns="0" tIns="0" rIns="0" bIns="0" rtlCol="0" anchor="t"/>
          <a:lstStyle/>
          <a:p>
            <a:pPr algn="l" indent="0" marL="0">
              <a:buNone/>
            </a:pPr>
            <a:r>
              <a:rPr lang="en-US" sz="1150" dirty="0">
                <a:solidFill>
                  <a:srgbClr val="1F2937"/>
                </a:solidFill>
                <a:latin typeface="Calibri" pitchFamily="34" charset="0"/>
                <a:ea typeface="Calibri" pitchFamily="34" charset="-122"/>
                <a:cs typeface="Calibri" pitchFamily="34" charset="-120"/>
              </a:rPr>
              <a:t>Flower FL server aggregates model weights (no raw data)    |    TimescaleDB stores telemetry    |    XGBoost forecasts fill</a:t>
            </a:r>
            <a:endParaRPr lang="en-US" sz="1150" dirty="0"/>
          </a:p>
        </p:txBody>
      </p:sp>
      <p:sp>
        <p:nvSpPr>
          <p:cNvPr id="18" name="Shape 16"/>
          <p:cNvSpPr/>
          <p:nvPr/>
        </p:nvSpPr>
        <p:spPr>
          <a:xfrm>
            <a:off x="457200" y="3977640"/>
            <a:ext cx="777240" cy="822960"/>
          </a:xfrm>
          <a:prstGeom prst="roundRect">
            <a:avLst>
              <a:gd name="adj" fmla="val 11765"/>
            </a:avLst>
          </a:prstGeom>
          <a:solidFill>
            <a:srgbClr val="E85D25"/>
          </a:solidFill>
          <a:ln/>
        </p:spPr>
      </p:sp>
      <p:sp>
        <p:nvSpPr>
          <p:cNvPr id="19" name="Text 17"/>
          <p:cNvSpPr/>
          <p:nvPr/>
        </p:nvSpPr>
        <p:spPr>
          <a:xfrm>
            <a:off x="457200" y="3977640"/>
            <a:ext cx="777240" cy="82296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3</a:t>
            </a:r>
            <a:endParaRPr lang="en-US" sz="3200" dirty="0"/>
          </a:p>
        </p:txBody>
      </p:sp>
      <p:sp>
        <p:nvSpPr>
          <p:cNvPr id="20" name="Shape 18"/>
          <p:cNvSpPr/>
          <p:nvPr/>
        </p:nvSpPr>
        <p:spPr>
          <a:xfrm>
            <a:off x="1325880" y="3977640"/>
            <a:ext cx="10378440" cy="822960"/>
          </a:xfrm>
          <a:prstGeom prst="roundRect">
            <a:avLst>
              <a:gd name="adj" fmla="val 8889"/>
            </a:avLst>
          </a:prstGeom>
          <a:solidFill>
            <a:srgbClr val="FDE4D8"/>
          </a:solidFill>
          <a:ln/>
        </p:spPr>
      </p:sp>
      <p:sp>
        <p:nvSpPr>
          <p:cNvPr id="21" name="Text 19"/>
          <p:cNvSpPr/>
          <p:nvPr/>
        </p:nvSpPr>
        <p:spPr>
          <a:xfrm>
            <a:off x="1463040" y="4050792"/>
            <a:ext cx="10104120" cy="320040"/>
          </a:xfrm>
          <a:prstGeom prst="rect">
            <a:avLst/>
          </a:prstGeom>
          <a:noFill/>
          <a:ln/>
        </p:spPr>
        <p:txBody>
          <a:bodyPr wrap="square" lIns="0" tIns="0" rIns="0" bIns="0" rtlCol="0" anchor="t"/>
          <a:lstStyle/>
          <a:p>
            <a:pPr algn="l" indent="0" marL="0">
              <a:buNone/>
            </a:pPr>
            <a:r>
              <a:rPr lang="en-US" sz="1300" b="1" dirty="0">
                <a:solidFill>
                  <a:srgbClr val="E85D25"/>
                </a:solidFill>
                <a:latin typeface="Calibri" pitchFamily="34" charset="0"/>
                <a:ea typeface="Calibri" pitchFamily="34" charset="-122"/>
                <a:cs typeface="Calibri" pitchFamily="34" charset="-120"/>
              </a:rPr>
              <a:t>TIER 3  ·  DECISION  LAYER</a:t>
            </a:r>
            <a:endParaRPr lang="en-US" sz="1300" dirty="0"/>
          </a:p>
        </p:txBody>
      </p:sp>
      <p:sp>
        <p:nvSpPr>
          <p:cNvPr id="22" name="Text 20"/>
          <p:cNvSpPr/>
          <p:nvPr/>
        </p:nvSpPr>
        <p:spPr>
          <a:xfrm>
            <a:off x="1463040" y="4379976"/>
            <a:ext cx="10104120" cy="384048"/>
          </a:xfrm>
          <a:prstGeom prst="rect">
            <a:avLst/>
          </a:prstGeom>
          <a:noFill/>
          <a:ln/>
        </p:spPr>
        <p:txBody>
          <a:bodyPr wrap="square" lIns="0" tIns="0" rIns="0" bIns="0" rtlCol="0" anchor="t"/>
          <a:lstStyle/>
          <a:p>
            <a:pPr algn="l" indent="0" marL="0">
              <a:buNone/>
            </a:pPr>
            <a:r>
              <a:rPr lang="en-US" sz="1150" dirty="0">
                <a:solidFill>
                  <a:srgbClr val="1F2937"/>
                </a:solidFill>
                <a:latin typeface="Calibri" pitchFamily="34" charset="0"/>
                <a:ea typeface="Calibri" pitchFamily="34" charset="-122"/>
                <a:cs typeface="Calibri" pitchFamily="34" charset="-120"/>
              </a:rPr>
              <a:t>OR-Tools computes routes    |    SHAP explains dispatches    |    Digital Twin runs what-if scenarios    |    React dashboard</a:t>
            </a:r>
            <a:endParaRPr lang="en-US" sz="1150" dirty="0"/>
          </a:p>
        </p:txBody>
      </p:sp>
      <p:sp>
        <p:nvSpPr>
          <p:cNvPr id="23" name="Shape 21"/>
          <p:cNvSpPr/>
          <p:nvPr/>
        </p:nvSpPr>
        <p:spPr>
          <a:xfrm>
            <a:off x="457200" y="4983480"/>
            <a:ext cx="11247120" cy="777240"/>
          </a:xfrm>
          <a:prstGeom prst="roundRect">
            <a:avLst>
              <a:gd name="adj" fmla="val 11765"/>
            </a:avLst>
          </a:prstGeom>
          <a:solidFill>
            <a:srgbClr val="16A34A"/>
          </a:solidFill>
          <a:ln/>
        </p:spPr>
      </p:sp>
      <p:sp>
        <p:nvSpPr>
          <p:cNvPr id="24" name="Text 22"/>
          <p:cNvSpPr/>
          <p:nvPr/>
        </p:nvSpPr>
        <p:spPr>
          <a:xfrm>
            <a:off x="640080" y="5056632"/>
            <a:ext cx="10881360" cy="320040"/>
          </a:xfrm>
          <a:prstGeom prst="rect">
            <a:avLst/>
          </a:prstGeom>
          <a:noFill/>
          <a:ln/>
        </p:spPr>
        <p:txBody>
          <a:bodyPr wrap="squar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  BRIDGE  ·  INFORMAL SECTOR</a:t>
            </a:r>
            <a:endParaRPr lang="en-US" sz="1300" dirty="0"/>
          </a:p>
        </p:txBody>
      </p:sp>
      <p:sp>
        <p:nvSpPr>
          <p:cNvPr id="25" name="Text 23"/>
          <p:cNvSpPr/>
          <p:nvPr/>
        </p:nvSpPr>
        <p:spPr>
          <a:xfrm>
            <a:off x="640080" y="5385816"/>
            <a:ext cx="10881360" cy="384048"/>
          </a:xfrm>
          <a:prstGeom prst="rect">
            <a:avLst/>
          </a:prstGeom>
          <a:noFill/>
          <a:ln/>
        </p:spPr>
        <p:txBody>
          <a:bodyPr wrap="square" lIns="0" tIns="0" rIns="0" bIns="0" rtlCol="0" anchor="t"/>
          <a:lstStyle/>
          <a:p>
            <a:pPr algn="l" indent="0" marL="0">
              <a:buNone/>
            </a:pPr>
            <a:r>
              <a:rPr lang="en-US" sz="1150" dirty="0">
                <a:solidFill>
                  <a:srgbClr val="FFFFFF"/>
                </a:solidFill>
                <a:latin typeface="Calibri" pitchFamily="34" charset="0"/>
                <a:ea typeface="Calibri" pitchFamily="34" charset="-122"/>
                <a:cs typeface="Calibri" pitchFamily="34" charset="-120"/>
              </a:rPr>
              <a:t>Worker mobile app scans bin QR  →  logs collection  →  auto-pays waste picker    |    the global waste economy's invisible base becomes tracked and rewarded.</a:t>
            </a:r>
            <a:endParaRPr lang="en-US" sz="1150" dirty="0"/>
          </a:p>
        </p:txBody>
      </p:sp>
      <p:sp>
        <p:nvSpPr>
          <p:cNvPr id="26" name="Shape 24"/>
          <p:cNvSpPr/>
          <p:nvPr/>
        </p:nvSpPr>
        <p:spPr>
          <a:xfrm>
            <a:off x="539496" y="6035040"/>
            <a:ext cx="2148840" cy="594360"/>
          </a:xfrm>
          <a:prstGeom prst="roundRect">
            <a:avLst>
              <a:gd name="adj" fmla="val 15385"/>
            </a:avLst>
          </a:prstGeom>
          <a:solidFill>
            <a:srgbClr val="DBEAFE"/>
          </a:solidFill>
          <a:ln/>
        </p:spPr>
      </p:sp>
      <p:sp>
        <p:nvSpPr>
          <p:cNvPr id="27" name="Text 25"/>
          <p:cNvSpPr/>
          <p:nvPr/>
        </p:nvSpPr>
        <p:spPr>
          <a:xfrm>
            <a:off x="630936" y="6035040"/>
            <a:ext cx="1965960" cy="594360"/>
          </a:xfrm>
          <a:prstGeom prst="rect">
            <a:avLst/>
          </a:prstGeom>
          <a:noFill/>
          <a:ln/>
        </p:spPr>
        <p:txBody>
          <a:bodyPr wrap="square" lIns="0" tIns="0" rIns="0" bIns="0" rtlCol="0" anchor="ctr"/>
          <a:lstStyle/>
          <a:p>
            <a:pPr algn="ctr" indent="0" marL="0">
              <a:buNone/>
            </a:pPr>
            <a:r>
              <a:rPr lang="en-US" sz="1400" b="1" dirty="0">
                <a:solidFill>
                  <a:srgbClr val="1E3A8A"/>
                </a:solidFill>
                <a:latin typeface="Calibri" pitchFamily="34" charset="0"/>
                <a:ea typeface="Calibri" pitchFamily="34" charset="-122"/>
                <a:cs typeface="Calibri" pitchFamily="34" charset="-120"/>
              </a:rPr>
              <a:t>WQS  </a:t>
            </a:r>
            <a:pPr algn="ctr" indent="0" marL="0">
              <a:buNone/>
            </a:pPr>
            <a:r>
              <a:rPr lang="en-US" sz="1050" dirty="0">
                <a:solidFill>
                  <a:srgbClr val="1F2937"/>
                </a:solidFill>
                <a:latin typeface="Calibri" pitchFamily="34" charset="0"/>
                <a:ea typeface="Calibri" pitchFamily="34" charset="-122"/>
                <a:cs typeface="Calibri" pitchFamily="34" charset="-120"/>
              </a:rPr>
              <a:t>Waste Quality Score</a:t>
            </a:r>
            <a:endParaRPr lang="en-US" sz="1400" dirty="0"/>
          </a:p>
        </p:txBody>
      </p:sp>
      <p:sp>
        <p:nvSpPr>
          <p:cNvPr id="28" name="Shape 26"/>
          <p:cNvSpPr/>
          <p:nvPr/>
        </p:nvSpPr>
        <p:spPr>
          <a:xfrm>
            <a:off x="2779776" y="6035040"/>
            <a:ext cx="2148840" cy="594360"/>
          </a:xfrm>
          <a:prstGeom prst="roundRect">
            <a:avLst>
              <a:gd name="adj" fmla="val 15385"/>
            </a:avLst>
          </a:prstGeom>
          <a:solidFill>
            <a:srgbClr val="DBEAFE"/>
          </a:solidFill>
          <a:ln/>
        </p:spPr>
      </p:sp>
      <p:sp>
        <p:nvSpPr>
          <p:cNvPr id="29" name="Text 27"/>
          <p:cNvSpPr/>
          <p:nvPr/>
        </p:nvSpPr>
        <p:spPr>
          <a:xfrm>
            <a:off x="2871216" y="6035040"/>
            <a:ext cx="1965960" cy="594360"/>
          </a:xfrm>
          <a:prstGeom prst="rect">
            <a:avLst/>
          </a:prstGeom>
          <a:noFill/>
          <a:ln/>
        </p:spPr>
        <p:txBody>
          <a:bodyPr wrap="square" lIns="0" tIns="0" rIns="0" bIns="0" rtlCol="0" anchor="ctr"/>
          <a:lstStyle/>
          <a:p>
            <a:pPr algn="ctr" indent="0" marL="0">
              <a:buNone/>
            </a:pPr>
            <a:r>
              <a:rPr lang="en-US" sz="1400" b="1" dirty="0">
                <a:solidFill>
                  <a:srgbClr val="1E3A8A"/>
                </a:solidFill>
                <a:latin typeface="Calibri" pitchFamily="34" charset="0"/>
                <a:ea typeface="Calibri" pitchFamily="34" charset="-122"/>
                <a:cs typeface="Calibri" pitchFamily="34" charset="-120"/>
              </a:rPr>
              <a:t>DCPI  </a:t>
            </a:r>
            <a:pPr algn="ctr" indent="0" marL="0">
              <a:buNone/>
            </a:pPr>
            <a:r>
              <a:rPr lang="en-US" sz="1050" dirty="0">
                <a:solidFill>
                  <a:srgbClr val="1F2937"/>
                </a:solidFill>
                <a:latin typeface="Calibri" pitchFamily="34" charset="0"/>
                <a:ea typeface="Calibri" pitchFamily="34" charset="-122"/>
                <a:cs typeface="Calibri" pitchFamily="34" charset="-120"/>
              </a:rPr>
              <a:t>Dynamic Priority Index</a:t>
            </a:r>
            <a:endParaRPr lang="en-US" sz="1400" dirty="0"/>
          </a:p>
        </p:txBody>
      </p:sp>
      <p:sp>
        <p:nvSpPr>
          <p:cNvPr id="30" name="Shape 28"/>
          <p:cNvSpPr/>
          <p:nvPr/>
        </p:nvSpPr>
        <p:spPr>
          <a:xfrm>
            <a:off x="5020056" y="6035040"/>
            <a:ext cx="2148840" cy="594360"/>
          </a:xfrm>
          <a:prstGeom prst="roundRect">
            <a:avLst>
              <a:gd name="adj" fmla="val 15385"/>
            </a:avLst>
          </a:prstGeom>
          <a:solidFill>
            <a:srgbClr val="DBEAFE"/>
          </a:solidFill>
          <a:ln/>
        </p:spPr>
      </p:sp>
      <p:sp>
        <p:nvSpPr>
          <p:cNvPr id="31" name="Text 29"/>
          <p:cNvSpPr/>
          <p:nvPr/>
        </p:nvSpPr>
        <p:spPr>
          <a:xfrm>
            <a:off x="5111496" y="6035040"/>
            <a:ext cx="1965960" cy="594360"/>
          </a:xfrm>
          <a:prstGeom prst="rect">
            <a:avLst/>
          </a:prstGeom>
          <a:noFill/>
          <a:ln/>
        </p:spPr>
        <p:txBody>
          <a:bodyPr wrap="square" lIns="0" tIns="0" rIns="0" bIns="0" rtlCol="0" anchor="ctr"/>
          <a:lstStyle/>
          <a:p>
            <a:pPr algn="ctr" indent="0" marL="0">
              <a:buNone/>
            </a:pPr>
            <a:r>
              <a:rPr lang="en-US" sz="1400" b="1" dirty="0">
                <a:solidFill>
                  <a:srgbClr val="1E3A8A"/>
                </a:solidFill>
                <a:latin typeface="Calibri" pitchFamily="34" charset="0"/>
                <a:ea typeface="Calibri" pitchFamily="34" charset="-122"/>
                <a:cs typeface="Calibri" pitchFamily="34" charset="-120"/>
              </a:rPr>
              <a:t>FL  </a:t>
            </a:r>
            <a:pPr algn="ctr" indent="0" marL="0">
              <a:buNone/>
            </a:pPr>
            <a:r>
              <a:rPr lang="en-US" sz="1050" dirty="0">
                <a:solidFill>
                  <a:srgbClr val="1F2937"/>
                </a:solidFill>
                <a:latin typeface="Calibri" pitchFamily="34" charset="0"/>
                <a:ea typeface="Calibri" pitchFamily="34" charset="-122"/>
                <a:cs typeface="Calibri" pitchFamily="34" charset="-120"/>
              </a:rPr>
              <a:t>Federated Learning</a:t>
            </a:r>
            <a:endParaRPr lang="en-US" sz="1400" dirty="0"/>
          </a:p>
        </p:txBody>
      </p:sp>
      <p:sp>
        <p:nvSpPr>
          <p:cNvPr id="32" name="Shape 30"/>
          <p:cNvSpPr/>
          <p:nvPr/>
        </p:nvSpPr>
        <p:spPr>
          <a:xfrm>
            <a:off x="7260336" y="6035040"/>
            <a:ext cx="2148840" cy="594360"/>
          </a:xfrm>
          <a:prstGeom prst="roundRect">
            <a:avLst>
              <a:gd name="adj" fmla="val 15385"/>
            </a:avLst>
          </a:prstGeom>
          <a:solidFill>
            <a:srgbClr val="DBEAFE"/>
          </a:solidFill>
          <a:ln/>
        </p:spPr>
      </p:sp>
      <p:sp>
        <p:nvSpPr>
          <p:cNvPr id="33" name="Text 31"/>
          <p:cNvSpPr/>
          <p:nvPr/>
        </p:nvSpPr>
        <p:spPr>
          <a:xfrm>
            <a:off x="7351776" y="6035040"/>
            <a:ext cx="1965960" cy="594360"/>
          </a:xfrm>
          <a:prstGeom prst="rect">
            <a:avLst/>
          </a:prstGeom>
          <a:noFill/>
          <a:ln/>
        </p:spPr>
        <p:txBody>
          <a:bodyPr wrap="square" lIns="0" tIns="0" rIns="0" bIns="0" rtlCol="0" anchor="ctr"/>
          <a:lstStyle/>
          <a:p>
            <a:pPr algn="ctr" indent="0" marL="0">
              <a:buNone/>
            </a:pPr>
            <a:r>
              <a:rPr lang="en-US" sz="1400" b="1" dirty="0">
                <a:solidFill>
                  <a:srgbClr val="1E3A8A"/>
                </a:solidFill>
                <a:latin typeface="Calibri" pitchFamily="34" charset="0"/>
                <a:ea typeface="Calibri" pitchFamily="34" charset="-122"/>
                <a:cs typeface="Calibri" pitchFamily="34" charset="-120"/>
              </a:rPr>
              <a:t>XAI  </a:t>
            </a:r>
            <a:pPr algn="ctr" indent="0" marL="0">
              <a:buNone/>
            </a:pPr>
            <a:r>
              <a:rPr lang="en-US" sz="1050" dirty="0">
                <a:solidFill>
                  <a:srgbClr val="1F2937"/>
                </a:solidFill>
                <a:latin typeface="Calibri" pitchFamily="34" charset="0"/>
                <a:ea typeface="Calibri" pitchFamily="34" charset="-122"/>
                <a:cs typeface="Calibri" pitchFamily="34" charset="-120"/>
              </a:rPr>
              <a:t>Explainable Engine</a:t>
            </a:r>
            <a:endParaRPr lang="en-US" sz="1400" dirty="0"/>
          </a:p>
        </p:txBody>
      </p:sp>
      <p:sp>
        <p:nvSpPr>
          <p:cNvPr id="34" name="Shape 32"/>
          <p:cNvSpPr/>
          <p:nvPr/>
        </p:nvSpPr>
        <p:spPr>
          <a:xfrm>
            <a:off x="9500616" y="6035040"/>
            <a:ext cx="2148840" cy="594360"/>
          </a:xfrm>
          <a:prstGeom prst="roundRect">
            <a:avLst>
              <a:gd name="adj" fmla="val 15385"/>
            </a:avLst>
          </a:prstGeom>
          <a:solidFill>
            <a:srgbClr val="DBEAFE"/>
          </a:solidFill>
          <a:ln/>
        </p:spPr>
      </p:sp>
      <p:sp>
        <p:nvSpPr>
          <p:cNvPr id="35" name="Text 33"/>
          <p:cNvSpPr/>
          <p:nvPr/>
        </p:nvSpPr>
        <p:spPr>
          <a:xfrm>
            <a:off x="9592056" y="6035040"/>
            <a:ext cx="1965960" cy="594360"/>
          </a:xfrm>
          <a:prstGeom prst="rect">
            <a:avLst/>
          </a:prstGeom>
          <a:noFill/>
          <a:ln/>
        </p:spPr>
        <p:txBody>
          <a:bodyPr wrap="square" lIns="0" tIns="0" rIns="0" bIns="0" rtlCol="0" anchor="ctr"/>
          <a:lstStyle/>
          <a:p>
            <a:pPr algn="ctr" indent="0" marL="0">
              <a:buNone/>
            </a:pPr>
            <a:r>
              <a:rPr lang="en-US" sz="1400" b="1" dirty="0">
                <a:solidFill>
                  <a:srgbClr val="1E3A8A"/>
                </a:solidFill>
                <a:latin typeface="Calibri" pitchFamily="34" charset="0"/>
                <a:ea typeface="Calibri" pitchFamily="34" charset="-122"/>
                <a:cs typeface="Calibri" pitchFamily="34" charset="-120"/>
              </a:rPr>
              <a:t>DT  </a:t>
            </a:r>
            <a:pPr algn="ctr" indent="0" marL="0">
              <a:buNone/>
            </a:pPr>
            <a:r>
              <a:rPr lang="en-US" sz="1050" dirty="0">
                <a:solidFill>
                  <a:srgbClr val="1F2937"/>
                </a:solidFill>
                <a:latin typeface="Calibri" pitchFamily="34" charset="0"/>
                <a:ea typeface="Calibri" pitchFamily="34" charset="-122"/>
                <a:cs typeface="Calibri" pitchFamily="34" charset="-120"/>
              </a:rPr>
              <a:t>Digital Twin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548640" cy="502920"/>
          </a:xfrm>
          <a:prstGeom prst="roundRect">
            <a:avLst>
              <a:gd name="adj" fmla="val 14545"/>
            </a:avLst>
          </a:prstGeom>
          <a:solidFill>
            <a:srgbClr val="E85D25"/>
          </a:solidFill>
          <a:ln/>
        </p:spPr>
      </p:sp>
      <p:sp>
        <p:nvSpPr>
          <p:cNvPr id="3" name="Text 1"/>
          <p:cNvSpPr/>
          <p:nvPr/>
        </p:nvSpPr>
        <p:spPr>
          <a:xfrm>
            <a:off x="457200" y="365760"/>
            <a:ext cx="54864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03</a:t>
            </a:r>
            <a:endParaRPr lang="en-US" sz="2000" dirty="0"/>
          </a:p>
        </p:txBody>
      </p:sp>
      <p:sp>
        <p:nvSpPr>
          <p:cNvPr id="4" name="Text 2"/>
          <p:cNvSpPr/>
          <p:nvPr/>
        </p:nvSpPr>
        <p:spPr>
          <a:xfrm>
            <a:off x="1143000" y="320040"/>
            <a:ext cx="8686800" cy="594360"/>
          </a:xfrm>
          <a:prstGeom prst="rect">
            <a:avLst/>
          </a:prstGeom>
          <a:noFill/>
          <a:ln/>
        </p:spPr>
        <p:txBody>
          <a:bodyPr wrap="square" lIns="0" tIns="0" rIns="0" bIns="0" rtlCol="0" anchor="ctr"/>
          <a:lstStyle/>
          <a:p>
            <a:pPr algn="l" indent="0" marL="0">
              <a:buNone/>
            </a:pPr>
            <a:r>
              <a:rPr lang="en-US" sz="2800" b="1" dirty="0">
                <a:solidFill>
                  <a:srgbClr val="1E3A8A"/>
                </a:solidFill>
                <a:latin typeface="Calibri" pitchFamily="34" charset="0"/>
                <a:ea typeface="Calibri" pitchFamily="34" charset="-122"/>
                <a:cs typeface="Calibri" pitchFamily="34" charset="-120"/>
              </a:rPr>
              <a:t>Current Progress</a:t>
            </a:r>
            <a:endParaRPr lang="en-US" sz="2800" dirty="0"/>
          </a:p>
        </p:txBody>
      </p:sp>
      <p:sp>
        <p:nvSpPr>
          <p:cNvPr id="5" name="Text 3"/>
          <p:cNvSpPr/>
          <p:nvPr/>
        </p:nvSpPr>
        <p:spPr>
          <a:xfrm>
            <a:off x="9144000" y="384048"/>
            <a:ext cx="2651760" cy="457200"/>
          </a:xfrm>
          <a:prstGeom prst="rect">
            <a:avLst/>
          </a:prstGeom>
          <a:noFill/>
          <a:ln/>
        </p:spPr>
        <p:txBody>
          <a:bodyPr wrap="square" lIns="0" tIns="0" rIns="0" bIns="0" rtlCol="0" anchor="ctr"/>
          <a:lstStyle/>
          <a:p>
            <a:pPr algn="r" indent="0" marL="0">
              <a:buNone/>
            </a:pPr>
            <a:r>
              <a:rPr lang="en-US" sz="1100" i="1" dirty="0">
                <a:solidFill>
                  <a:srgbClr val="4B5563"/>
                </a:solidFill>
                <a:latin typeface="Calibri" pitchFamily="34" charset="0"/>
                <a:ea typeface="Calibri" pitchFamily="34" charset="-122"/>
                <a:cs typeface="Calibri" pitchFamily="34" charset="-120"/>
              </a:rPr>
              <a:t>What we have advanced since Round 1</a:t>
            </a:r>
            <a:endParaRPr lang="en-US" sz="1100" dirty="0"/>
          </a:p>
        </p:txBody>
      </p:sp>
      <p:sp>
        <p:nvSpPr>
          <p:cNvPr id="6" name="Text 4"/>
          <p:cNvSpPr/>
          <p:nvPr/>
        </p:nvSpPr>
        <p:spPr>
          <a:xfrm>
            <a:off x="457200" y="1188720"/>
            <a:ext cx="11247120" cy="548640"/>
          </a:xfrm>
          <a:prstGeom prst="rect">
            <a:avLst/>
          </a:prstGeom>
          <a:noFill/>
          <a:ln/>
        </p:spPr>
        <p:txBody>
          <a:bodyPr wrap="square" lIns="0" tIns="0" rIns="0" bIns="0" rtlCol="0" anchor="t"/>
          <a:lstStyle/>
          <a:p>
            <a:pPr algn="l" indent="0" marL="0">
              <a:buNone/>
            </a:pPr>
            <a:r>
              <a:rPr lang="en-US" sz="1600" dirty="0">
                <a:solidFill>
                  <a:srgbClr val="1F2937"/>
                </a:solidFill>
                <a:latin typeface="Calibri" pitchFamily="34" charset="0"/>
                <a:ea typeface="Calibri" pitchFamily="34" charset="-122"/>
                <a:cs typeface="Calibri" pitchFamily="34" charset="-120"/>
              </a:rPr>
              <a:t>We deliberately spent the first phase on </a:t>
            </a:r>
            <a:pPr algn="l" indent="0" marL="0">
              <a:buNone/>
            </a:pPr>
            <a:r>
              <a:rPr lang="en-US" sz="1600" b="1" dirty="0">
                <a:solidFill>
                  <a:srgbClr val="E85D25"/>
                </a:solidFill>
                <a:latin typeface="Calibri" pitchFamily="34" charset="0"/>
                <a:ea typeface="Calibri" pitchFamily="34" charset="-122"/>
                <a:cs typeface="Calibri" pitchFamily="34" charset="-120"/>
              </a:rPr>
              <a:t>thinking through the build</a:t>
            </a:r>
            <a:pPr algn="l" indent="0" marL="0">
              <a:buNone/>
            </a:pPr>
            <a:r>
              <a:rPr lang="en-US" sz="1600" dirty="0">
                <a:solidFill>
                  <a:srgbClr val="1F2937"/>
                </a:solidFill>
                <a:latin typeface="Calibri" pitchFamily="34" charset="0"/>
                <a:ea typeface="Calibri" pitchFamily="34" charset="-122"/>
                <a:cs typeface="Calibri" pitchFamily="34" charset="-120"/>
              </a:rPr>
              <a:t>.  This way the 72-hour sprint that starts tonight goes fast and clean.</a:t>
            </a:r>
            <a:endParaRPr lang="en-US" sz="1600" dirty="0"/>
          </a:p>
        </p:txBody>
      </p:sp>
      <p:sp>
        <p:nvSpPr>
          <p:cNvPr id="7" name="Shape 5"/>
          <p:cNvSpPr/>
          <p:nvPr/>
        </p:nvSpPr>
        <p:spPr>
          <a:xfrm>
            <a:off x="457200" y="1874520"/>
            <a:ext cx="5623560" cy="2148840"/>
          </a:xfrm>
          <a:prstGeom prst="roundRect">
            <a:avLst>
              <a:gd name="adj" fmla="val 5106"/>
            </a:avLst>
          </a:prstGeom>
          <a:solidFill>
            <a:srgbClr val="E0E7FF"/>
          </a:solidFill>
          <a:ln/>
        </p:spPr>
      </p:sp>
      <p:sp>
        <p:nvSpPr>
          <p:cNvPr id="8" name="Shape 6"/>
          <p:cNvSpPr/>
          <p:nvPr/>
        </p:nvSpPr>
        <p:spPr>
          <a:xfrm>
            <a:off x="731520" y="2148840"/>
            <a:ext cx="548640" cy="548640"/>
          </a:xfrm>
          <a:prstGeom prst="ellipse">
            <a:avLst/>
          </a:prstGeom>
          <a:solidFill>
            <a:srgbClr val="1E3A8A"/>
          </a:solidFill>
          <a:ln/>
        </p:spPr>
      </p:sp>
      <p:sp>
        <p:nvSpPr>
          <p:cNvPr id="9" name="Text 7"/>
          <p:cNvSpPr/>
          <p:nvPr/>
        </p:nvSpPr>
        <p:spPr>
          <a:xfrm>
            <a:off x="731520" y="214884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10" name="Text 8"/>
          <p:cNvSpPr/>
          <p:nvPr/>
        </p:nvSpPr>
        <p:spPr>
          <a:xfrm>
            <a:off x="1417320" y="2194560"/>
            <a:ext cx="4480560" cy="457200"/>
          </a:xfrm>
          <a:prstGeom prst="rect">
            <a:avLst/>
          </a:prstGeom>
          <a:noFill/>
          <a:ln/>
        </p:spPr>
        <p:txBody>
          <a:bodyPr wrap="square" lIns="0" tIns="0" rIns="0" bIns="0" rtlCol="0" anchor="ctr"/>
          <a:lstStyle/>
          <a:p>
            <a:pPr algn="l" indent="0" marL="0">
              <a:buNone/>
            </a:pPr>
            <a:r>
              <a:rPr lang="en-US" sz="1400" b="1" dirty="0">
                <a:solidFill>
                  <a:srgbClr val="1E3A8A"/>
                </a:solidFill>
                <a:latin typeface="Calibri" pitchFamily="34" charset="0"/>
                <a:ea typeface="Calibri" pitchFamily="34" charset="-122"/>
                <a:cs typeface="Calibri" pitchFamily="34" charset="-120"/>
              </a:rPr>
              <a:t>WEB APP ARCHITECTURE</a:t>
            </a:r>
            <a:endParaRPr lang="en-US" sz="1400" dirty="0"/>
          </a:p>
        </p:txBody>
      </p:sp>
      <p:sp>
        <p:nvSpPr>
          <p:cNvPr id="11" name="Text 9"/>
          <p:cNvSpPr/>
          <p:nvPr/>
        </p:nvSpPr>
        <p:spPr>
          <a:xfrm>
            <a:off x="731520" y="2834640"/>
            <a:ext cx="5074920" cy="1097280"/>
          </a:xfrm>
          <a:prstGeom prst="rect">
            <a:avLst/>
          </a:prstGeom>
          <a:noFill/>
          <a:ln/>
        </p:spPr>
        <p:txBody>
          <a:bodyPr wrap="square" lIns="0" tIns="0" rIns="0" bIns="0" rtlCol="0" anchor="t"/>
          <a:lstStyle/>
          <a:p>
            <a:pPr algn="l" indent="0" marL="0">
              <a:buNone/>
            </a:pPr>
            <a:r>
              <a:rPr lang="en-US" sz="1150" dirty="0">
                <a:solidFill>
                  <a:srgbClr val="1F2937"/>
                </a:solidFill>
                <a:latin typeface="Calibri" pitchFamily="34" charset="0"/>
                <a:ea typeface="Calibri" pitchFamily="34" charset="-122"/>
                <a:cs typeface="Calibri" pitchFamily="34" charset="-120"/>
              </a:rPr>
              <a:t>Complete design finalized: 6 dashboard modules, data flow, API contracts, database schema, module boundaries. The team knows exactly what to code, in what order.</a:t>
            </a:r>
            <a:endParaRPr lang="en-US" sz="1150" dirty="0"/>
          </a:p>
        </p:txBody>
      </p:sp>
      <p:sp>
        <p:nvSpPr>
          <p:cNvPr id="12" name="Shape 10"/>
          <p:cNvSpPr/>
          <p:nvPr/>
        </p:nvSpPr>
        <p:spPr>
          <a:xfrm>
            <a:off x="6263640" y="1874520"/>
            <a:ext cx="5623560" cy="2148840"/>
          </a:xfrm>
          <a:prstGeom prst="roundRect">
            <a:avLst>
              <a:gd name="adj" fmla="val 5106"/>
            </a:avLst>
          </a:prstGeom>
          <a:solidFill>
            <a:srgbClr val="FDE4D8"/>
          </a:solidFill>
          <a:ln/>
        </p:spPr>
      </p:sp>
      <p:sp>
        <p:nvSpPr>
          <p:cNvPr id="13" name="Shape 11"/>
          <p:cNvSpPr/>
          <p:nvPr/>
        </p:nvSpPr>
        <p:spPr>
          <a:xfrm>
            <a:off x="6537960" y="2148840"/>
            <a:ext cx="548640" cy="548640"/>
          </a:xfrm>
          <a:prstGeom prst="ellipse">
            <a:avLst/>
          </a:prstGeom>
          <a:solidFill>
            <a:srgbClr val="E85D25"/>
          </a:solidFill>
          <a:ln/>
        </p:spPr>
      </p:sp>
      <p:sp>
        <p:nvSpPr>
          <p:cNvPr id="14" name="Text 12"/>
          <p:cNvSpPr/>
          <p:nvPr/>
        </p:nvSpPr>
        <p:spPr>
          <a:xfrm>
            <a:off x="6537960" y="214884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5" name="Text 13"/>
          <p:cNvSpPr/>
          <p:nvPr/>
        </p:nvSpPr>
        <p:spPr>
          <a:xfrm>
            <a:off x="7223760" y="2194560"/>
            <a:ext cx="4480560" cy="457200"/>
          </a:xfrm>
          <a:prstGeom prst="rect">
            <a:avLst/>
          </a:prstGeom>
          <a:noFill/>
          <a:ln/>
        </p:spPr>
        <p:txBody>
          <a:bodyPr wrap="square" lIns="0" tIns="0" rIns="0" bIns="0" rtlCol="0" anchor="ctr"/>
          <a:lstStyle/>
          <a:p>
            <a:pPr algn="l" indent="0" marL="0">
              <a:buNone/>
            </a:pPr>
            <a:r>
              <a:rPr lang="en-US" sz="1400" b="1" dirty="0">
                <a:solidFill>
                  <a:srgbClr val="E85D25"/>
                </a:solidFill>
                <a:latin typeface="Calibri" pitchFamily="34" charset="0"/>
                <a:ea typeface="Calibri" pitchFamily="34" charset="-122"/>
                <a:cs typeface="Calibri" pitchFamily="34" charset="-120"/>
              </a:rPr>
              <a:t>ML MODELS  ·  evaluated &amp; selected</a:t>
            </a:r>
            <a:endParaRPr lang="en-US" sz="1400" dirty="0"/>
          </a:p>
        </p:txBody>
      </p:sp>
      <p:sp>
        <p:nvSpPr>
          <p:cNvPr id="16" name="Text 14"/>
          <p:cNvSpPr/>
          <p:nvPr/>
        </p:nvSpPr>
        <p:spPr>
          <a:xfrm>
            <a:off x="6537960" y="2834640"/>
            <a:ext cx="5074920" cy="1097280"/>
          </a:xfrm>
          <a:prstGeom prst="rect">
            <a:avLst/>
          </a:prstGeom>
          <a:noFill/>
          <a:ln/>
        </p:spPr>
        <p:txBody>
          <a:bodyPr wrap="square" lIns="0" tIns="0" rIns="0" bIns="0" rtlCol="0" anchor="t"/>
          <a:lstStyle/>
          <a:p>
            <a:pPr algn="l" indent="0" marL="0">
              <a:buNone/>
            </a:pPr>
            <a:r>
              <a:rPr lang="en-US" sz="1150" dirty="0">
                <a:solidFill>
                  <a:srgbClr val="1F2937"/>
                </a:solidFill>
                <a:latin typeface="Calibri" pitchFamily="34" charset="0"/>
                <a:ea typeface="Calibri" pitchFamily="34" charset="-122"/>
                <a:cs typeface="Calibri" pitchFamily="34" charset="-120"/>
              </a:rPr>
              <a:t>Comparative analysis of YOLOv8n vs. MobileNetV3 vs. EfficientNet-Lite on the target task. Model chosen. Fine-tuning strategy defined (frozen backbone, custom head, augmentation pipeline).</a:t>
            </a:r>
            <a:endParaRPr lang="en-US" sz="1150" dirty="0"/>
          </a:p>
        </p:txBody>
      </p:sp>
      <p:sp>
        <p:nvSpPr>
          <p:cNvPr id="17" name="Shape 15"/>
          <p:cNvSpPr/>
          <p:nvPr/>
        </p:nvSpPr>
        <p:spPr>
          <a:xfrm>
            <a:off x="457200" y="4206240"/>
            <a:ext cx="5623560" cy="2148840"/>
          </a:xfrm>
          <a:prstGeom prst="roundRect">
            <a:avLst>
              <a:gd name="adj" fmla="val 5106"/>
            </a:avLst>
          </a:prstGeom>
          <a:solidFill>
            <a:srgbClr val="DCFCE7"/>
          </a:solidFill>
          <a:ln/>
        </p:spPr>
      </p:sp>
      <p:sp>
        <p:nvSpPr>
          <p:cNvPr id="18" name="Shape 16"/>
          <p:cNvSpPr/>
          <p:nvPr/>
        </p:nvSpPr>
        <p:spPr>
          <a:xfrm>
            <a:off x="731520" y="4480560"/>
            <a:ext cx="548640" cy="548640"/>
          </a:xfrm>
          <a:prstGeom prst="ellipse">
            <a:avLst/>
          </a:prstGeom>
          <a:solidFill>
            <a:srgbClr val="16A34A"/>
          </a:solidFill>
          <a:ln/>
        </p:spPr>
      </p:sp>
      <p:sp>
        <p:nvSpPr>
          <p:cNvPr id="19" name="Text 17"/>
          <p:cNvSpPr/>
          <p:nvPr/>
        </p:nvSpPr>
        <p:spPr>
          <a:xfrm>
            <a:off x="731520" y="44805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0" name="Text 18"/>
          <p:cNvSpPr/>
          <p:nvPr/>
        </p:nvSpPr>
        <p:spPr>
          <a:xfrm>
            <a:off x="1417320" y="4526280"/>
            <a:ext cx="4480560" cy="457200"/>
          </a:xfrm>
          <a:prstGeom prst="rect">
            <a:avLst/>
          </a:prstGeom>
          <a:noFill/>
          <a:ln/>
        </p:spPr>
        <p:txBody>
          <a:bodyPr wrap="square" lIns="0" tIns="0" rIns="0" bIns="0" rtlCol="0" anchor="ctr"/>
          <a:lstStyle/>
          <a:p>
            <a:pPr algn="l" indent="0" marL="0">
              <a:buNone/>
            </a:pPr>
            <a:r>
              <a:rPr lang="en-US" sz="1400" b="1" dirty="0">
                <a:solidFill>
                  <a:srgbClr val="16A34A"/>
                </a:solidFill>
                <a:latin typeface="Calibri" pitchFamily="34" charset="0"/>
                <a:ea typeface="Calibri" pitchFamily="34" charset="-122"/>
                <a:cs typeface="Calibri" pitchFamily="34" charset="-120"/>
              </a:rPr>
              <a:t>DATASET STRATEGY</a:t>
            </a:r>
            <a:endParaRPr lang="en-US" sz="1400" dirty="0"/>
          </a:p>
        </p:txBody>
      </p:sp>
      <p:sp>
        <p:nvSpPr>
          <p:cNvPr id="21" name="Text 19"/>
          <p:cNvSpPr/>
          <p:nvPr/>
        </p:nvSpPr>
        <p:spPr>
          <a:xfrm>
            <a:off x="731520" y="5166360"/>
            <a:ext cx="5074920" cy="1097280"/>
          </a:xfrm>
          <a:prstGeom prst="rect">
            <a:avLst/>
          </a:prstGeom>
          <a:noFill/>
          <a:ln/>
        </p:spPr>
        <p:txBody>
          <a:bodyPr wrap="square" lIns="0" tIns="0" rIns="0" bIns="0" rtlCol="0" anchor="t"/>
          <a:lstStyle/>
          <a:p>
            <a:pPr algn="l" indent="0" marL="0">
              <a:buNone/>
            </a:pPr>
            <a:r>
              <a:rPr lang="en-US" sz="1150" dirty="0">
                <a:solidFill>
                  <a:srgbClr val="1F2937"/>
                </a:solidFill>
                <a:latin typeface="Calibri" pitchFamily="34" charset="0"/>
                <a:ea typeface="Calibri" pitchFamily="34" charset="-122"/>
                <a:cs typeface="Calibri" pitchFamily="34" charset="-120"/>
              </a:rPr>
              <a:t>TrashNet + TACO selected, class mapping to our 6 categories designed, augmentation plan written, train / val / test split policy set. Nothing labelled from scratch by hand.</a:t>
            </a:r>
            <a:endParaRPr lang="en-US" sz="1150" dirty="0"/>
          </a:p>
        </p:txBody>
      </p:sp>
      <p:sp>
        <p:nvSpPr>
          <p:cNvPr id="22" name="Shape 20"/>
          <p:cNvSpPr/>
          <p:nvPr/>
        </p:nvSpPr>
        <p:spPr>
          <a:xfrm>
            <a:off x="6263640" y="4206240"/>
            <a:ext cx="5623560" cy="2148840"/>
          </a:xfrm>
          <a:prstGeom prst="roundRect">
            <a:avLst>
              <a:gd name="adj" fmla="val 5106"/>
            </a:avLst>
          </a:prstGeom>
          <a:solidFill>
            <a:srgbClr val="DBEAFE"/>
          </a:solidFill>
          <a:ln/>
        </p:spPr>
      </p:sp>
      <p:sp>
        <p:nvSpPr>
          <p:cNvPr id="23" name="Shape 21"/>
          <p:cNvSpPr/>
          <p:nvPr/>
        </p:nvSpPr>
        <p:spPr>
          <a:xfrm>
            <a:off x="6537960" y="4480560"/>
            <a:ext cx="548640" cy="548640"/>
          </a:xfrm>
          <a:prstGeom prst="ellipse">
            <a:avLst/>
          </a:prstGeom>
          <a:solidFill>
            <a:srgbClr val="1E3A8A"/>
          </a:solidFill>
          <a:ln/>
        </p:spPr>
      </p:sp>
      <p:sp>
        <p:nvSpPr>
          <p:cNvPr id="24" name="Text 22"/>
          <p:cNvSpPr/>
          <p:nvPr/>
        </p:nvSpPr>
        <p:spPr>
          <a:xfrm>
            <a:off x="6537960" y="44805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5" name="Text 23"/>
          <p:cNvSpPr/>
          <p:nvPr/>
        </p:nvSpPr>
        <p:spPr>
          <a:xfrm>
            <a:off x="7223760" y="4526280"/>
            <a:ext cx="4480560" cy="457200"/>
          </a:xfrm>
          <a:prstGeom prst="rect">
            <a:avLst/>
          </a:prstGeom>
          <a:noFill/>
          <a:ln/>
        </p:spPr>
        <p:txBody>
          <a:bodyPr wrap="square" lIns="0" tIns="0" rIns="0" bIns="0" rtlCol="0" anchor="ctr"/>
          <a:lstStyle/>
          <a:p>
            <a:pPr algn="l" indent="0" marL="0">
              <a:buNone/>
            </a:pPr>
            <a:r>
              <a:rPr lang="en-US" sz="1400" b="1" dirty="0">
                <a:solidFill>
                  <a:srgbClr val="1E3A8A"/>
                </a:solidFill>
                <a:latin typeface="Calibri" pitchFamily="34" charset="0"/>
                <a:ea typeface="Calibri" pitchFamily="34" charset="-122"/>
                <a:cs typeface="Calibri" pitchFamily="34" charset="-120"/>
              </a:rPr>
              <a:t>IMPLEMENTATION ROADMAP</a:t>
            </a:r>
            <a:endParaRPr lang="en-US" sz="1400" dirty="0"/>
          </a:p>
        </p:txBody>
      </p:sp>
      <p:sp>
        <p:nvSpPr>
          <p:cNvPr id="26" name="Text 24"/>
          <p:cNvSpPr/>
          <p:nvPr/>
        </p:nvSpPr>
        <p:spPr>
          <a:xfrm>
            <a:off x="6537960" y="5166360"/>
            <a:ext cx="5074920" cy="1097280"/>
          </a:xfrm>
          <a:prstGeom prst="rect">
            <a:avLst/>
          </a:prstGeom>
          <a:noFill/>
          <a:ln/>
        </p:spPr>
        <p:txBody>
          <a:bodyPr wrap="square" lIns="0" tIns="0" rIns="0" bIns="0" rtlCol="0" anchor="t"/>
          <a:lstStyle/>
          <a:p>
            <a:pPr algn="l" indent="0" marL="0">
              <a:buNone/>
            </a:pPr>
            <a:r>
              <a:rPr lang="en-US" sz="1150" dirty="0">
                <a:solidFill>
                  <a:srgbClr val="1F2937"/>
                </a:solidFill>
                <a:latin typeface="Calibri" pitchFamily="34" charset="0"/>
                <a:ea typeface="Calibri" pitchFamily="34" charset="-122"/>
                <a:cs typeface="Calibri" pitchFamily="34" charset="-120"/>
              </a:rPr>
              <a:t>72-hour plan broken hour-by-hour across ML, backend, frontend and integration. Owner per task. Cut-line decided in advance: what ships, what stays as design.</a:t>
            </a:r>
            <a:endParaRPr lang="en-US" sz="1150" dirty="0"/>
          </a:p>
        </p:txBody>
      </p:sp>
      <p:sp>
        <p:nvSpPr>
          <p:cNvPr id="27" name="Shape 25"/>
          <p:cNvSpPr/>
          <p:nvPr/>
        </p:nvSpPr>
        <p:spPr>
          <a:xfrm>
            <a:off x="457200" y="6309360"/>
            <a:ext cx="11247120" cy="320040"/>
          </a:xfrm>
          <a:prstGeom prst="roundRect">
            <a:avLst>
              <a:gd name="adj" fmla="val 22857"/>
            </a:avLst>
          </a:prstGeom>
          <a:solidFill>
            <a:srgbClr val="FEF3C7"/>
          </a:solidFill>
          <a:ln/>
        </p:spPr>
      </p:sp>
      <p:sp>
        <p:nvSpPr>
          <p:cNvPr id="28" name="Text 26"/>
          <p:cNvSpPr/>
          <p:nvPr/>
        </p:nvSpPr>
        <p:spPr>
          <a:xfrm>
            <a:off x="640080" y="6309360"/>
            <a:ext cx="10972800" cy="320040"/>
          </a:xfrm>
          <a:prstGeom prst="rect">
            <a:avLst/>
          </a:prstGeom>
          <a:noFill/>
          <a:ln/>
        </p:spPr>
        <p:txBody>
          <a:bodyPr wrap="square" lIns="0" tIns="0" rIns="0" bIns="0" rtlCol="0" anchor="ctr"/>
          <a:lstStyle/>
          <a:p>
            <a:pPr algn="l" indent="0" marL="0">
              <a:buNone/>
            </a:pPr>
            <a:r>
              <a:rPr lang="en-US" sz="1100" b="1" dirty="0">
                <a:solidFill>
                  <a:srgbClr val="D97706"/>
                </a:solidFill>
                <a:latin typeface="Calibri" pitchFamily="34" charset="0"/>
                <a:ea typeface="Calibri" pitchFamily="34" charset="-122"/>
                <a:cs typeface="Calibri" pitchFamily="34" charset="-120"/>
              </a:rPr>
              <a:t>⚠   Fully transparent: </a:t>
            </a:r>
            <a:pPr algn="l" indent="0" marL="0">
              <a:buNone/>
            </a:pPr>
            <a:r>
              <a:rPr lang="en-US" sz="1100" i="1" dirty="0">
                <a:solidFill>
                  <a:srgbClr val="1F2937"/>
                </a:solidFill>
                <a:latin typeface="Calibri" pitchFamily="34" charset="0"/>
                <a:ea typeface="Calibri" pitchFamily="34" charset="-122"/>
                <a:cs typeface="Calibri" pitchFamily="34" charset="-120"/>
              </a:rPr>
              <a:t>no repo, no code, no artifacts to show yet. Implementation kickoff is tonight.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548640" cy="502920"/>
          </a:xfrm>
          <a:prstGeom prst="roundRect">
            <a:avLst>
              <a:gd name="adj" fmla="val 14545"/>
            </a:avLst>
          </a:prstGeom>
          <a:solidFill>
            <a:srgbClr val="E85D25"/>
          </a:solidFill>
          <a:ln/>
        </p:spPr>
      </p:sp>
      <p:sp>
        <p:nvSpPr>
          <p:cNvPr id="3" name="Text 1"/>
          <p:cNvSpPr/>
          <p:nvPr/>
        </p:nvSpPr>
        <p:spPr>
          <a:xfrm>
            <a:off x="457200" y="365760"/>
            <a:ext cx="54864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04</a:t>
            </a:r>
            <a:endParaRPr lang="en-US" sz="2000" dirty="0"/>
          </a:p>
        </p:txBody>
      </p:sp>
      <p:sp>
        <p:nvSpPr>
          <p:cNvPr id="4" name="Text 2"/>
          <p:cNvSpPr/>
          <p:nvPr/>
        </p:nvSpPr>
        <p:spPr>
          <a:xfrm>
            <a:off x="1143000" y="320040"/>
            <a:ext cx="8686800" cy="594360"/>
          </a:xfrm>
          <a:prstGeom prst="rect">
            <a:avLst/>
          </a:prstGeom>
          <a:noFill/>
          <a:ln/>
        </p:spPr>
        <p:txBody>
          <a:bodyPr wrap="square" lIns="0" tIns="0" rIns="0" bIns="0" rtlCol="0" anchor="ctr"/>
          <a:lstStyle/>
          <a:p>
            <a:pPr algn="l" indent="0" marL="0">
              <a:buNone/>
            </a:pPr>
            <a:r>
              <a:rPr lang="en-US" sz="2800" b="1" dirty="0">
                <a:solidFill>
                  <a:srgbClr val="1E3A8A"/>
                </a:solidFill>
                <a:latin typeface="Calibri" pitchFamily="34" charset="0"/>
                <a:ea typeface="Calibri" pitchFamily="34" charset="-122"/>
                <a:cs typeface="Calibri" pitchFamily="34" charset="-120"/>
              </a:rPr>
              <a:t>Technical Approach</a:t>
            </a:r>
            <a:endParaRPr lang="en-US" sz="2800" dirty="0"/>
          </a:p>
        </p:txBody>
      </p:sp>
      <p:sp>
        <p:nvSpPr>
          <p:cNvPr id="5" name="Text 3"/>
          <p:cNvSpPr/>
          <p:nvPr/>
        </p:nvSpPr>
        <p:spPr>
          <a:xfrm>
            <a:off x="9144000" y="384048"/>
            <a:ext cx="2651760" cy="457200"/>
          </a:xfrm>
          <a:prstGeom prst="rect">
            <a:avLst/>
          </a:prstGeom>
          <a:noFill/>
          <a:ln/>
        </p:spPr>
        <p:txBody>
          <a:bodyPr wrap="square" lIns="0" tIns="0" rIns="0" bIns="0" rtlCol="0" anchor="ctr"/>
          <a:lstStyle/>
          <a:p>
            <a:pPr algn="r" indent="0" marL="0">
              <a:buNone/>
            </a:pPr>
            <a:r>
              <a:rPr lang="en-US" sz="1100" i="1" dirty="0">
                <a:solidFill>
                  <a:srgbClr val="4B5563"/>
                </a:solidFill>
                <a:latin typeface="Calibri" pitchFamily="34" charset="0"/>
                <a:ea typeface="Calibri" pitchFamily="34" charset="-122"/>
                <a:cs typeface="Calibri" pitchFamily="34" charset="-120"/>
              </a:rPr>
              <a:t>ML pipeline · Web architecture · Stack</a:t>
            </a:r>
            <a:endParaRPr lang="en-US" sz="1100" dirty="0"/>
          </a:p>
        </p:txBody>
      </p:sp>
      <p:sp>
        <p:nvSpPr>
          <p:cNvPr id="6" name="Shape 4"/>
          <p:cNvSpPr/>
          <p:nvPr/>
        </p:nvSpPr>
        <p:spPr>
          <a:xfrm>
            <a:off x="457200" y="1234440"/>
            <a:ext cx="5623560" cy="4892040"/>
          </a:xfrm>
          <a:prstGeom prst="roundRect">
            <a:avLst>
              <a:gd name="adj" fmla="val 2243"/>
            </a:avLst>
          </a:prstGeom>
          <a:solidFill>
            <a:srgbClr val="FDE4D8"/>
          </a:solidFill>
          <a:ln/>
        </p:spPr>
      </p:sp>
      <p:sp>
        <p:nvSpPr>
          <p:cNvPr id="7" name="Text 5"/>
          <p:cNvSpPr/>
          <p:nvPr/>
        </p:nvSpPr>
        <p:spPr>
          <a:xfrm>
            <a:off x="685800" y="1417320"/>
            <a:ext cx="5166360" cy="365760"/>
          </a:xfrm>
          <a:prstGeom prst="rect">
            <a:avLst/>
          </a:prstGeom>
          <a:noFill/>
          <a:ln/>
        </p:spPr>
        <p:txBody>
          <a:bodyPr wrap="square" lIns="0" tIns="0" rIns="0" bIns="0" rtlCol="0" anchor="t"/>
          <a:lstStyle/>
          <a:p>
            <a:pPr algn="l" indent="0" marL="0">
              <a:buNone/>
            </a:pPr>
            <a:r>
              <a:rPr lang="en-US" sz="1400" b="1" dirty="0">
                <a:solidFill>
                  <a:srgbClr val="E85D25"/>
                </a:solidFill>
                <a:latin typeface="Calibri" pitchFamily="34" charset="0"/>
                <a:ea typeface="Calibri" pitchFamily="34" charset="-122"/>
                <a:cs typeface="Calibri" pitchFamily="34" charset="-120"/>
              </a:rPr>
              <a:t>ML PIPELINE</a:t>
            </a:r>
            <a:endParaRPr lang="en-US" sz="1400" dirty="0"/>
          </a:p>
        </p:txBody>
      </p:sp>
      <p:sp>
        <p:nvSpPr>
          <p:cNvPr id="8" name="Text 6"/>
          <p:cNvSpPr/>
          <p:nvPr/>
        </p:nvSpPr>
        <p:spPr>
          <a:xfrm>
            <a:off x="685800" y="1874520"/>
            <a:ext cx="5166360" cy="2011680"/>
          </a:xfrm>
          <a:prstGeom prst="rect">
            <a:avLst/>
          </a:prstGeom>
          <a:noFill/>
          <a:ln/>
        </p:spPr>
        <p:txBody>
          <a:bodyPr wrap="square" lIns="0" tIns="0" rIns="0" bIns="0" rtlCol="0" anchor="t"/>
          <a:lstStyle/>
          <a:p>
            <a:pPr algn="l" indent="0" marL="0">
              <a:spcAft>
                <a:spcPts val="300"/>
              </a:spcAft>
              <a:buNone/>
            </a:pPr>
            <a:r>
              <a:rPr lang="en-US" sz="1200" b="1" dirty="0">
                <a:solidFill>
                  <a:srgbClr val="1F2937"/>
                </a:solidFill>
                <a:latin typeface="Calibri" pitchFamily="34" charset="0"/>
                <a:ea typeface="Calibri" pitchFamily="34" charset="-122"/>
                <a:cs typeface="Calibri" pitchFamily="34" charset="-120"/>
              </a:rPr>
              <a:t>YOLOv8n</a:t>
            </a:r>
            <a:pPr algn="l" indent="0" marL="0">
              <a:spcAft>
                <a:spcPts val="300"/>
              </a:spcAft>
              <a:buNone/>
            </a:pPr>
            <a:r>
              <a:rPr lang="en-US" sz="1100" dirty="0">
                <a:solidFill>
                  <a:srgbClr val="4B5563"/>
                </a:solidFill>
                <a:latin typeface="Calibri" pitchFamily="34" charset="0"/>
                <a:ea typeface="Calibri" pitchFamily="34" charset="-122"/>
                <a:cs typeface="Calibri" pitchFamily="34" charset="-120"/>
              </a:rPr>
              <a:t>   3.2 M params  ·  INT8 edge-ready
</a:t>
            </a:r>
            <a:pPr algn="l" indent="0" marL="0">
              <a:spcAft>
                <a:spcPts val="300"/>
              </a:spcAft>
              <a:buNone/>
            </a:pPr>
            <a:r>
              <a:rPr lang="en-US" sz="1000" b="1" dirty="0">
                <a:solidFill>
                  <a:srgbClr val="16A34A"/>
                </a:solidFill>
                <a:latin typeface="Calibri" pitchFamily="34" charset="0"/>
                <a:ea typeface="Calibri" pitchFamily="34" charset="-122"/>
                <a:cs typeface="Calibri" pitchFamily="34" charset="-120"/>
              </a:rPr>
              <a:t>PRIMARY</a:t>
            </a:r>
            <a:pPr algn="l" indent="0" marL="0">
              <a:spcAft>
                <a:spcPts val="300"/>
              </a:spcAft>
              <a:buNone/>
            </a:pPr>
            <a:r>
              <a:rPr lang="en-US" sz="1000" dirty="0">
                <a:solidFill>
                  <a:srgbClr val="4B5563"/>
                </a:solidFill>
                <a:latin typeface="Calibri" pitchFamily="34" charset="0"/>
                <a:ea typeface="Calibri" pitchFamily="34" charset="-122"/>
                <a:cs typeface="Calibri" pitchFamily="34" charset="-120"/>
              </a:rPr>
              <a:t>   ·  fine-tuned on TrashNet + TACO
</a:t>
            </a:r>
            <a:pPr algn="l" indent="0" marL="0">
              <a:spcAft>
                <a:spcPts val="300"/>
              </a:spcAft>
              <a:buNone/>
            </a:pPr>
            <a:r>
              <a:rPr lang="en-US" sz="1100" b="1" dirty="0">
                <a:solidFill>
                  <a:srgbClr val="1F2937"/>
                </a:solidFill>
                <a:latin typeface="Calibri" pitchFamily="34" charset="0"/>
                <a:ea typeface="Calibri" pitchFamily="34" charset="-122"/>
                <a:cs typeface="Calibri" pitchFamily="34" charset="-120"/>
              </a:rPr>
              <a:t>MobileNetV3-S</a:t>
            </a:r>
            <a:pPr algn="l" indent="0" marL="0">
              <a:spcAft>
                <a:spcPts val="300"/>
              </a:spcAft>
              <a:buNone/>
            </a:pPr>
            <a:r>
              <a:rPr lang="en-US" sz="1100" dirty="0">
                <a:solidFill>
                  <a:srgbClr val="4B5563"/>
                </a:solidFill>
                <a:latin typeface="Calibri" pitchFamily="34" charset="0"/>
                <a:ea typeface="Calibri" pitchFamily="34" charset="-122"/>
                <a:cs typeface="Calibri" pitchFamily="34" charset="-120"/>
              </a:rPr>
              <a:t>   2.5 M  ·  </a:t>
            </a:r>
            <a:pPr algn="l" indent="0" marL="0">
              <a:spcAft>
                <a:spcPts val="300"/>
              </a:spcAft>
              <a:buNone/>
            </a:pPr>
            <a:r>
              <a:rPr lang="en-US" sz="1000" b="1" dirty="0">
                <a:solidFill>
                  <a:srgbClr val="E85D25"/>
                </a:solidFill>
                <a:latin typeface="Calibri" pitchFamily="34" charset="0"/>
                <a:ea typeface="Calibri" pitchFamily="34" charset="-122"/>
                <a:cs typeface="Calibri" pitchFamily="34" charset="-120"/>
              </a:rPr>
              <a:t>FALLBACK</a:t>
            </a:r>
            <a:pPr algn="l" indent="0" marL="0">
              <a:spcAft>
                <a:spcPts val="300"/>
              </a:spcAft>
              <a:buNone/>
            </a:pPr>
            <a:r>
              <a:rPr lang="en-US" sz="1100" dirty="0">
                <a:solidFill>
                  <a:srgbClr val="4B5563"/>
                </a:solidFill>
                <a:latin typeface="Calibri" pitchFamily="34" charset="0"/>
                <a:ea typeface="Calibri" pitchFamily="34" charset="-122"/>
                <a:cs typeface="Calibri" pitchFamily="34" charset="-120"/>
              </a:rPr>
              <a:t>
</a:t>
            </a:r>
            <a:pPr algn="l" indent="0" marL="0">
              <a:spcAft>
                <a:spcPts val="300"/>
              </a:spcAft>
              <a:buNone/>
            </a:pPr>
            <a:r>
              <a:rPr lang="en-US" sz="1100" b="1" dirty="0">
                <a:solidFill>
                  <a:srgbClr val="1F2937"/>
                </a:solidFill>
                <a:latin typeface="Calibri" pitchFamily="34" charset="0"/>
                <a:ea typeface="Calibri" pitchFamily="34" charset="-122"/>
                <a:cs typeface="Calibri" pitchFamily="34" charset="-120"/>
              </a:rPr>
              <a:t>EfficientNet-B0</a:t>
            </a:r>
            <a:pPr algn="l" indent="0" marL="0">
              <a:spcAft>
                <a:spcPts val="300"/>
              </a:spcAft>
              <a:buNone/>
            </a:pPr>
            <a:r>
              <a:rPr lang="en-US" sz="1100" dirty="0">
                <a:solidFill>
                  <a:srgbClr val="4B5563"/>
                </a:solidFill>
                <a:latin typeface="Calibri" pitchFamily="34" charset="0"/>
                <a:ea typeface="Calibri" pitchFamily="34" charset="-122"/>
                <a:cs typeface="Calibri" pitchFamily="34" charset="-120"/>
              </a:rPr>
              <a:t>   5.3 M  ·  </a:t>
            </a:r>
            <a:pPr algn="l" indent="0" marL="0">
              <a:spcAft>
                <a:spcPts val="300"/>
              </a:spcAft>
              <a:buNone/>
            </a:pPr>
            <a:r>
              <a:rPr lang="en-US" sz="1000" b="1" dirty="0">
                <a:solidFill>
                  <a:srgbClr val="DC2626"/>
                </a:solidFill>
                <a:latin typeface="Calibri" pitchFamily="34" charset="0"/>
                <a:ea typeface="Calibri" pitchFamily="34" charset="-122"/>
                <a:cs typeface="Calibri" pitchFamily="34" charset="-120"/>
              </a:rPr>
              <a:t>REJECTED (too heavy for edge)</a:t>
            </a:r>
            <a:endParaRPr lang="en-US" sz="1200" dirty="0"/>
          </a:p>
        </p:txBody>
      </p:sp>
      <p:sp>
        <p:nvSpPr>
          <p:cNvPr id="9" name="Text 7"/>
          <p:cNvSpPr/>
          <p:nvPr/>
        </p:nvSpPr>
        <p:spPr>
          <a:xfrm>
            <a:off x="685800" y="3977640"/>
            <a:ext cx="5166360" cy="320040"/>
          </a:xfrm>
          <a:prstGeom prst="rect">
            <a:avLst/>
          </a:prstGeom>
          <a:noFill/>
          <a:ln/>
        </p:spPr>
        <p:txBody>
          <a:bodyPr wrap="square" lIns="0" tIns="0" rIns="0" bIns="0" rtlCol="0" anchor="t"/>
          <a:lstStyle/>
          <a:p>
            <a:pPr algn="l" indent="0" marL="0">
              <a:buNone/>
            </a:pPr>
            <a:r>
              <a:rPr lang="en-US" sz="1200" b="1" dirty="0">
                <a:solidFill>
                  <a:srgbClr val="E85D25"/>
                </a:solidFill>
                <a:latin typeface="Calibri" pitchFamily="34" charset="0"/>
                <a:ea typeface="Calibri" pitchFamily="34" charset="-122"/>
                <a:cs typeface="Calibri" pitchFamily="34" charset="-120"/>
              </a:rPr>
              <a:t>FINE-TUNING STRATEGY</a:t>
            </a:r>
            <a:endParaRPr lang="en-US" sz="1200" dirty="0"/>
          </a:p>
        </p:txBody>
      </p:sp>
      <p:sp>
        <p:nvSpPr>
          <p:cNvPr id="10" name="Text 8"/>
          <p:cNvSpPr/>
          <p:nvPr/>
        </p:nvSpPr>
        <p:spPr>
          <a:xfrm>
            <a:off x="731520" y="4343400"/>
            <a:ext cx="274320" cy="228600"/>
          </a:xfrm>
          <a:prstGeom prst="rect">
            <a:avLst/>
          </a:prstGeom>
          <a:noFill/>
          <a:ln/>
        </p:spPr>
        <p:txBody>
          <a:bodyPr wrap="square" lIns="0" tIns="0" rIns="0" bIns="0" rtlCol="0" anchor="t"/>
          <a:lstStyle/>
          <a:p>
            <a:pPr algn="l" indent="0" marL="0">
              <a:buNone/>
            </a:pPr>
            <a:r>
              <a:rPr lang="en-US" sz="1050" b="1" dirty="0">
                <a:solidFill>
                  <a:srgbClr val="E85D25"/>
                </a:solidFill>
                <a:latin typeface="Calibri" pitchFamily="34" charset="0"/>
                <a:ea typeface="Calibri" pitchFamily="34" charset="-122"/>
                <a:cs typeface="Calibri" pitchFamily="34" charset="-120"/>
              </a:rPr>
              <a:t>1.</a:t>
            </a:r>
            <a:endParaRPr lang="en-US" sz="1050" dirty="0"/>
          </a:p>
        </p:txBody>
      </p:sp>
      <p:sp>
        <p:nvSpPr>
          <p:cNvPr id="11" name="Text 9"/>
          <p:cNvSpPr/>
          <p:nvPr/>
        </p:nvSpPr>
        <p:spPr>
          <a:xfrm>
            <a:off x="960120" y="4343400"/>
            <a:ext cx="4937760" cy="228600"/>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Load pretrained YOLOv8n weights on COCO</a:t>
            </a:r>
            <a:endParaRPr lang="en-US" sz="1050" dirty="0"/>
          </a:p>
        </p:txBody>
      </p:sp>
      <p:sp>
        <p:nvSpPr>
          <p:cNvPr id="12" name="Text 10"/>
          <p:cNvSpPr/>
          <p:nvPr/>
        </p:nvSpPr>
        <p:spPr>
          <a:xfrm>
            <a:off x="731520" y="4599432"/>
            <a:ext cx="274320" cy="228600"/>
          </a:xfrm>
          <a:prstGeom prst="rect">
            <a:avLst/>
          </a:prstGeom>
          <a:noFill/>
          <a:ln/>
        </p:spPr>
        <p:txBody>
          <a:bodyPr wrap="square" lIns="0" tIns="0" rIns="0" bIns="0" rtlCol="0" anchor="t"/>
          <a:lstStyle/>
          <a:p>
            <a:pPr algn="l" indent="0" marL="0">
              <a:buNone/>
            </a:pPr>
            <a:r>
              <a:rPr lang="en-US" sz="1050" b="1" dirty="0">
                <a:solidFill>
                  <a:srgbClr val="E85D25"/>
                </a:solidFill>
                <a:latin typeface="Calibri" pitchFamily="34" charset="0"/>
                <a:ea typeface="Calibri" pitchFamily="34" charset="-122"/>
                <a:cs typeface="Calibri" pitchFamily="34" charset="-120"/>
              </a:rPr>
              <a:t>2.</a:t>
            </a:r>
            <a:endParaRPr lang="en-US" sz="1050" dirty="0"/>
          </a:p>
        </p:txBody>
      </p:sp>
      <p:sp>
        <p:nvSpPr>
          <p:cNvPr id="13" name="Text 11"/>
          <p:cNvSpPr/>
          <p:nvPr/>
        </p:nvSpPr>
        <p:spPr>
          <a:xfrm>
            <a:off x="960120" y="4599432"/>
            <a:ext cx="4937760" cy="228600"/>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Replace detection head → 6 waste classes</a:t>
            </a:r>
            <a:endParaRPr lang="en-US" sz="1050" dirty="0"/>
          </a:p>
        </p:txBody>
      </p:sp>
      <p:sp>
        <p:nvSpPr>
          <p:cNvPr id="14" name="Text 12"/>
          <p:cNvSpPr/>
          <p:nvPr/>
        </p:nvSpPr>
        <p:spPr>
          <a:xfrm>
            <a:off x="731520" y="4855464"/>
            <a:ext cx="274320" cy="228600"/>
          </a:xfrm>
          <a:prstGeom prst="rect">
            <a:avLst/>
          </a:prstGeom>
          <a:noFill/>
          <a:ln/>
        </p:spPr>
        <p:txBody>
          <a:bodyPr wrap="square" lIns="0" tIns="0" rIns="0" bIns="0" rtlCol="0" anchor="t"/>
          <a:lstStyle/>
          <a:p>
            <a:pPr algn="l" indent="0" marL="0">
              <a:buNone/>
            </a:pPr>
            <a:r>
              <a:rPr lang="en-US" sz="1050" b="1" dirty="0">
                <a:solidFill>
                  <a:srgbClr val="E85D25"/>
                </a:solidFill>
                <a:latin typeface="Calibri" pitchFamily="34" charset="0"/>
                <a:ea typeface="Calibri" pitchFamily="34" charset="-122"/>
                <a:cs typeface="Calibri" pitchFamily="34" charset="-120"/>
              </a:rPr>
              <a:t>3.</a:t>
            </a:r>
            <a:endParaRPr lang="en-US" sz="1050" dirty="0"/>
          </a:p>
        </p:txBody>
      </p:sp>
      <p:sp>
        <p:nvSpPr>
          <p:cNvPr id="15" name="Text 13"/>
          <p:cNvSpPr/>
          <p:nvPr/>
        </p:nvSpPr>
        <p:spPr>
          <a:xfrm>
            <a:off x="960120" y="4855464"/>
            <a:ext cx="4937760" cy="228600"/>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Freeze backbone · train head for 20 epochs</a:t>
            </a:r>
            <a:endParaRPr lang="en-US" sz="1050" dirty="0"/>
          </a:p>
        </p:txBody>
      </p:sp>
      <p:sp>
        <p:nvSpPr>
          <p:cNvPr id="16" name="Text 14"/>
          <p:cNvSpPr/>
          <p:nvPr/>
        </p:nvSpPr>
        <p:spPr>
          <a:xfrm>
            <a:off x="731520" y="5111496"/>
            <a:ext cx="274320" cy="228600"/>
          </a:xfrm>
          <a:prstGeom prst="rect">
            <a:avLst/>
          </a:prstGeom>
          <a:noFill/>
          <a:ln/>
        </p:spPr>
        <p:txBody>
          <a:bodyPr wrap="square" lIns="0" tIns="0" rIns="0" bIns="0" rtlCol="0" anchor="t"/>
          <a:lstStyle/>
          <a:p>
            <a:pPr algn="l" indent="0" marL="0">
              <a:buNone/>
            </a:pPr>
            <a:r>
              <a:rPr lang="en-US" sz="1050" b="1" dirty="0">
                <a:solidFill>
                  <a:srgbClr val="E85D25"/>
                </a:solidFill>
                <a:latin typeface="Calibri" pitchFamily="34" charset="0"/>
                <a:ea typeface="Calibri" pitchFamily="34" charset="-122"/>
                <a:cs typeface="Calibri" pitchFamily="34" charset="-120"/>
              </a:rPr>
              <a:t>4.</a:t>
            </a:r>
            <a:endParaRPr lang="en-US" sz="1050" dirty="0"/>
          </a:p>
        </p:txBody>
      </p:sp>
      <p:sp>
        <p:nvSpPr>
          <p:cNvPr id="17" name="Text 15"/>
          <p:cNvSpPr/>
          <p:nvPr/>
        </p:nvSpPr>
        <p:spPr>
          <a:xfrm>
            <a:off x="960120" y="5111496"/>
            <a:ext cx="4937760" cy="228600"/>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Augment: rotation, flip, color jitter, mosaic</a:t>
            </a:r>
            <a:endParaRPr lang="en-US" sz="1050" dirty="0"/>
          </a:p>
        </p:txBody>
      </p:sp>
      <p:sp>
        <p:nvSpPr>
          <p:cNvPr id="18" name="Text 16"/>
          <p:cNvSpPr/>
          <p:nvPr/>
        </p:nvSpPr>
        <p:spPr>
          <a:xfrm>
            <a:off x="731520" y="5367528"/>
            <a:ext cx="274320" cy="228600"/>
          </a:xfrm>
          <a:prstGeom prst="rect">
            <a:avLst/>
          </a:prstGeom>
          <a:noFill/>
          <a:ln/>
        </p:spPr>
        <p:txBody>
          <a:bodyPr wrap="square" lIns="0" tIns="0" rIns="0" bIns="0" rtlCol="0" anchor="t"/>
          <a:lstStyle/>
          <a:p>
            <a:pPr algn="l" indent="0" marL="0">
              <a:buNone/>
            </a:pPr>
            <a:r>
              <a:rPr lang="en-US" sz="1050" b="1" dirty="0">
                <a:solidFill>
                  <a:srgbClr val="E85D25"/>
                </a:solidFill>
                <a:latin typeface="Calibri" pitchFamily="34" charset="0"/>
                <a:ea typeface="Calibri" pitchFamily="34" charset="-122"/>
                <a:cs typeface="Calibri" pitchFamily="34" charset="-120"/>
              </a:rPr>
              <a:t>5.</a:t>
            </a:r>
            <a:endParaRPr lang="en-US" sz="1050" dirty="0"/>
          </a:p>
        </p:txBody>
      </p:sp>
      <p:sp>
        <p:nvSpPr>
          <p:cNvPr id="19" name="Text 17"/>
          <p:cNvSpPr/>
          <p:nvPr/>
        </p:nvSpPr>
        <p:spPr>
          <a:xfrm>
            <a:off x="960120" y="5367528"/>
            <a:ext cx="4937760" cy="228600"/>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Unfreeze + low-LR fine-tune for 30 epochs</a:t>
            </a:r>
            <a:endParaRPr lang="en-US" sz="1050" dirty="0"/>
          </a:p>
        </p:txBody>
      </p:sp>
      <p:sp>
        <p:nvSpPr>
          <p:cNvPr id="20" name="Text 18"/>
          <p:cNvSpPr/>
          <p:nvPr/>
        </p:nvSpPr>
        <p:spPr>
          <a:xfrm>
            <a:off x="731520" y="5623560"/>
            <a:ext cx="274320" cy="228600"/>
          </a:xfrm>
          <a:prstGeom prst="rect">
            <a:avLst/>
          </a:prstGeom>
          <a:noFill/>
          <a:ln/>
        </p:spPr>
        <p:txBody>
          <a:bodyPr wrap="square" lIns="0" tIns="0" rIns="0" bIns="0" rtlCol="0" anchor="t"/>
          <a:lstStyle/>
          <a:p>
            <a:pPr algn="l" indent="0" marL="0">
              <a:buNone/>
            </a:pPr>
            <a:r>
              <a:rPr lang="en-US" sz="1050" b="1" dirty="0">
                <a:solidFill>
                  <a:srgbClr val="E85D25"/>
                </a:solidFill>
                <a:latin typeface="Calibri" pitchFamily="34" charset="0"/>
                <a:ea typeface="Calibri" pitchFamily="34" charset="-122"/>
                <a:cs typeface="Calibri" pitchFamily="34" charset="-120"/>
              </a:rPr>
              <a:t>6.</a:t>
            </a:r>
            <a:endParaRPr lang="en-US" sz="1050" dirty="0"/>
          </a:p>
        </p:txBody>
      </p:sp>
      <p:sp>
        <p:nvSpPr>
          <p:cNvPr id="21" name="Text 19"/>
          <p:cNvSpPr/>
          <p:nvPr/>
        </p:nvSpPr>
        <p:spPr>
          <a:xfrm>
            <a:off x="960120" y="5623560"/>
            <a:ext cx="4937760" cy="228600"/>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Evaluate: F1, per-class precision / recall</a:t>
            </a:r>
            <a:endParaRPr lang="en-US" sz="1050" dirty="0"/>
          </a:p>
        </p:txBody>
      </p:sp>
      <p:sp>
        <p:nvSpPr>
          <p:cNvPr id="22" name="Text 20"/>
          <p:cNvSpPr/>
          <p:nvPr/>
        </p:nvSpPr>
        <p:spPr>
          <a:xfrm>
            <a:off x="731520" y="5879592"/>
            <a:ext cx="274320" cy="228600"/>
          </a:xfrm>
          <a:prstGeom prst="rect">
            <a:avLst/>
          </a:prstGeom>
          <a:noFill/>
          <a:ln/>
        </p:spPr>
        <p:txBody>
          <a:bodyPr wrap="square" lIns="0" tIns="0" rIns="0" bIns="0" rtlCol="0" anchor="t"/>
          <a:lstStyle/>
          <a:p>
            <a:pPr algn="l" indent="0" marL="0">
              <a:buNone/>
            </a:pPr>
            <a:r>
              <a:rPr lang="en-US" sz="1050" b="1" dirty="0">
                <a:solidFill>
                  <a:srgbClr val="E85D25"/>
                </a:solidFill>
                <a:latin typeface="Calibri" pitchFamily="34" charset="0"/>
                <a:ea typeface="Calibri" pitchFamily="34" charset="-122"/>
                <a:cs typeface="Calibri" pitchFamily="34" charset="-120"/>
              </a:rPr>
              <a:t>7.</a:t>
            </a:r>
            <a:endParaRPr lang="en-US" sz="1050" dirty="0"/>
          </a:p>
        </p:txBody>
      </p:sp>
      <p:sp>
        <p:nvSpPr>
          <p:cNvPr id="23" name="Text 21"/>
          <p:cNvSpPr/>
          <p:nvPr/>
        </p:nvSpPr>
        <p:spPr>
          <a:xfrm>
            <a:off x="960120" y="5879592"/>
            <a:ext cx="4937760" cy="228600"/>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Export INT8 TFLite for edge inference</a:t>
            </a:r>
            <a:endParaRPr lang="en-US" sz="1050" dirty="0"/>
          </a:p>
        </p:txBody>
      </p:sp>
      <p:sp>
        <p:nvSpPr>
          <p:cNvPr id="24" name="Shape 22"/>
          <p:cNvSpPr/>
          <p:nvPr/>
        </p:nvSpPr>
        <p:spPr>
          <a:xfrm>
            <a:off x="6263640" y="1234440"/>
            <a:ext cx="5486400" cy="4892040"/>
          </a:xfrm>
          <a:prstGeom prst="roundRect">
            <a:avLst>
              <a:gd name="adj" fmla="val 2243"/>
            </a:avLst>
          </a:prstGeom>
          <a:solidFill>
            <a:srgbClr val="DBEAFE"/>
          </a:solidFill>
          <a:ln/>
        </p:spPr>
      </p:sp>
      <p:sp>
        <p:nvSpPr>
          <p:cNvPr id="25" name="Text 23"/>
          <p:cNvSpPr/>
          <p:nvPr/>
        </p:nvSpPr>
        <p:spPr>
          <a:xfrm>
            <a:off x="6492240" y="1417320"/>
            <a:ext cx="5029200" cy="365760"/>
          </a:xfrm>
          <a:prstGeom prst="rect">
            <a:avLst/>
          </a:prstGeom>
          <a:noFill/>
          <a:ln/>
        </p:spPr>
        <p:txBody>
          <a:bodyPr wrap="square" lIns="0" tIns="0" rIns="0" bIns="0" rtlCol="0" anchor="t"/>
          <a:lstStyle/>
          <a:p>
            <a:pPr algn="l" indent="0" marL="0">
              <a:buNone/>
            </a:pPr>
            <a:r>
              <a:rPr lang="en-US" sz="1400" b="1" dirty="0">
                <a:solidFill>
                  <a:srgbClr val="1E3A8A"/>
                </a:solidFill>
                <a:latin typeface="Calibri" pitchFamily="34" charset="0"/>
                <a:ea typeface="Calibri" pitchFamily="34" charset="-122"/>
                <a:cs typeface="Calibri" pitchFamily="34" charset="-120"/>
              </a:rPr>
              <a:t>WEB APPLICATION STACK</a:t>
            </a:r>
            <a:endParaRPr lang="en-US" sz="1400" dirty="0"/>
          </a:p>
        </p:txBody>
      </p:sp>
      <p:sp>
        <p:nvSpPr>
          <p:cNvPr id="26" name="Shape 24"/>
          <p:cNvSpPr/>
          <p:nvPr/>
        </p:nvSpPr>
        <p:spPr>
          <a:xfrm>
            <a:off x="6492240" y="1920240"/>
            <a:ext cx="5029200" cy="777240"/>
          </a:xfrm>
          <a:prstGeom prst="roundRect">
            <a:avLst>
              <a:gd name="adj" fmla="val 9412"/>
            </a:avLst>
          </a:prstGeom>
          <a:solidFill>
            <a:srgbClr val="FFFFFF"/>
          </a:solidFill>
          <a:ln/>
        </p:spPr>
      </p:sp>
      <p:sp>
        <p:nvSpPr>
          <p:cNvPr id="27" name="Text 25"/>
          <p:cNvSpPr/>
          <p:nvPr/>
        </p:nvSpPr>
        <p:spPr>
          <a:xfrm>
            <a:off x="6629400" y="1993392"/>
            <a:ext cx="4754880" cy="320040"/>
          </a:xfrm>
          <a:prstGeom prst="rect">
            <a:avLst/>
          </a:prstGeom>
          <a:noFill/>
          <a:ln/>
        </p:spPr>
        <p:txBody>
          <a:bodyPr wrap="square" lIns="0" tIns="0" rIns="0" bIns="0" rtlCol="0" anchor="t"/>
          <a:lstStyle/>
          <a:p>
            <a:pPr algn="l" indent="0" marL="0">
              <a:buNone/>
            </a:pPr>
            <a:r>
              <a:rPr lang="en-US" sz="1200" b="1" dirty="0">
                <a:solidFill>
                  <a:srgbClr val="2563EB"/>
                </a:solidFill>
                <a:latin typeface="Calibri" pitchFamily="34" charset="0"/>
                <a:ea typeface="Calibri" pitchFamily="34" charset="-122"/>
                <a:cs typeface="Calibri" pitchFamily="34" charset="-120"/>
              </a:rPr>
              <a:t>FRONTEND</a:t>
            </a:r>
            <a:endParaRPr lang="en-US" sz="1200" dirty="0"/>
          </a:p>
        </p:txBody>
      </p:sp>
      <p:sp>
        <p:nvSpPr>
          <p:cNvPr id="28" name="Text 26"/>
          <p:cNvSpPr/>
          <p:nvPr/>
        </p:nvSpPr>
        <p:spPr>
          <a:xfrm>
            <a:off x="6629400" y="2304288"/>
            <a:ext cx="4754880" cy="365760"/>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React + Vite  ·  Leaflet (map)  ·  Recharts (dashboard)  ·  Three.js (digital twin)</a:t>
            </a:r>
            <a:endParaRPr lang="en-US" sz="1050" dirty="0"/>
          </a:p>
        </p:txBody>
      </p:sp>
      <p:sp>
        <p:nvSpPr>
          <p:cNvPr id="29" name="Shape 27"/>
          <p:cNvSpPr/>
          <p:nvPr/>
        </p:nvSpPr>
        <p:spPr>
          <a:xfrm>
            <a:off x="6492240" y="2816352"/>
            <a:ext cx="5029200" cy="777240"/>
          </a:xfrm>
          <a:prstGeom prst="roundRect">
            <a:avLst>
              <a:gd name="adj" fmla="val 9412"/>
            </a:avLst>
          </a:prstGeom>
          <a:solidFill>
            <a:srgbClr val="FFFFFF"/>
          </a:solidFill>
          <a:ln/>
        </p:spPr>
      </p:sp>
      <p:sp>
        <p:nvSpPr>
          <p:cNvPr id="30" name="Text 28"/>
          <p:cNvSpPr/>
          <p:nvPr/>
        </p:nvSpPr>
        <p:spPr>
          <a:xfrm>
            <a:off x="6629400" y="2889504"/>
            <a:ext cx="4754880" cy="320040"/>
          </a:xfrm>
          <a:prstGeom prst="rect">
            <a:avLst/>
          </a:prstGeom>
          <a:noFill/>
          <a:ln/>
        </p:spPr>
        <p:txBody>
          <a:bodyPr wrap="square" lIns="0" tIns="0" rIns="0" bIns="0" rtlCol="0" anchor="t"/>
          <a:lstStyle/>
          <a:p>
            <a:pPr algn="l" indent="0" marL="0">
              <a:buNone/>
            </a:pPr>
            <a:r>
              <a:rPr lang="en-US" sz="1200" b="1" dirty="0">
                <a:solidFill>
                  <a:srgbClr val="1E3A8A"/>
                </a:solidFill>
                <a:latin typeface="Calibri" pitchFamily="34" charset="0"/>
                <a:ea typeface="Calibri" pitchFamily="34" charset="-122"/>
                <a:cs typeface="Calibri" pitchFamily="34" charset="-120"/>
              </a:rPr>
              <a:t>BACKEND</a:t>
            </a:r>
            <a:endParaRPr lang="en-US" sz="1200" dirty="0"/>
          </a:p>
        </p:txBody>
      </p:sp>
      <p:sp>
        <p:nvSpPr>
          <p:cNvPr id="31" name="Text 29"/>
          <p:cNvSpPr/>
          <p:nvPr/>
        </p:nvSpPr>
        <p:spPr>
          <a:xfrm>
            <a:off x="6629400" y="3200400"/>
            <a:ext cx="4754880" cy="365760"/>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FastAPI + Uvicorn  ·  REST endpoints per module  ·  MQTT ingestion  ·  ML inference wrapper</a:t>
            </a:r>
            <a:endParaRPr lang="en-US" sz="1050" dirty="0"/>
          </a:p>
        </p:txBody>
      </p:sp>
      <p:sp>
        <p:nvSpPr>
          <p:cNvPr id="32" name="Shape 30"/>
          <p:cNvSpPr/>
          <p:nvPr/>
        </p:nvSpPr>
        <p:spPr>
          <a:xfrm>
            <a:off x="6492240" y="3712464"/>
            <a:ext cx="5029200" cy="777240"/>
          </a:xfrm>
          <a:prstGeom prst="roundRect">
            <a:avLst>
              <a:gd name="adj" fmla="val 9412"/>
            </a:avLst>
          </a:prstGeom>
          <a:solidFill>
            <a:srgbClr val="FFFFFF"/>
          </a:solidFill>
          <a:ln/>
        </p:spPr>
      </p:sp>
      <p:sp>
        <p:nvSpPr>
          <p:cNvPr id="33" name="Text 31"/>
          <p:cNvSpPr/>
          <p:nvPr/>
        </p:nvSpPr>
        <p:spPr>
          <a:xfrm>
            <a:off x="6629400" y="3785616"/>
            <a:ext cx="4754880" cy="320040"/>
          </a:xfrm>
          <a:prstGeom prst="rect">
            <a:avLst/>
          </a:prstGeom>
          <a:noFill/>
          <a:ln/>
        </p:spPr>
        <p:txBody>
          <a:bodyPr wrap="square" lIns="0" tIns="0" rIns="0" bIns="0" rtlCol="0" anchor="t"/>
          <a:lstStyle/>
          <a:p>
            <a:pPr algn="l" indent="0" marL="0">
              <a:buNone/>
            </a:pPr>
            <a:r>
              <a:rPr lang="en-US" sz="1200" b="1" dirty="0">
                <a:solidFill>
                  <a:srgbClr val="E85D25"/>
                </a:solidFill>
                <a:latin typeface="Calibri" pitchFamily="34" charset="0"/>
                <a:ea typeface="Calibri" pitchFamily="34" charset="-122"/>
                <a:cs typeface="Calibri" pitchFamily="34" charset="-120"/>
              </a:rPr>
              <a:t>DATA + ML</a:t>
            </a:r>
            <a:endParaRPr lang="en-US" sz="1200" dirty="0"/>
          </a:p>
        </p:txBody>
      </p:sp>
      <p:sp>
        <p:nvSpPr>
          <p:cNvPr id="34" name="Text 32"/>
          <p:cNvSpPr/>
          <p:nvPr/>
        </p:nvSpPr>
        <p:spPr>
          <a:xfrm>
            <a:off x="6629400" y="4096512"/>
            <a:ext cx="4754880" cy="365760"/>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PostgreSQL + TimescaleDB  ·  YOLOv8n (fine-tuned)  ·  XGBoost forecast  ·  SHAP  ·  OR-Tools</a:t>
            </a:r>
            <a:endParaRPr lang="en-US" sz="1050" dirty="0"/>
          </a:p>
        </p:txBody>
      </p:sp>
      <p:sp>
        <p:nvSpPr>
          <p:cNvPr id="35" name="Text 33"/>
          <p:cNvSpPr/>
          <p:nvPr/>
        </p:nvSpPr>
        <p:spPr>
          <a:xfrm>
            <a:off x="6492240" y="4892040"/>
            <a:ext cx="5029200" cy="274320"/>
          </a:xfrm>
          <a:prstGeom prst="rect">
            <a:avLst/>
          </a:prstGeom>
          <a:noFill/>
          <a:ln/>
        </p:spPr>
        <p:txBody>
          <a:bodyPr wrap="square" lIns="0" tIns="0" rIns="0" bIns="0" rtlCol="0" anchor="t"/>
          <a:lstStyle/>
          <a:p>
            <a:pPr algn="l" indent="0" marL="0">
              <a:buNone/>
            </a:pPr>
            <a:r>
              <a:rPr lang="en-US" sz="1100" b="1" dirty="0">
                <a:solidFill>
                  <a:srgbClr val="1E3A8A"/>
                </a:solidFill>
                <a:latin typeface="Calibri" pitchFamily="34" charset="0"/>
                <a:ea typeface="Calibri" pitchFamily="34" charset="-122"/>
                <a:cs typeface="Calibri" pitchFamily="34" charset="-120"/>
              </a:rPr>
              <a:t>6 DASHBOARD MODULES</a:t>
            </a:r>
            <a:endParaRPr lang="en-US" sz="1100" dirty="0"/>
          </a:p>
        </p:txBody>
      </p:sp>
      <p:sp>
        <p:nvSpPr>
          <p:cNvPr id="36" name="Shape 34"/>
          <p:cNvSpPr/>
          <p:nvPr/>
        </p:nvSpPr>
        <p:spPr>
          <a:xfrm>
            <a:off x="6492240" y="5212080"/>
            <a:ext cx="800100" cy="320040"/>
          </a:xfrm>
          <a:prstGeom prst="roundRect">
            <a:avLst>
              <a:gd name="adj" fmla="val 17143"/>
            </a:avLst>
          </a:prstGeom>
          <a:solidFill>
            <a:srgbClr val="FFFFFF"/>
          </a:solidFill>
          <a:ln/>
        </p:spPr>
      </p:sp>
      <p:sp>
        <p:nvSpPr>
          <p:cNvPr id="37" name="Text 35"/>
          <p:cNvSpPr/>
          <p:nvPr/>
        </p:nvSpPr>
        <p:spPr>
          <a:xfrm>
            <a:off x="6492240" y="5212080"/>
            <a:ext cx="800100" cy="320040"/>
          </a:xfrm>
          <a:prstGeom prst="rect">
            <a:avLst/>
          </a:prstGeom>
          <a:noFill/>
          <a:ln/>
        </p:spPr>
        <p:txBody>
          <a:bodyPr wrap="square" lIns="0" tIns="0" rIns="0" bIns="0" rtlCol="0" anchor="ctr"/>
          <a:lstStyle/>
          <a:p>
            <a:pPr algn="ctr" indent="0" marL="0">
              <a:buNone/>
            </a:pPr>
            <a:r>
              <a:rPr lang="en-US" sz="800" b="1" dirty="0">
                <a:solidFill>
                  <a:srgbClr val="1E3A8A"/>
                </a:solidFill>
                <a:latin typeface="Calibri" pitchFamily="34" charset="0"/>
                <a:ea typeface="Calibri" pitchFamily="34" charset="-122"/>
                <a:cs typeface="Calibri" pitchFamily="34" charset="-120"/>
              </a:rPr>
              <a:t>LIVE MAP</a:t>
            </a:r>
            <a:endParaRPr lang="en-US" sz="800" dirty="0"/>
          </a:p>
        </p:txBody>
      </p:sp>
      <p:sp>
        <p:nvSpPr>
          <p:cNvPr id="38" name="Shape 36"/>
          <p:cNvSpPr/>
          <p:nvPr/>
        </p:nvSpPr>
        <p:spPr>
          <a:xfrm>
            <a:off x="7338060" y="5212080"/>
            <a:ext cx="800100" cy="320040"/>
          </a:xfrm>
          <a:prstGeom prst="roundRect">
            <a:avLst>
              <a:gd name="adj" fmla="val 17143"/>
            </a:avLst>
          </a:prstGeom>
          <a:solidFill>
            <a:srgbClr val="FFFFFF"/>
          </a:solidFill>
          <a:ln/>
        </p:spPr>
      </p:sp>
      <p:sp>
        <p:nvSpPr>
          <p:cNvPr id="39" name="Text 37"/>
          <p:cNvSpPr/>
          <p:nvPr/>
        </p:nvSpPr>
        <p:spPr>
          <a:xfrm>
            <a:off x="7338060" y="5212080"/>
            <a:ext cx="800100" cy="320040"/>
          </a:xfrm>
          <a:prstGeom prst="rect">
            <a:avLst/>
          </a:prstGeom>
          <a:noFill/>
          <a:ln/>
        </p:spPr>
        <p:txBody>
          <a:bodyPr wrap="square" lIns="0" tIns="0" rIns="0" bIns="0" rtlCol="0" anchor="ctr"/>
          <a:lstStyle/>
          <a:p>
            <a:pPr algn="ctr" indent="0" marL="0">
              <a:buNone/>
            </a:pPr>
            <a:r>
              <a:rPr lang="en-US" sz="800" b="1" dirty="0">
                <a:solidFill>
                  <a:srgbClr val="1E3A8A"/>
                </a:solidFill>
                <a:latin typeface="Calibri" pitchFamily="34" charset="0"/>
                <a:ea typeface="Calibri" pitchFamily="34" charset="-122"/>
                <a:cs typeface="Calibri" pitchFamily="34" charset="-120"/>
              </a:rPr>
              <a:t>PREDICTION</a:t>
            </a:r>
            <a:endParaRPr lang="en-US" sz="800" dirty="0"/>
          </a:p>
        </p:txBody>
      </p:sp>
      <p:sp>
        <p:nvSpPr>
          <p:cNvPr id="40" name="Shape 38"/>
          <p:cNvSpPr/>
          <p:nvPr/>
        </p:nvSpPr>
        <p:spPr>
          <a:xfrm>
            <a:off x="8183880" y="5212080"/>
            <a:ext cx="800100" cy="320040"/>
          </a:xfrm>
          <a:prstGeom prst="roundRect">
            <a:avLst>
              <a:gd name="adj" fmla="val 17143"/>
            </a:avLst>
          </a:prstGeom>
          <a:solidFill>
            <a:srgbClr val="FFFFFF"/>
          </a:solidFill>
          <a:ln/>
        </p:spPr>
      </p:sp>
      <p:sp>
        <p:nvSpPr>
          <p:cNvPr id="41" name="Text 39"/>
          <p:cNvSpPr/>
          <p:nvPr/>
        </p:nvSpPr>
        <p:spPr>
          <a:xfrm>
            <a:off x="8183880" y="5212080"/>
            <a:ext cx="800100" cy="320040"/>
          </a:xfrm>
          <a:prstGeom prst="rect">
            <a:avLst/>
          </a:prstGeom>
          <a:noFill/>
          <a:ln/>
        </p:spPr>
        <p:txBody>
          <a:bodyPr wrap="square" lIns="0" tIns="0" rIns="0" bIns="0" rtlCol="0" anchor="ctr"/>
          <a:lstStyle/>
          <a:p>
            <a:pPr algn="ctr" indent="0" marL="0">
              <a:buNone/>
            </a:pPr>
            <a:r>
              <a:rPr lang="en-US" sz="800" b="1" dirty="0">
                <a:solidFill>
                  <a:srgbClr val="1E3A8A"/>
                </a:solidFill>
                <a:latin typeface="Calibri" pitchFamily="34" charset="0"/>
                <a:ea typeface="Calibri" pitchFamily="34" charset="-122"/>
                <a:cs typeface="Calibri" pitchFamily="34" charset="-120"/>
              </a:rPr>
              <a:t>ROUTES</a:t>
            </a:r>
            <a:endParaRPr lang="en-US" sz="800" dirty="0"/>
          </a:p>
        </p:txBody>
      </p:sp>
      <p:sp>
        <p:nvSpPr>
          <p:cNvPr id="42" name="Shape 40"/>
          <p:cNvSpPr/>
          <p:nvPr/>
        </p:nvSpPr>
        <p:spPr>
          <a:xfrm>
            <a:off x="9029700" y="5212080"/>
            <a:ext cx="800100" cy="320040"/>
          </a:xfrm>
          <a:prstGeom prst="roundRect">
            <a:avLst>
              <a:gd name="adj" fmla="val 17143"/>
            </a:avLst>
          </a:prstGeom>
          <a:solidFill>
            <a:srgbClr val="FFFFFF"/>
          </a:solidFill>
          <a:ln/>
        </p:spPr>
      </p:sp>
      <p:sp>
        <p:nvSpPr>
          <p:cNvPr id="43" name="Text 41"/>
          <p:cNvSpPr/>
          <p:nvPr/>
        </p:nvSpPr>
        <p:spPr>
          <a:xfrm>
            <a:off x="9029700" y="5212080"/>
            <a:ext cx="800100" cy="320040"/>
          </a:xfrm>
          <a:prstGeom prst="rect">
            <a:avLst/>
          </a:prstGeom>
          <a:noFill/>
          <a:ln/>
        </p:spPr>
        <p:txBody>
          <a:bodyPr wrap="square" lIns="0" tIns="0" rIns="0" bIns="0" rtlCol="0" anchor="ctr"/>
          <a:lstStyle/>
          <a:p>
            <a:pPr algn="ctr" indent="0" marL="0">
              <a:buNone/>
            </a:pPr>
            <a:r>
              <a:rPr lang="en-US" sz="800" b="1" dirty="0">
                <a:solidFill>
                  <a:srgbClr val="1E3A8A"/>
                </a:solidFill>
                <a:latin typeface="Calibri" pitchFamily="34" charset="0"/>
                <a:ea typeface="Calibri" pitchFamily="34" charset="-122"/>
                <a:cs typeface="Calibri" pitchFamily="34" charset="-120"/>
              </a:rPr>
              <a:t>DIGITAL TWIN</a:t>
            </a:r>
            <a:endParaRPr lang="en-US" sz="800" dirty="0"/>
          </a:p>
        </p:txBody>
      </p:sp>
      <p:sp>
        <p:nvSpPr>
          <p:cNvPr id="44" name="Shape 42"/>
          <p:cNvSpPr/>
          <p:nvPr/>
        </p:nvSpPr>
        <p:spPr>
          <a:xfrm>
            <a:off x="9875520" y="5212080"/>
            <a:ext cx="800100" cy="320040"/>
          </a:xfrm>
          <a:prstGeom prst="roundRect">
            <a:avLst>
              <a:gd name="adj" fmla="val 17143"/>
            </a:avLst>
          </a:prstGeom>
          <a:solidFill>
            <a:srgbClr val="FFFFFF"/>
          </a:solidFill>
          <a:ln/>
        </p:spPr>
      </p:sp>
      <p:sp>
        <p:nvSpPr>
          <p:cNvPr id="45" name="Text 43"/>
          <p:cNvSpPr/>
          <p:nvPr/>
        </p:nvSpPr>
        <p:spPr>
          <a:xfrm>
            <a:off x="9875520" y="5212080"/>
            <a:ext cx="800100" cy="320040"/>
          </a:xfrm>
          <a:prstGeom prst="rect">
            <a:avLst/>
          </a:prstGeom>
          <a:noFill/>
          <a:ln/>
        </p:spPr>
        <p:txBody>
          <a:bodyPr wrap="square" lIns="0" tIns="0" rIns="0" bIns="0" rtlCol="0" anchor="ctr"/>
          <a:lstStyle/>
          <a:p>
            <a:pPr algn="ctr" indent="0" marL="0">
              <a:buNone/>
            </a:pPr>
            <a:r>
              <a:rPr lang="en-US" sz="800" b="1" dirty="0">
                <a:solidFill>
                  <a:srgbClr val="1E3A8A"/>
                </a:solidFill>
                <a:latin typeface="Calibri" pitchFamily="34" charset="0"/>
                <a:ea typeface="Calibri" pitchFamily="34" charset="-122"/>
                <a:cs typeface="Calibri" pitchFamily="34" charset="-120"/>
              </a:rPr>
              <a:t>KPIs</a:t>
            </a:r>
            <a:endParaRPr lang="en-US" sz="800" dirty="0"/>
          </a:p>
        </p:txBody>
      </p:sp>
      <p:sp>
        <p:nvSpPr>
          <p:cNvPr id="46" name="Shape 44"/>
          <p:cNvSpPr/>
          <p:nvPr/>
        </p:nvSpPr>
        <p:spPr>
          <a:xfrm>
            <a:off x="10721340" y="5212080"/>
            <a:ext cx="800100" cy="320040"/>
          </a:xfrm>
          <a:prstGeom prst="roundRect">
            <a:avLst>
              <a:gd name="adj" fmla="val 17143"/>
            </a:avLst>
          </a:prstGeom>
          <a:solidFill>
            <a:srgbClr val="FFFFFF"/>
          </a:solidFill>
          <a:ln/>
        </p:spPr>
      </p:sp>
      <p:sp>
        <p:nvSpPr>
          <p:cNvPr id="47" name="Text 45"/>
          <p:cNvSpPr/>
          <p:nvPr/>
        </p:nvSpPr>
        <p:spPr>
          <a:xfrm>
            <a:off x="10721340" y="5212080"/>
            <a:ext cx="800100" cy="320040"/>
          </a:xfrm>
          <a:prstGeom prst="rect">
            <a:avLst/>
          </a:prstGeom>
          <a:noFill/>
          <a:ln/>
        </p:spPr>
        <p:txBody>
          <a:bodyPr wrap="square" lIns="0" tIns="0" rIns="0" bIns="0" rtlCol="0" anchor="ctr"/>
          <a:lstStyle/>
          <a:p>
            <a:pPr algn="ctr" indent="0" marL="0">
              <a:buNone/>
            </a:pPr>
            <a:r>
              <a:rPr lang="en-US" sz="800" b="1" dirty="0">
                <a:solidFill>
                  <a:srgbClr val="1E3A8A"/>
                </a:solidFill>
                <a:latin typeface="Calibri" pitchFamily="34" charset="0"/>
                <a:ea typeface="Calibri" pitchFamily="34" charset="-122"/>
                <a:cs typeface="Calibri" pitchFamily="34" charset="-120"/>
              </a:rPr>
              <a:t>ALERTS</a:t>
            </a:r>
            <a:endParaRPr lang="en-US" sz="800" dirty="0"/>
          </a:p>
        </p:txBody>
      </p:sp>
      <p:sp>
        <p:nvSpPr>
          <p:cNvPr id="48" name="Shape 46"/>
          <p:cNvSpPr/>
          <p:nvPr/>
        </p:nvSpPr>
        <p:spPr>
          <a:xfrm>
            <a:off x="457200" y="6263640"/>
            <a:ext cx="11247120" cy="365760"/>
          </a:xfrm>
          <a:prstGeom prst="roundRect">
            <a:avLst>
              <a:gd name="adj" fmla="val 20000"/>
            </a:avLst>
          </a:prstGeom>
          <a:solidFill>
            <a:srgbClr val="DCFCE7"/>
          </a:solidFill>
          <a:ln/>
        </p:spPr>
      </p:sp>
      <p:sp>
        <p:nvSpPr>
          <p:cNvPr id="49" name="Text 47"/>
          <p:cNvSpPr/>
          <p:nvPr/>
        </p:nvSpPr>
        <p:spPr>
          <a:xfrm>
            <a:off x="640080" y="6263640"/>
            <a:ext cx="10972800" cy="365760"/>
          </a:xfrm>
          <a:prstGeom prst="rect">
            <a:avLst/>
          </a:prstGeom>
          <a:noFill/>
          <a:ln/>
        </p:spPr>
        <p:txBody>
          <a:bodyPr wrap="square" lIns="0" tIns="0" rIns="0" bIns="0" rtlCol="0" anchor="ctr"/>
          <a:lstStyle/>
          <a:p>
            <a:pPr algn="l" indent="0" marL="0">
              <a:buNone/>
            </a:pPr>
            <a:r>
              <a:rPr lang="en-US" sz="1100" b="1" dirty="0">
                <a:solidFill>
                  <a:srgbClr val="16A34A"/>
                </a:solidFill>
                <a:latin typeface="Calibri" pitchFamily="34" charset="0"/>
                <a:ea typeface="Calibri" pitchFamily="34" charset="-122"/>
                <a:cs typeface="Calibri" pitchFamily="34" charset="-120"/>
              </a:rPr>
              <a:t>Open-source · edge-first · privacy-preserving  ·  </a:t>
            </a:r>
            <a:pPr algn="l" indent="0" marL="0">
              <a:buNone/>
            </a:pPr>
            <a:r>
              <a:rPr lang="en-US" sz="1100" dirty="0">
                <a:solidFill>
                  <a:srgbClr val="1F2937"/>
                </a:solidFill>
                <a:latin typeface="Calibri" pitchFamily="34" charset="0"/>
                <a:ea typeface="Calibri" pitchFamily="34" charset="-122"/>
                <a:cs typeface="Calibri" pitchFamily="34" charset="-120"/>
              </a:rPr>
              <a:t>target unit cost &lt; $200 / bin  ·  deployable anywhere in the world.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548640" cy="502920"/>
          </a:xfrm>
          <a:prstGeom prst="roundRect">
            <a:avLst>
              <a:gd name="adj" fmla="val 14545"/>
            </a:avLst>
          </a:prstGeom>
          <a:solidFill>
            <a:srgbClr val="E85D25"/>
          </a:solidFill>
          <a:ln/>
        </p:spPr>
      </p:sp>
      <p:sp>
        <p:nvSpPr>
          <p:cNvPr id="3" name="Text 1"/>
          <p:cNvSpPr/>
          <p:nvPr/>
        </p:nvSpPr>
        <p:spPr>
          <a:xfrm>
            <a:off x="457200" y="365760"/>
            <a:ext cx="54864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05</a:t>
            </a:r>
            <a:endParaRPr lang="en-US" sz="2000" dirty="0"/>
          </a:p>
        </p:txBody>
      </p:sp>
      <p:sp>
        <p:nvSpPr>
          <p:cNvPr id="4" name="Text 2"/>
          <p:cNvSpPr/>
          <p:nvPr/>
        </p:nvSpPr>
        <p:spPr>
          <a:xfrm>
            <a:off x="1143000" y="320040"/>
            <a:ext cx="8686800" cy="594360"/>
          </a:xfrm>
          <a:prstGeom prst="rect">
            <a:avLst/>
          </a:prstGeom>
          <a:noFill/>
          <a:ln/>
        </p:spPr>
        <p:txBody>
          <a:bodyPr wrap="square" lIns="0" tIns="0" rIns="0" bIns="0" rtlCol="0" anchor="ctr"/>
          <a:lstStyle/>
          <a:p>
            <a:pPr algn="l" indent="0" marL="0">
              <a:buNone/>
            </a:pPr>
            <a:r>
              <a:rPr lang="en-US" sz="2800" b="1" dirty="0">
                <a:solidFill>
                  <a:srgbClr val="1E3A8A"/>
                </a:solidFill>
                <a:latin typeface="Calibri" pitchFamily="34" charset="0"/>
                <a:ea typeface="Calibri" pitchFamily="34" charset="-122"/>
                <a:cs typeface="Calibri" pitchFamily="34" charset="-120"/>
              </a:rPr>
              <a:t>What We Plan to Build</a:t>
            </a:r>
            <a:endParaRPr lang="en-US" sz="2800" dirty="0"/>
          </a:p>
        </p:txBody>
      </p:sp>
      <p:sp>
        <p:nvSpPr>
          <p:cNvPr id="5" name="Text 3"/>
          <p:cNvSpPr/>
          <p:nvPr/>
        </p:nvSpPr>
        <p:spPr>
          <a:xfrm>
            <a:off x="9144000" y="384048"/>
            <a:ext cx="2651760" cy="457200"/>
          </a:xfrm>
          <a:prstGeom prst="rect">
            <a:avLst/>
          </a:prstGeom>
          <a:noFill/>
          <a:ln/>
        </p:spPr>
        <p:txBody>
          <a:bodyPr wrap="square" lIns="0" tIns="0" rIns="0" bIns="0" rtlCol="0" anchor="ctr"/>
          <a:lstStyle/>
          <a:p>
            <a:pPr algn="r" indent="0" marL="0">
              <a:buNone/>
            </a:pPr>
            <a:r>
              <a:rPr lang="en-US" sz="1100" i="1" dirty="0">
                <a:solidFill>
                  <a:srgbClr val="4B5563"/>
                </a:solidFill>
                <a:latin typeface="Calibri" pitchFamily="34" charset="0"/>
                <a:ea typeface="Calibri" pitchFamily="34" charset="-122"/>
                <a:cs typeface="Calibri" pitchFamily="34" charset="-120"/>
              </a:rPr>
              <a:t>72-hour build plan, cut-line pre-decided</a:t>
            </a:r>
            <a:endParaRPr lang="en-US" sz="1100" dirty="0"/>
          </a:p>
        </p:txBody>
      </p:sp>
      <p:sp>
        <p:nvSpPr>
          <p:cNvPr id="6" name="Shape 4"/>
          <p:cNvSpPr/>
          <p:nvPr/>
        </p:nvSpPr>
        <p:spPr>
          <a:xfrm>
            <a:off x="457200" y="1234440"/>
            <a:ext cx="3703320" cy="4206240"/>
          </a:xfrm>
          <a:prstGeom prst="roundRect">
            <a:avLst>
              <a:gd name="adj" fmla="val 2963"/>
            </a:avLst>
          </a:prstGeom>
          <a:solidFill>
            <a:srgbClr val="F3F4F6"/>
          </a:solidFill>
          <a:ln/>
        </p:spPr>
      </p:sp>
      <p:sp>
        <p:nvSpPr>
          <p:cNvPr id="7" name="Shape 5"/>
          <p:cNvSpPr/>
          <p:nvPr/>
        </p:nvSpPr>
        <p:spPr>
          <a:xfrm>
            <a:off x="594360" y="1417320"/>
            <a:ext cx="3429000" cy="548640"/>
          </a:xfrm>
          <a:prstGeom prst="roundRect">
            <a:avLst>
              <a:gd name="adj" fmla="val 10000"/>
            </a:avLst>
          </a:prstGeom>
          <a:solidFill>
            <a:srgbClr val="16A34A"/>
          </a:solidFill>
          <a:ln/>
        </p:spPr>
      </p:sp>
      <p:sp>
        <p:nvSpPr>
          <p:cNvPr id="8" name="Text 6"/>
          <p:cNvSpPr/>
          <p:nvPr/>
        </p:nvSpPr>
        <p:spPr>
          <a:xfrm>
            <a:off x="594360" y="1417320"/>
            <a:ext cx="342900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DAY 1</a:t>
            </a:r>
            <a:pPr algn="ctr" indent="0" marL="0">
              <a:buNone/>
            </a:pPr>
            <a:r>
              <a:rPr lang="en-US" sz="1150" i="1" dirty="0">
                <a:solidFill>
                  <a:srgbClr val="FFFFFF"/>
                </a:solidFill>
                <a:latin typeface="Calibri" pitchFamily="34" charset="0"/>
                <a:ea typeface="Calibri" pitchFamily="34" charset="-122"/>
                <a:cs typeface="Calibri" pitchFamily="34" charset="-120"/>
              </a:rPr>
              <a:t>   15 Aug  (tonight)</a:t>
            </a:r>
            <a:endParaRPr lang="en-US" sz="1500" dirty="0"/>
          </a:p>
        </p:txBody>
      </p:sp>
      <p:sp>
        <p:nvSpPr>
          <p:cNvPr id="9" name="Text 7"/>
          <p:cNvSpPr/>
          <p:nvPr/>
        </p:nvSpPr>
        <p:spPr>
          <a:xfrm>
            <a:off x="640080" y="2212848"/>
            <a:ext cx="228600" cy="274320"/>
          </a:xfrm>
          <a:prstGeom prst="rect">
            <a:avLst/>
          </a:prstGeom>
          <a:noFill/>
          <a:ln/>
        </p:spPr>
        <p:txBody>
          <a:bodyPr wrap="square" lIns="0" tIns="0" rIns="0" bIns="0" rtlCol="0" anchor="t"/>
          <a:lstStyle/>
          <a:p>
            <a:pPr algn="l" indent="0" marL="0">
              <a:buNone/>
            </a:pPr>
            <a:r>
              <a:rPr lang="en-US" sz="1400" b="1" dirty="0">
                <a:solidFill>
                  <a:srgbClr val="16A34A"/>
                </a:solidFill>
                <a:latin typeface="Calibri" pitchFamily="34" charset="0"/>
                <a:ea typeface="Calibri" pitchFamily="34" charset="-122"/>
                <a:cs typeface="Calibri" pitchFamily="34" charset="-120"/>
              </a:rPr>
              <a:t>▸</a:t>
            </a:r>
            <a:endParaRPr lang="en-US" sz="1400" dirty="0"/>
          </a:p>
        </p:txBody>
      </p:sp>
      <p:sp>
        <p:nvSpPr>
          <p:cNvPr id="10" name="Text 8"/>
          <p:cNvSpPr/>
          <p:nvPr/>
        </p:nvSpPr>
        <p:spPr>
          <a:xfrm>
            <a:off x="914400" y="2194560"/>
            <a:ext cx="3108960" cy="502920"/>
          </a:xfrm>
          <a:prstGeom prst="rect">
            <a:avLst/>
          </a:prstGeom>
          <a:noFill/>
          <a:ln/>
        </p:spPr>
        <p:txBody>
          <a:bodyPr wrap="square" lIns="0" tIns="0" rIns="0" bIns="0" rtlCol="0" anchor="t"/>
          <a:lstStyle/>
          <a:p>
            <a:pPr algn="l" indent="0" marL="0">
              <a:buNone/>
            </a:pPr>
            <a:r>
              <a:rPr lang="en-US" sz="1100" dirty="0">
                <a:solidFill>
                  <a:srgbClr val="1F2937"/>
                </a:solidFill>
                <a:latin typeface="Calibri" pitchFamily="34" charset="0"/>
                <a:ea typeface="Calibri" pitchFamily="34" charset="-122"/>
                <a:cs typeface="Calibri" pitchFamily="34" charset="-120"/>
              </a:rPr>
              <a:t>Repo scaffolded on GitHub + CI green</a:t>
            </a:r>
            <a:endParaRPr lang="en-US" sz="1100" dirty="0"/>
          </a:p>
        </p:txBody>
      </p:sp>
      <p:sp>
        <p:nvSpPr>
          <p:cNvPr id="11" name="Text 9"/>
          <p:cNvSpPr/>
          <p:nvPr/>
        </p:nvSpPr>
        <p:spPr>
          <a:xfrm>
            <a:off x="640080" y="2807208"/>
            <a:ext cx="228600" cy="274320"/>
          </a:xfrm>
          <a:prstGeom prst="rect">
            <a:avLst/>
          </a:prstGeom>
          <a:noFill/>
          <a:ln/>
        </p:spPr>
        <p:txBody>
          <a:bodyPr wrap="square" lIns="0" tIns="0" rIns="0" bIns="0" rtlCol="0" anchor="t"/>
          <a:lstStyle/>
          <a:p>
            <a:pPr algn="l" indent="0" marL="0">
              <a:buNone/>
            </a:pPr>
            <a:r>
              <a:rPr lang="en-US" sz="1400" b="1" dirty="0">
                <a:solidFill>
                  <a:srgbClr val="16A34A"/>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914400" y="2788920"/>
            <a:ext cx="3108960" cy="502920"/>
          </a:xfrm>
          <a:prstGeom prst="rect">
            <a:avLst/>
          </a:prstGeom>
          <a:noFill/>
          <a:ln/>
        </p:spPr>
        <p:txBody>
          <a:bodyPr wrap="square" lIns="0" tIns="0" rIns="0" bIns="0" rtlCol="0" anchor="t"/>
          <a:lstStyle/>
          <a:p>
            <a:pPr algn="l" indent="0" marL="0">
              <a:buNone/>
            </a:pPr>
            <a:r>
              <a:rPr lang="en-US" sz="1100" dirty="0">
                <a:solidFill>
                  <a:srgbClr val="1F2937"/>
                </a:solidFill>
                <a:latin typeface="Calibri" pitchFamily="34" charset="0"/>
                <a:ea typeface="Calibri" pitchFamily="34" charset="-122"/>
                <a:cs typeface="Calibri" pitchFamily="34" charset="-120"/>
              </a:rPr>
              <a:t>YOLOv8n fine-tuning launched on TrashNet + TACO</a:t>
            </a:r>
            <a:endParaRPr lang="en-US" sz="1100" dirty="0"/>
          </a:p>
        </p:txBody>
      </p:sp>
      <p:sp>
        <p:nvSpPr>
          <p:cNvPr id="13" name="Text 11"/>
          <p:cNvSpPr/>
          <p:nvPr/>
        </p:nvSpPr>
        <p:spPr>
          <a:xfrm>
            <a:off x="640080" y="3401568"/>
            <a:ext cx="228600" cy="274320"/>
          </a:xfrm>
          <a:prstGeom prst="rect">
            <a:avLst/>
          </a:prstGeom>
          <a:noFill/>
          <a:ln/>
        </p:spPr>
        <p:txBody>
          <a:bodyPr wrap="square" lIns="0" tIns="0" rIns="0" bIns="0" rtlCol="0" anchor="t"/>
          <a:lstStyle/>
          <a:p>
            <a:pPr algn="l" indent="0" marL="0">
              <a:buNone/>
            </a:pPr>
            <a:r>
              <a:rPr lang="en-US" sz="1400" b="1" dirty="0">
                <a:solidFill>
                  <a:srgbClr val="16A34A"/>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914400" y="3383280"/>
            <a:ext cx="3108960" cy="502920"/>
          </a:xfrm>
          <a:prstGeom prst="rect">
            <a:avLst/>
          </a:prstGeom>
          <a:noFill/>
          <a:ln/>
        </p:spPr>
        <p:txBody>
          <a:bodyPr wrap="square" lIns="0" tIns="0" rIns="0" bIns="0" rtlCol="0" anchor="t"/>
          <a:lstStyle/>
          <a:p>
            <a:pPr algn="l" indent="0" marL="0">
              <a:buNone/>
            </a:pPr>
            <a:r>
              <a:rPr lang="en-US" sz="1100" dirty="0">
                <a:solidFill>
                  <a:srgbClr val="1F2937"/>
                </a:solidFill>
                <a:latin typeface="Calibri" pitchFamily="34" charset="0"/>
                <a:ea typeface="Calibri" pitchFamily="34" charset="-122"/>
                <a:cs typeface="Calibri" pitchFamily="34" charset="-120"/>
              </a:rPr>
              <a:t>FastAPI skeleton + DB schema migrated</a:t>
            </a:r>
            <a:endParaRPr lang="en-US" sz="1100" dirty="0"/>
          </a:p>
        </p:txBody>
      </p:sp>
      <p:sp>
        <p:nvSpPr>
          <p:cNvPr id="15" name="Text 13"/>
          <p:cNvSpPr/>
          <p:nvPr/>
        </p:nvSpPr>
        <p:spPr>
          <a:xfrm>
            <a:off x="640080" y="3995928"/>
            <a:ext cx="228600" cy="274320"/>
          </a:xfrm>
          <a:prstGeom prst="rect">
            <a:avLst/>
          </a:prstGeom>
          <a:noFill/>
          <a:ln/>
        </p:spPr>
        <p:txBody>
          <a:bodyPr wrap="square" lIns="0" tIns="0" rIns="0" bIns="0" rtlCol="0" anchor="t"/>
          <a:lstStyle/>
          <a:p>
            <a:pPr algn="l" indent="0" marL="0">
              <a:buNone/>
            </a:pPr>
            <a:r>
              <a:rPr lang="en-US" sz="1400" b="1" dirty="0">
                <a:solidFill>
                  <a:srgbClr val="16A34A"/>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914400" y="3977640"/>
            <a:ext cx="3108960" cy="502920"/>
          </a:xfrm>
          <a:prstGeom prst="rect">
            <a:avLst/>
          </a:prstGeom>
          <a:noFill/>
          <a:ln/>
        </p:spPr>
        <p:txBody>
          <a:bodyPr wrap="square" lIns="0" tIns="0" rIns="0" bIns="0" rtlCol="0" anchor="t"/>
          <a:lstStyle/>
          <a:p>
            <a:pPr algn="l" indent="0" marL="0">
              <a:buNone/>
            </a:pPr>
            <a:r>
              <a:rPr lang="en-US" sz="1100" dirty="0">
                <a:solidFill>
                  <a:srgbClr val="1F2937"/>
                </a:solidFill>
                <a:latin typeface="Calibri" pitchFamily="34" charset="0"/>
                <a:ea typeface="Calibri" pitchFamily="34" charset="-122"/>
                <a:cs typeface="Calibri" pitchFamily="34" charset="-120"/>
              </a:rPr>
              <a:t>React project bootstrapped + routing</a:t>
            </a:r>
            <a:endParaRPr lang="en-US" sz="1100" dirty="0"/>
          </a:p>
        </p:txBody>
      </p:sp>
      <p:sp>
        <p:nvSpPr>
          <p:cNvPr id="17" name="Text 15"/>
          <p:cNvSpPr/>
          <p:nvPr/>
        </p:nvSpPr>
        <p:spPr>
          <a:xfrm>
            <a:off x="640080" y="4590288"/>
            <a:ext cx="228600" cy="274320"/>
          </a:xfrm>
          <a:prstGeom prst="rect">
            <a:avLst/>
          </a:prstGeom>
          <a:noFill/>
          <a:ln/>
        </p:spPr>
        <p:txBody>
          <a:bodyPr wrap="square" lIns="0" tIns="0" rIns="0" bIns="0" rtlCol="0" anchor="t"/>
          <a:lstStyle/>
          <a:p>
            <a:pPr algn="l" indent="0" marL="0">
              <a:buNone/>
            </a:pPr>
            <a:r>
              <a:rPr lang="en-US" sz="1400" b="1" dirty="0">
                <a:solidFill>
                  <a:srgbClr val="16A34A"/>
                </a:solidFill>
                <a:latin typeface="Calibri" pitchFamily="34" charset="0"/>
                <a:ea typeface="Calibri" pitchFamily="34" charset="-122"/>
                <a:cs typeface="Calibri" pitchFamily="34" charset="-120"/>
              </a:rPr>
              <a:t>▸</a:t>
            </a:r>
            <a:endParaRPr lang="en-US" sz="1400" dirty="0"/>
          </a:p>
        </p:txBody>
      </p:sp>
      <p:sp>
        <p:nvSpPr>
          <p:cNvPr id="18" name="Text 16"/>
          <p:cNvSpPr/>
          <p:nvPr/>
        </p:nvSpPr>
        <p:spPr>
          <a:xfrm>
            <a:off x="914400" y="4572000"/>
            <a:ext cx="3108960" cy="502920"/>
          </a:xfrm>
          <a:prstGeom prst="rect">
            <a:avLst/>
          </a:prstGeom>
          <a:noFill/>
          <a:ln/>
        </p:spPr>
        <p:txBody>
          <a:bodyPr wrap="square" lIns="0" tIns="0" rIns="0" bIns="0" rtlCol="0" anchor="t"/>
          <a:lstStyle/>
          <a:p>
            <a:pPr algn="l" indent="0" marL="0">
              <a:buNone/>
            </a:pPr>
            <a:r>
              <a:rPr lang="en-US" sz="1100" dirty="0">
                <a:solidFill>
                  <a:srgbClr val="1F2937"/>
                </a:solidFill>
                <a:latin typeface="Calibri" pitchFamily="34" charset="0"/>
                <a:ea typeface="Calibri" pitchFamily="34" charset="-122"/>
                <a:cs typeface="Calibri" pitchFamily="34" charset="-120"/>
              </a:rPr>
              <a:t>Sensor simulator v0  (bin telemetry stream)</a:t>
            </a:r>
            <a:endParaRPr lang="en-US" sz="1100" dirty="0"/>
          </a:p>
        </p:txBody>
      </p:sp>
      <p:sp>
        <p:nvSpPr>
          <p:cNvPr id="19" name="Shape 17"/>
          <p:cNvSpPr/>
          <p:nvPr/>
        </p:nvSpPr>
        <p:spPr>
          <a:xfrm>
            <a:off x="4297680" y="1234440"/>
            <a:ext cx="3703320" cy="4206240"/>
          </a:xfrm>
          <a:prstGeom prst="roundRect">
            <a:avLst>
              <a:gd name="adj" fmla="val 2963"/>
            </a:avLst>
          </a:prstGeom>
          <a:solidFill>
            <a:srgbClr val="F3F4F6"/>
          </a:solidFill>
          <a:ln/>
        </p:spPr>
      </p:sp>
      <p:sp>
        <p:nvSpPr>
          <p:cNvPr id="20" name="Shape 18"/>
          <p:cNvSpPr/>
          <p:nvPr/>
        </p:nvSpPr>
        <p:spPr>
          <a:xfrm>
            <a:off x="4434840" y="1417320"/>
            <a:ext cx="3429000" cy="548640"/>
          </a:xfrm>
          <a:prstGeom prst="roundRect">
            <a:avLst>
              <a:gd name="adj" fmla="val 10000"/>
            </a:avLst>
          </a:prstGeom>
          <a:solidFill>
            <a:srgbClr val="E85D25"/>
          </a:solidFill>
          <a:ln/>
        </p:spPr>
      </p:sp>
      <p:sp>
        <p:nvSpPr>
          <p:cNvPr id="21" name="Text 19"/>
          <p:cNvSpPr/>
          <p:nvPr/>
        </p:nvSpPr>
        <p:spPr>
          <a:xfrm>
            <a:off x="4434840" y="1417320"/>
            <a:ext cx="342900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DAY 2</a:t>
            </a:r>
            <a:pPr algn="ctr" indent="0" marL="0">
              <a:buNone/>
            </a:pPr>
            <a:r>
              <a:rPr lang="en-US" sz="1150" i="1" dirty="0">
                <a:solidFill>
                  <a:srgbClr val="FFFFFF"/>
                </a:solidFill>
                <a:latin typeface="Calibri" pitchFamily="34" charset="0"/>
                <a:ea typeface="Calibri" pitchFamily="34" charset="-122"/>
                <a:cs typeface="Calibri" pitchFamily="34" charset="-120"/>
              </a:rPr>
              <a:t>   16 Aug</a:t>
            </a:r>
            <a:endParaRPr lang="en-US" sz="1500" dirty="0"/>
          </a:p>
        </p:txBody>
      </p:sp>
      <p:sp>
        <p:nvSpPr>
          <p:cNvPr id="22" name="Text 20"/>
          <p:cNvSpPr/>
          <p:nvPr/>
        </p:nvSpPr>
        <p:spPr>
          <a:xfrm>
            <a:off x="4480560" y="2212848"/>
            <a:ext cx="228600" cy="274320"/>
          </a:xfrm>
          <a:prstGeom prst="rect">
            <a:avLst/>
          </a:prstGeom>
          <a:noFill/>
          <a:ln/>
        </p:spPr>
        <p:txBody>
          <a:bodyPr wrap="square" lIns="0" tIns="0" rIns="0" bIns="0" rtlCol="0" anchor="t"/>
          <a:lstStyle/>
          <a:p>
            <a:pPr algn="l" indent="0" marL="0">
              <a:buNone/>
            </a:pPr>
            <a:r>
              <a:rPr lang="en-US" sz="1400" b="1" dirty="0">
                <a:solidFill>
                  <a:srgbClr val="E85D25"/>
                </a:solidFill>
                <a:latin typeface="Calibri" pitchFamily="34" charset="0"/>
                <a:ea typeface="Calibri" pitchFamily="34" charset="-122"/>
                <a:cs typeface="Calibri" pitchFamily="34" charset="-120"/>
              </a:rPr>
              <a:t>▸</a:t>
            </a:r>
            <a:endParaRPr lang="en-US" sz="1400" dirty="0"/>
          </a:p>
        </p:txBody>
      </p:sp>
      <p:sp>
        <p:nvSpPr>
          <p:cNvPr id="23" name="Text 21"/>
          <p:cNvSpPr/>
          <p:nvPr/>
        </p:nvSpPr>
        <p:spPr>
          <a:xfrm>
            <a:off x="4754880" y="2194560"/>
            <a:ext cx="3108960" cy="502920"/>
          </a:xfrm>
          <a:prstGeom prst="rect">
            <a:avLst/>
          </a:prstGeom>
          <a:noFill/>
          <a:ln/>
        </p:spPr>
        <p:txBody>
          <a:bodyPr wrap="square" lIns="0" tIns="0" rIns="0" bIns="0" rtlCol="0" anchor="t"/>
          <a:lstStyle/>
          <a:p>
            <a:pPr algn="l" indent="0" marL="0">
              <a:buNone/>
            </a:pPr>
            <a:r>
              <a:rPr lang="en-US" sz="1100" dirty="0">
                <a:solidFill>
                  <a:srgbClr val="1F2937"/>
                </a:solidFill>
                <a:latin typeface="Calibri" pitchFamily="34" charset="0"/>
                <a:ea typeface="Calibri" pitchFamily="34" charset="-122"/>
                <a:cs typeface="Calibri" pitchFamily="34" charset="-120"/>
              </a:rPr>
              <a:t>Fine-tuning run completed  →  F1 + confusion matrix</a:t>
            </a:r>
            <a:endParaRPr lang="en-US" sz="1100" dirty="0"/>
          </a:p>
        </p:txBody>
      </p:sp>
      <p:sp>
        <p:nvSpPr>
          <p:cNvPr id="24" name="Text 22"/>
          <p:cNvSpPr/>
          <p:nvPr/>
        </p:nvSpPr>
        <p:spPr>
          <a:xfrm>
            <a:off x="4480560" y="2807208"/>
            <a:ext cx="228600" cy="274320"/>
          </a:xfrm>
          <a:prstGeom prst="rect">
            <a:avLst/>
          </a:prstGeom>
          <a:noFill/>
          <a:ln/>
        </p:spPr>
        <p:txBody>
          <a:bodyPr wrap="square" lIns="0" tIns="0" rIns="0" bIns="0" rtlCol="0" anchor="t"/>
          <a:lstStyle/>
          <a:p>
            <a:pPr algn="l" indent="0" marL="0">
              <a:buNone/>
            </a:pPr>
            <a:r>
              <a:rPr lang="en-US" sz="1400" b="1" dirty="0">
                <a:solidFill>
                  <a:srgbClr val="E85D25"/>
                </a:solidFill>
                <a:latin typeface="Calibri" pitchFamily="34" charset="0"/>
                <a:ea typeface="Calibri" pitchFamily="34" charset="-122"/>
                <a:cs typeface="Calibri" pitchFamily="34" charset="-120"/>
              </a:rPr>
              <a:t>▸</a:t>
            </a:r>
            <a:endParaRPr lang="en-US" sz="1400" dirty="0"/>
          </a:p>
        </p:txBody>
      </p:sp>
      <p:sp>
        <p:nvSpPr>
          <p:cNvPr id="25" name="Text 23"/>
          <p:cNvSpPr/>
          <p:nvPr/>
        </p:nvSpPr>
        <p:spPr>
          <a:xfrm>
            <a:off x="4754880" y="2788920"/>
            <a:ext cx="3108960" cy="502920"/>
          </a:xfrm>
          <a:prstGeom prst="rect">
            <a:avLst/>
          </a:prstGeom>
          <a:noFill/>
          <a:ln/>
        </p:spPr>
        <p:txBody>
          <a:bodyPr wrap="square" lIns="0" tIns="0" rIns="0" bIns="0" rtlCol="0" anchor="t"/>
          <a:lstStyle/>
          <a:p>
            <a:pPr algn="l" indent="0" marL="0">
              <a:buNone/>
            </a:pPr>
            <a:r>
              <a:rPr lang="en-US" sz="1100" dirty="0">
                <a:solidFill>
                  <a:srgbClr val="1F2937"/>
                </a:solidFill>
                <a:latin typeface="Calibri" pitchFamily="34" charset="0"/>
                <a:ea typeface="Calibri" pitchFamily="34" charset="-122"/>
                <a:cs typeface="Calibri" pitchFamily="34" charset="-120"/>
              </a:rPr>
              <a:t>Backend REST endpoints per module wired</a:t>
            </a:r>
            <a:endParaRPr lang="en-US" sz="1100" dirty="0"/>
          </a:p>
        </p:txBody>
      </p:sp>
      <p:sp>
        <p:nvSpPr>
          <p:cNvPr id="26" name="Text 24"/>
          <p:cNvSpPr/>
          <p:nvPr/>
        </p:nvSpPr>
        <p:spPr>
          <a:xfrm>
            <a:off x="4480560" y="3401568"/>
            <a:ext cx="228600" cy="274320"/>
          </a:xfrm>
          <a:prstGeom prst="rect">
            <a:avLst/>
          </a:prstGeom>
          <a:noFill/>
          <a:ln/>
        </p:spPr>
        <p:txBody>
          <a:bodyPr wrap="square" lIns="0" tIns="0" rIns="0" bIns="0" rtlCol="0" anchor="t"/>
          <a:lstStyle/>
          <a:p>
            <a:pPr algn="l" indent="0" marL="0">
              <a:buNone/>
            </a:pPr>
            <a:r>
              <a:rPr lang="en-US" sz="1400" b="1" dirty="0">
                <a:solidFill>
                  <a:srgbClr val="E85D25"/>
                </a:solidFill>
                <a:latin typeface="Calibri" pitchFamily="34" charset="0"/>
                <a:ea typeface="Calibri" pitchFamily="34" charset="-122"/>
                <a:cs typeface="Calibri" pitchFamily="34" charset="-120"/>
              </a:rPr>
              <a:t>▸</a:t>
            </a:r>
            <a:endParaRPr lang="en-US" sz="1400" dirty="0"/>
          </a:p>
        </p:txBody>
      </p:sp>
      <p:sp>
        <p:nvSpPr>
          <p:cNvPr id="27" name="Text 25"/>
          <p:cNvSpPr/>
          <p:nvPr/>
        </p:nvSpPr>
        <p:spPr>
          <a:xfrm>
            <a:off x="4754880" y="3383280"/>
            <a:ext cx="3108960" cy="502920"/>
          </a:xfrm>
          <a:prstGeom prst="rect">
            <a:avLst/>
          </a:prstGeom>
          <a:noFill/>
          <a:ln/>
        </p:spPr>
        <p:txBody>
          <a:bodyPr wrap="square" lIns="0" tIns="0" rIns="0" bIns="0" rtlCol="0" anchor="t"/>
          <a:lstStyle/>
          <a:p>
            <a:pPr algn="l" indent="0" marL="0">
              <a:buNone/>
            </a:pPr>
            <a:r>
              <a:rPr lang="en-US" sz="1100" dirty="0">
                <a:solidFill>
                  <a:srgbClr val="1F2937"/>
                </a:solidFill>
                <a:latin typeface="Calibri" pitchFamily="34" charset="0"/>
                <a:ea typeface="Calibri" pitchFamily="34" charset="-122"/>
                <a:cs typeface="Calibri" pitchFamily="34" charset="-120"/>
              </a:rPr>
              <a:t>Live map + prediction module functional (mock data)</a:t>
            </a:r>
            <a:endParaRPr lang="en-US" sz="1100" dirty="0"/>
          </a:p>
        </p:txBody>
      </p:sp>
      <p:sp>
        <p:nvSpPr>
          <p:cNvPr id="28" name="Text 26"/>
          <p:cNvSpPr/>
          <p:nvPr/>
        </p:nvSpPr>
        <p:spPr>
          <a:xfrm>
            <a:off x="4480560" y="3995928"/>
            <a:ext cx="228600" cy="274320"/>
          </a:xfrm>
          <a:prstGeom prst="rect">
            <a:avLst/>
          </a:prstGeom>
          <a:noFill/>
          <a:ln/>
        </p:spPr>
        <p:txBody>
          <a:bodyPr wrap="square" lIns="0" tIns="0" rIns="0" bIns="0" rtlCol="0" anchor="t"/>
          <a:lstStyle/>
          <a:p>
            <a:pPr algn="l" indent="0" marL="0">
              <a:buNone/>
            </a:pPr>
            <a:r>
              <a:rPr lang="en-US" sz="1400" b="1" dirty="0">
                <a:solidFill>
                  <a:srgbClr val="E85D25"/>
                </a:solidFill>
                <a:latin typeface="Calibri" pitchFamily="34" charset="0"/>
                <a:ea typeface="Calibri" pitchFamily="34" charset="-122"/>
                <a:cs typeface="Calibri" pitchFamily="34" charset="-120"/>
              </a:rPr>
              <a:t>▸</a:t>
            </a:r>
            <a:endParaRPr lang="en-US" sz="1400" dirty="0"/>
          </a:p>
        </p:txBody>
      </p:sp>
      <p:sp>
        <p:nvSpPr>
          <p:cNvPr id="29" name="Text 27"/>
          <p:cNvSpPr/>
          <p:nvPr/>
        </p:nvSpPr>
        <p:spPr>
          <a:xfrm>
            <a:off x="4754880" y="3977640"/>
            <a:ext cx="3108960" cy="502920"/>
          </a:xfrm>
          <a:prstGeom prst="rect">
            <a:avLst/>
          </a:prstGeom>
          <a:noFill/>
          <a:ln/>
        </p:spPr>
        <p:txBody>
          <a:bodyPr wrap="square" lIns="0" tIns="0" rIns="0" bIns="0" rtlCol="0" anchor="t"/>
          <a:lstStyle/>
          <a:p>
            <a:pPr algn="l" indent="0" marL="0">
              <a:buNone/>
            </a:pPr>
            <a:r>
              <a:rPr lang="en-US" sz="1100" dirty="0">
                <a:solidFill>
                  <a:srgbClr val="1F2937"/>
                </a:solidFill>
                <a:latin typeface="Calibri" pitchFamily="34" charset="0"/>
                <a:ea typeface="Calibri" pitchFamily="34" charset="-122"/>
                <a:cs typeface="Calibri" pitchFamily="34" charset="-120"/>
              </a:rPr>
              <a:t>DCPI scoring service coded</a:t>
            </a:r>
            <a:endParaRPr lang="en-US" sz="1100" dirty="0"/>
          </a:p>
        </p:txBody>
      </p:sp>
      <p:sp>
        <p:nvSpPr>
          <p:cNvPr id="30" name="Text 28"/>
          <p:cNvSpPr/>
          <p:nvPr/>
        </p:nvSpPr>
        <p:spPr>
          <a:xfrm>
            <a:off x="4480560" y="4590288"/>
            <a:ext cx="228600" cy="274320"/>
          </a:xfrm>
          <a:prstGeom prst="rect">
            <a:avLst/>
          </a:prstGeom>
          <a:noFill/>
          <a:ln/>
        </p:spPr>
        <p:txBody>
          <a:bodyPr wrap="square" lIns="0" tIns="0" rIns="0" bIns="0" rtlCol="0" anchor="t"/>
          <a:lstStyle/>
          <a:p>
            <a:pPr algn="l" indent="0" marL="0">
              <a:buNone/>
            </a:pPr>
            <a:r>
              <a:rPr lang="en-US" sz="1400" b="1" dirty="0">
                <a:solidFill>
                  <a:srgbClr val="E85D25"/>
                </a:solidFill>
                <a:latin typeface="Calibri" pitchFamily="34" charset="0"/>
                <a:ea typeface="Calibri" pitchFamily="34" charset="-122"/>
                <a:cs typeface="Calibri" pitchFamily="34" charset="-120"/>
              </a:rPr>
              <a:t>▸</a:t>
            </a:r>
            <a:endParaRPr lang="en-US" sz="1400" dirty="0"/>
          </a:p>
        </p:txBody>
      </p:sp>
      <p:sp>
        <p:nvSpPr>
          <p:cNvPr id="31" name="Text 29"/>
          <p:cNvSpPr/>
          <p:nvPr/>
        </p:nvSpPr>
        <p:spPr>
          <a:xfrm>
            <a:off x="4754880" y="4572000"/>
            <a:ext cx="3108960" cy="502920"/>
          </a:xfrm>
          <a:prstGeom prst="rect">
            <a:avLst/>
          </a:prstGeom>
          <a:noFill/>
          <a:ln/>
        </p:spPr>
        <p:txBody>
          <a:bodyPr wrap="square" lIns="0" tIns="0" rIns="0" bIns="0" rtlCol="0" anchor="t"/>
          <a:lstStyle/>
          <a:p>
            <a:pPr algn="l" indent="0" marL="0">
              <a:buNone/>
            </a:pPr>
            <a:r>
              <a:rPr lang="en-US" sz="1100" dirty="0">
                <a:solidFill>
                  <a:srgbClr val="1F2937"/>
                </a:solidFill>
                <a:latin typeface="Calibri" pitchFamily="34" charset="0"/>
                <a:ea typeface="Calibri" pitchFamily="34" charset="-122"/>
                <a:cs typeface="Calibri" pitchFamily="34" charset="-120"/>
              </a:rPr>
              <a:t>First end-to-end call:  ML  →  API  →  UI</a:t>
            </a:r>
            <a:endParaRPr lang="en-US" sz="1100" dirty="0"/>
          </a:p>
        </p:txBody>
      </p:sp>
      <p:sp>
        <p:nvSpPr>
          <p:cNvPr id="32" name="Shape 30"/>
          <p:cNvSpPr/>
          <p:nvPr/>
        </p:nvSpPr>
        <p:spPr>
          <a:xfrm>
            <a:off x="8138160" y="1234440"/>
            <a:ext cx="3703320" cy="4206240"/>
          </a:xfrm>
          <a:prstGeom prst="roundRect">
            <a:avLst>
              <a:gd name="adj" fmla="val 2963"/>
            </a:avLst>
          </a:prstGeom>
          <a:solidFill>
            <a:srgbClr val="F3F4F6"/>
          </a:solidFill>
          <a:ln/>
        </p:spPr>
      </p:sp>
      <p:sp>
        <p:nvSpPr>
          <p:cNvPr id="33" name="Shape 31"/>
          <p:cNvSpPr/>
          <p:nvPr/>
        </p:nvSpPr>
        <p:spPr>
          <a:xfrm>
            <a:off x="8275320" y="1417320"/>
            <a:ext cx="3429000" cy="548640"/>
          </a:xfrm>
          <a:prstGeom prst="roundRect">
            <a:avLst>
              <a:gd name="adj" fmla="val 10000"/>
            </a:avLst>
          </a:prstGeom>
          <a:solidFill>
            <a:srgbClr val="1E3A8A"/>
          </a:solidFill>
          <a:ln/>
        </p:spPr>
      </p:sp>
      <p:sp>
        <p:nvSpPr>
          <p:cNvPr id="34" name="Text 32"/>
          <p:cNvSpPr/>
          <p:nvPr/>
        </p:nvSpPr>
        <p:spPr>
          <a:xfrm>
            <a:off x="8275320" y="1417320"/>
            <a:ext cx="342900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DAY 3</a:t>
            </a:r>
            <a:pPr algn="ctr" indent="0" marL="0">
              <a:buNone/>
            </a:pPr>
            <a:r>
              <a:rPr lang="en-US" sz="1150" i="1" dirty="0">
                <a:solidFill>
                  <a:srgbClr val="FFFFFF"/>
                </a:solidFill>
                <a:latin typeface="Calibri" pitchFamily="34" charset="0"/>
                <a:ea typeface="Calibri" pitchFamily="34" charset="-122"/>
                <a:cs typeface="Calibri" pitchFamily="34" charset="-120"/>
              </a:rPr>
              <a:t>   17 Aug</a:t>
            </a:r>
            <a:endParaRPr lang="en-US" sz="1500" dirty="0"/>
          </a:p>
        </p:txBody>
      </p:sp>
      <p:sp>
        <p:nvSpPr>
          <p:cNvPr id="35" name="Text 33"/>
          <p:cNvSpPr/>
          <p:nvPr/>
        </p:nvSpPr>
        <p:spPr>
          <a:xfrm>
            <a:off x="8321040" y="2212848"/>
            <a:ext cx="228600" cy="274320"/>
          </a:xfrm>
          <a:prstGeom prst="rect">
            <a:avLst/>
          </a:prstGeom>
          <a:noFill/>
          <a:ln/>
        </p:spPr>
        <p:txBody>
          <a:bodyPr wrap="square" lIns="0" tIns="0" rIns="0" bIns="0" rtlCol="0" anchor="t"/>
          <a:lstStyle/>
          <a:p>
            <a:pPr algn="l" indent="0" marL="0">
              <a:buNone/>
            </a:pPr>
            <a:r>
              <a:rPr lang="en-US" sz="1400" b="1" dirty="0">
                <a:solidFill>
                  <a:srgbClr val="1E3A8A"/>
                </a:solidFill>
                <a:latin typeface="Calibri" pitchFamily="34" charset="0"/>
                <a:ea typeface="Calibri" pitchFamily="34" charset="-122"/>
                <a:cs typeface="Calibri" pitchFamily="34" charset="-120"/>
              </a:rPr>
              <a:t>▸</a:t>
            </a:r>
            <a:endParaRPr lang="en-US" sz="1400" dirty="0"/>
          </a:p>
        </p:txBody>
      </p:sp>
      <p:sp>
        <p:nvSpPr>
          <p:cNvPr id="36" name="Text 34"/>
          <p:cNvSpPr/>
          <p:nvPr/>
        </p:nvSpPr>
        <p:spPr>
          <a:xfrm>
            <a:off x="8595360" y="2194560"/>
            <a:ext cx="3108960" cy="502920"/>
          </a:xfrm>
          <a:prstGeom prst="rect">
            <a:avLst/>
          </a:prstGeom>
          <a:noFill/>
          <a:ln/>
        </p:spPr>
        <p:txBody>
          <a:bodyPr wrap="square" lIns="0" tIns="0" rIns="0" bIns="0" rtlCol="0" anchor="t"/>
          <a:lstStyle/>
          <a:p>
            <a:pPr algn="l" indent="0" marL="0">
              <a:buNone/>
            </a:pPr>
            <a:r>
              <a:rPr lang="en-US" sz="1100" dirty="0">
                <a:solidFill>
                  <a:srgbClr val="1F2937"/>
                </a:solidFill>
                <a:latin typeface="Calibri" pitchFamily="34" charset="0"/>
                <a:ea typeface="Calibri" pitchFamily="34" charset="-122"/>
                <a:cs typeface="Calibri" pitchFamily="34" charset="-120"/>
              </a:rPr>
              <a:t>Integration + polishing + edge cases</a:t>
            </a:r>
            <a:endParaRPr lang="en-US" sz="1100" dirty="0"/>
          </a:p>
        </p:txBody>
      </p:sp>
      <p:sp>
        <p:nvSpPr>
          <p:cNvPr id="37" name="Text 35"/>
          <p:cNvSpPr/>
          <p:nvPr/>
        </p:nvSpPr>
        <p:spPr>
          <a:xfrm>
            <a:off x="8321040" y="2807208"/>
            <a:ext cx="228600" cy="274320"/>
          </a:xfrm>
          <a:prstGeom prst="rect">
            <a:avLst/>
          </a:prstGeom>
          <a:noFill/>
          <a:ln/>
        </p:spPr>
        <p:txBody>
          <a:bodyPr wrap="square" lIns="0" tIns="0" rIns="0" bIns="0" rtlCol="0" anchor="t"/>
          <a:lstStyle/>
          <a:p>
            <a:pPr algn="l" indent="0" marL="0">
              <a:buNone/>
            </a:pPr>
            <a:r>
              <a:rPr lang="en-US" sz="1400" b="1" dirty="0">
                <a:solidFill>
                  <a:srgbClr val="1E3A8A"/>
                </a:solidFill>
                <a:latin typeface="Calibri" pitchFamily="34" charset="0"/>
                <a:ea typeface="Calibri" pitchFamily="34" charset="-122"/>
                <a:cs typeface="Calibri" pitchFamily="34" charset="-120"/>
              </a:rPr>
              <a:t>▸</a:t>
            </a:r>
            <a:endParaRPr lang="en-US" sz="1400" dirty="0"/>
          </a:p>
        </p:txBody>
      </p:sp>
      <p:sp>
        <p:nvSpPr>
          <p:cNvPr id="38" name="Text 36"/>
          <p:cNvSpPr/>
          <p:nvPr/>
        </p:nvSpPr>
        <p:spPr>
          <a:xfrm>
            <a:off x="8595360" y="2788920"/>
            <a:ext cx="3108960" cy="502920"/>
          </a:xfrm>
          <a:prstGeom prst="rect">
            <a:avLst/>
          </a:prstGeom>
          <a:noFill/>
          <a:ln/>
        </p:spPr>
        <p:txBody>
          <a:bodyPr wrap="square" lIns="0" tIns="0" rIns="0" bIns="0" rtlCol="0" anchor="t"/>
          <a:lstStyle/>
          <a:p>
            <a:pPr algn="l" indent="0" marL="0">
              <a:buNone/>
            </a:pPr>
            <a:r>
              <a:rPr lang="en-US" sz="1100" dirty="0">
                <a:solidFill>
                  <a:srgbClr val="1F2937"/>
                </a:solidFill>
                <a:latin typeface="Calibri" pitchFamily="34" charset="0"/>
                <a:ea typeface="Calibri" pitchFamily="34" charset="-122"/>
                <a:cs typeface="Calibri" pitchFamily="34" charset="-120"/>
              </a:rPr>
              <a:t>Route optimizer + SHAP explanations wired</a:t>
            </a:r>
            <a:endParaRPr lang="en-US" sz="1100" dirty="0"/>
          </a:p>
        </p:txBody>
      </p:sp>
      <p:sp>
        <p:nvSpPr>
          <p:cNvPr id="39" name="Text 37"/>
          <p:cNvSpPr/>
          <p:nvPr/>
        </p:nvSpPr>
        <p:spPr>
          <a:xfrm>
            <a:off x="8321040" y="3401568"/>
            <a:ext cx="228600" cy="274320"/>
          </a:xfrm>
          <a:prstGeom prst="rect">
            <a:avLst/>
          </a:prstGeom>
          <a:noFill/>
          <a:ln/>
        </p:spPr>
        <p:txBody>
          <a:bodyPr wrap="square" lIns="0" tIns="0" rIns="0" bIns="0" rtlCol="0" anchor="t"/>
          <a:lstStyle/>
          <a:p>
            <a:pPr algn="l" indent="0" marL="0">
              <a:buNone/>
            </a:pPr>
            <a:r>
              <a:rPr lang="en-US" sz="1400" b="1" dirty="0">
                <a:solidFill>
                  <a:srgbClr val="1E3A8A"/>
                </a:solidFill>
                <a:latin typeface="Calibri" pitchFamily="34" charset="0"/>
                <a:ea typeface="Calibri" pitchFamily="34" charset="-122"/>
                <a:cs typeface="Calibri" pitchFamily="34" charset="-120"/>
              </a:rPr>
              <a:t>▸</a:t>
            </a:r>
            <a:endParaRPr lang="en-US" sz="1400" dirty="0"/>
          </a:p>
        </p:txBody>
      </p:sp>
      <p:sp>
        <p:nvSpPr>
          <p:cNvPr id="40" name="Text 38"/>
          <p:cNvSpPr/>
          <p:nvPr/>
        </p:nvSpPr>
        <p:spPr>
          <a:xfrm>
            <a:off x="8595360" y="3383280"/>
            <a:ext cx="3108960" cy="502920"/>
          </a:xfrm>
          <a:prstGeom prst="rect">
            <a:avLst/>
          </a:prstGeom>
          <a:noFill/>
          <a:ln/>
        </p:spPr>
        <p:txBody>
          <a:bodyPr wrap="square" lIns="0" tIns="0" rIns="0" bIns="0" rtlCol="0" anchor="t"/>
          <a:lstStyle/>
          <a:p>
            <a:pPr algn="l" indent="0" marL="0">
              <a:buNone/>
            </a:pPr>
            <a:r>
              <a:rPr lang="en-US" sz="1100" dirty="0">
                <a:solidFill>
                  <a:srgbClr val="1F2937"/>
                </a:solidFill>
                <a:latin typeface="Calibri" pitchFamily="34" charset="0"/>
                <a:ea typeface="Calibri" pitchFamily="34" charset="-122"/>
                <a:cs typeface="Calibri" pitchFamily="34" charset="-120"/>
              </a:rPr>
              <a:t>Digital Twin module (basic what-if scenario)</a:t>
            </a:r>
            <a:endParaRPr lang="en-US" sz="1100" dirty="0"/>
          </a:p>
        </p:txBody>
      </p:sp>
      <p:sp>
        <p:nvSpPr>
          <p:cNvPr id="41" name="Text 39"/>
          <p:cNvSpPr/>
          <p:nvPr/>
        </p:nvSpPr>
        <p:spPr>
          <a:xfrm>
            <a:off x="8321040" y="3995928"/>
            <a:ext cx="228600" cy="274320"/>
          </a:xfrm>
          <a:prstGeom prst="rect">
            <a:avLst/>
          </a:prstGeom>
          <a:noFill/>
          <a:ln/>
        </p:spPr>
        <p:txBody>
          <a:bodyPr wrap="square" lIns="0" tIns="0" rIns="0" bIns="0" rtlCol="0" anchor="t"/>
          <a:lstStyle/>
          <a:p>
            <a:pPr algn="l" indent="0" marL="0">
              <a:buNone/>
            </a:pPr>
            <a:r>
              <a:rPr lang="en-US" sz="1400" b="1" dirty="0">
                <a:solidFill>
                  <a:srgbClr val="1E3A8A"/>
                </a:solidFill>
                <a:latin typeface="Calibri" pitchFamily="34" charset="0"/>
                <a:ea typeface="Calibri" pitchFamily="34" charset="-122"/>
                <a:cs typeface="Calibri" pitchFamily="34" charset="-120"/>
              </a:rPr>
              <a:t>▸</a:t>
            </a:r>
            <a:endParaRPr lang="en-US" sz="1400" dirty="0"/>
          </a:p>
        </p:txBody>
      </p:sp>
      <p:sp>
        <p:nvSpPr>
          <p:cNvPr id="42" name="Text 40"/>
          <p:cNvSpPr/>
          <p:nvPr/>
        </p:nvSpPr>
        <p:spPr>
          <a:xfrm>
            <a:off x="8595360" y="3977640"/>
            <a:ext cx="3108960" cy="502920"/>
          </a:xfrm>
          <a:prstGeom prst="rect">
            <a:avLst/>
          </a:prstGeom>
          <a:noFill/>
          <a:ln/>
        </p:spPr>
        <p:txBody>
          <a:bodyPr wrap="square" lIns="0" tIns="0" rIns="0" bIns="0" rtlCol="0" anchor="t"/>
          <a:lstStyle/>
          <a:p>
            <a:pPr algn="l" indent="0" marL="0">
              <a:buNone/>
            </a:pPr>
            <a:r>
              <a:rPr lang="en-US" sz="1100" dirty="0">
                <a:solidFill>
                  <a:srgbClr val="1F2937"/>
                </a:solidFill>
                <a:latin typeface="Calibri" pitchFamily="34" charset="0"/>
                <a:ea typeface="Calibri" pitchFamily="34" charset="-122"/>
                <a:cs typeface="Calibri" pitchFamily="34" charset="-120"/>
              </a:rPr>
              <a:t>Deployment demo (local + short video record)</a:t>
            </a:r>
            <a:endParaRPr lang="en-US" sz="1100" dirty="0"/>
          </a:p>
        </p:txBody>
      </p:sp>
      <p:sp>
        <p:nvSpPr>
          <p:cNvPr id="43" name="Text 41"/>
          <p:cNvSpPr/>
          <p:nvPr/>
        </p:nvSpPr>
        <p:spPr>
          <a:xfrm>
            <a:off x="8321040" y="4590288"/>
            <a:ext cx="228600" cy="274320"/>
          </a:xfrm>
          <a:prstGeom prst="rect">
            <a:avLst/>
          </a:prstGeom>
          <a:noFill/>
          <a:ln/>
        </p:spPr>
        <p:txBody>
          <a:bodyPr wrap="square" lIns="0" tIns="0" rIns="0" bIns="0" rtlCol="0" anchor="t"/>
          <a:lstStyle/>
          <a:p>
            <a:pPr algn="l" indent="0" marL="0">
              <a:buNone/>
            </a:pPr>
            <a:r>
              <a:rPr lang="en-US" sz="1400" b="1" dirty="0">
                <a:solidFill>
                  <a:srgbClr val="1E3A8A"/>
                </a:solidFill>
                <a:latin typeface="Calibri" pitchFamily="34" charset="0"/>
                <a:ea typeface="Calibri" pitchFamily="34" charset="-122"/>
                <a:cs typeface="Calibri" pitchFamily="34" charset="-120"/>
              </a:rPr>
              <a:t>▸</a:t>
            </a:r>
            <a:endParaRPr lang="en-US" sz="1400" dirty="0"/>
          </a:p>
        </p:txBody>
      </p:sp>
      <p:sp>
        <p:nvSpPr>
          <p:cNvPr id="44" name="Text 42"/>
          <p:cNvSpPr/>
          <p:nvPr/>
        </p:nvSpPr>
        <p:spPr>
          <a:xfrm>
            <a:off x="8595360" y="4572000"/>
            <a:ext cx="3108960" cy="502920"/>
          </a:xfrm>
          <a:prstGeom prst="rect">
            <a:avLst/>
          </a:prstGeom>
          <a:noFill/>
          <a:ln/>
        </p:spPr>
        <p:txBody>
          <a:bodyPr wrap="square" lIns="0" tIns="0" rIns="0" bIns="0" rtlCol="0" anchor="t"/>
          <a:lstStyle/>
          <a:p>
            <a:pPr algn="l" indent="0" marL="0">
              <a:buNone/>
            </a:pPr>
            <a:r>
              <a:rPr lang="en-US" sz="1100" dirty="0">
                <a:solidFill>
                  <a:srgbClr val="1F2937"/>
                </a:solidFill>
                <a:latin typeface="Calibri" pitchFamily="34" charset="0"/>
                <a:ea typeface="Calibri" pitchFamily="34" charset="-122"/>
                <a:cs typeface="Calibri" pitchFamily="34" charset="-120"/>
              </a:rPr>
              <a:t>Presentation deck  +  submission materials</a:t>
            </a:r>
            <a:endParaRPr lang="en-US" sz="1100" dirty="0"/>
          </a:p>
        </p:txBody>
      </p:sp>
      <p:sp>
        <p:nvSpPr>
          <p:cNvPr id="45" name="Shape 43"/>
          <p:cNvSpPr/>
          <p:nvPr/>
        </p:nvSpPr>
        <p:spPr>
          <a:xfrm>
            <a:off x="457200" y="5623560"/>
            <a:ext cx="11247120" cy="960120"/>
          </a:xfrm>
          <a:prstGeom prst="roundRect">
            <a:avLst>
              <a:gd name="adj" fmla="val 11429"/>
            </a:avLst>
          </a:prstGeom>
          <a:solidFill>
            <a:srgbClr val="DC2626"/>
          </a:solidFill>
          <a:ln/>
        </p:spPr>
      </p:sp>
      <p:sp>
        <p:nvSpPr>
          <p:cNvPr id="46" name="Text 44"/>
          <p:cNvSpPr/>
          <p:nvPr/>
        </p:nvSpPr>
        <p:spPr>
          <a:xfrm>
            <a:off x="640080" y="5669280"/>
            <a:ext cx="10972800" cy="868680"/>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18 Aug  ·  Submission gate
</a:t>
            </a:r>
            <a:pPr algn="l" indent="0" marL="0">
              <a:buNone/>
            </a:pPr>
            <a:r>
              <a:rPr lang="en-US" sz="1200" dirty="0">
                <a:solidFill>
                  <a:srgbClr val="FFFFFF"/>
                </a:solidFill>
                <a:latin typeface="Calibri" pitchFamily="34" charset="0"/>
                <a:ea typeface="Calibri" pitchFamily="34" charset="-122"/>
                <a:cs typeface="Calibri" pitchFamily="34" charset="-120"/>
              </a:rPr>
              <a:t>Working demo (local)  ·  short video walkthrough  ·  updated deck  ·  code repository link.  What ships is decided in advance, no last-minute scope creep.</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548640" cy="502920"/>
          </a:xfrm>
          <a:prstGeom prst="roundRect">
            <a:avLst>
              <a:gd name="adj" fmla="val 14545"/>
            </a:avLst>
          </a:prstGeom>
          <a:solidFill>
            <a:srgbClr val="E85D25"/>
          </a:solidFill>
          <a:ln/>
        </p:spPr>
      </p:sp>
      <p:sp>
        <p:nvSpPr>
          <p:cNvPr id="3" name="Text 1"/>
          <p:cNvSpPr/>
          <p:nvPr/>
        </p:nvSpPr>
        <p:spPr>
          <a:xfrm>
            <a:off x="457200" y="365760"/>
            <a:ext cx="54864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06</a:t>
            </a:r>
            <a:endParaRPr lang="en-US" sz="2000" dirty="0"/>
          </a:p>
        </p:txBody>
      </p:sp>
      <p:sp>
        <p:nvSpPr>
          <p:cNvPr id="4" name="Text 2"/>
          <p:cNvSpPr/>
          <p:nvPr/>
        </p:nvSpPr>
        <p:spPr>
          <a:xfrm>
            <a:off x="1143000" y="320040"/>
            <a:ext cx="8686800" cy="594360"/>
          </a:xfrm>
          <a:prstGeom prst="rect">
            <a:avLst/>
          </a:prstGeom>
          <a:noFill/>
          <a:ln/>
        </p:spPr>
        <p:txBody>
          <a:bodyPr wrap="square" lIns="0" tIns="0" rIns="0" bIns="0" rtlCol="0" anchor="ctr"/>
          <a:lstStyle/>
          <a:p>
            <a:pPr algn="l" indent="0" marL="0">
              <a:buNone/>
            </a:pPr>
            <a:r>
              <a:rPr lang="en-US" sz="2800" b="1" dirty="0">
                <a:solidFill>
                  <a:srgbClr val="1E3A8A"/>
                </a:solidFill>
                <a:latin typeface="Calibri" pitchFamily="34" charset="0"/>
                <a:ea typeface="Calibri" pitchFamily="34" charset="-122"/>
                <a:cs typeface="Calibri" pitchFamily="34" charset="-120"/>
              </a:rPr>
              <a:t>Challenges We Are Facing</a:t>
            </a:r>
            <a:endParaRPr lang="en-US" sz="2800" dirty="0"/>
          </a:p>
        </p:txBody>
      </p:sp>
      <p:sp>
        <p:nvSpPr>
          <p:cNvPr id="5" name="Text 3"/>
          <p:cNvSpPr/>
          <p:nvPr/>
        </p:nvSpPr>
        <p:spPr>
          <a:xfrm>
            <a:off x="9144000" y="384048"/>
            <a:ext cx="2651760" cy="457200"/>
          </a:xfrm>
          <a:prstGeom prst="rect">
            <a:avLst/>
          </a:prstGeom>
          <a:noFill/>
          <a:ln/>
        </p:spPr>
        <p:txBody>
          <a:bodyPr wrap="square" lIns="0" tIns="0" rIns="0" bIns="0" rtlCol="0" anchor="ctr"/>
          <a:lstStyle/>
          <a:p>
            <a:pPr algn="r" indent="0" marL="0">
              <a:buNone/>
            </a:pPr>
            <a:r>
              <a:rPr lang="en-US" sz="1100" i="1" dirty="0">
                <a:solidFill>
                  <a:srgbClr val="4B5563"/>
                </a:solidFill>
                <a:latin typeface="Calibri" pitchFamily="34" charset="0"/>
                <a:ea typeface="Calibri" pitchFamily="34" charset="-122"/>
                <a:cs typeface="Calibri" pitchFamily="34" charset="-120"/>
              </a:rPr>
              <a:t>Honest gaps + where we need you</a:t>
            </a:r>
            <a:endParaRPr lang="en-US" sz="1100" dirty="0"/>
          </a:p>
        </p:txBody>
      </p:sp>
      <p:sp>
        <p:nvSpPr>
          <p:cNvPr id="6" name="Shape 4"/>
          <p:cNvSpPr/>
          <p:nvPr/>
        </p:nvSpPr>
        <p:spPr>
          <a:xfrm>
            <a:off x="457200" y="1234440"/>
            <a:ext cx="5623560" cy="4709160"/>
          </a:xfrm>
          <a:prstGeom prst="roundRect">
            <a:avLst>
              <a:gd name="adj" fmla="val 2330"/>
            </a:avLst>
          </a:prstGeom>
          <a:solidFill>
            <a:srgbClr val="FEE2E2"/>
          </a:solidFill>
          <a:ln/>
        </p:spPr>
      </p:sp>
      <p:sp>
        <p:nvSpPr>
          <p:cNvPr id="7" name="Text 5"/>
          <p:cNvSpPr/>
          <p:nvPr/>
        </p:nvSpPr>
        <p:spPr>
          <a:xfrm>
            <a:off x="640080" y="1417320"/>
            <a:ext cx="5257800" cy="411480"/>
          </a:xfrm>
          <a:prstGeom prst="rect">
            <a:avLst/>
          </a:prstGeom>
          <a:noFill/>
          <a:ln/>
        </p:spPr>
        <p:txBody>
          <a:bodyPr wrap="square" lIns="0" tIns="0" rIns="0" bIns="0" rtlCol="0" anchor="t"/>
          <a:lstStyle/>
          <a:p>
            <a:pPr algn="l" indent="0" marL="0">
              <a:buNone/>
            </a:pPr>
            <a:r>
              <a:rPr lang="en-US" sz="1600" b="1" dirty="0">
                <a:solidFill>
                  <a:srgbClr val="DC2626"/>
                </a:solidFill>
                <a:latin typeface="Calibri" pitchFamily="34" charset="0"/>
                <a:ea typeface="Calibri" pitchFamily="34" charset="-122"/>
                <a:cs typeface="Calibri" pitchFamily="34" charset="-120"/>
              </a:rPr>
              <a:t>⚠   Our known gaps</a:t>
            </a:r>
            <a:endParaRPr lang="en-US" sz="1600" dirty="0"/>
          </a:p>
        </p:txBody>
      </p:sp>
      <p:sp>
        <p:nvSpPr>
          <p:cNvPr id="8" name="Text 6"/>
          <p:cNvSpPr/>
          <p:nvPr/>
        </p:nvSpPr>
        <p:spPr>
          <a:xfrm>
            <a:off x="640080" y="2011680"/>
            <a:ext cx="274320" cy="320040"/>
          </a:xfrm>
          <a:prstGeom prst="rect">
            <a:avLst/>
          </a:prstGeom>
          <a:noFill/>
          <a:ln/>
        </p:spPr>
        <p:txBody>
          <a:bodyPr wrap="square" lIns="0" tIns="0" rIns="0" bIns="0" rtlCol="0" anchor="t"/>
          <a:lstStyle/>
          <a:p>
            <a:pPr algn="l" indent="0" marL="0">
              <a:buNone/>
            </a:pPr>
            <a:r>
              <a:rPr lang="en-US" sz="1500" b="1" dirty="0">
                <a:solidFill>
                  <a:srgbClr val="DC2626"/>
                </a:solidFill>
                <a:latin typeface="Calibri" pitchFamily="34" charset="0"/>
                <a:ea typeface="Calibri" pitchFamily="34" charset="-122"/>
                <a:cs typeface="Calibri" pitchFamily="34" charset="-120"/>
              </a:rPr>
              <a:t>×</a:t>
            </a:r>
            <a:endParaRPr lang="en-US" sz="1500" dirty="0"/>
          </a:p>
        </p:txBody>
      </p:sp>
      <p:sp>
        <p:nvSpPr>
          <p:cNvPr id="9" name="Text 7"/>
          <p:cNvSpPr/>
          <p:nvPr/>
        </p:nvSpPr>
        <p:spPr>
          <a:xfrm>
            <a:off x="914400" y="2011680"/>
            <a:ext cx="5166360" cy="548640"/>
          </a:xfrm>
          <a:prstGeom prst="rect">
            <a:avLst/>
          </a:prstGeom>
          <a:noFill/>
          <a:ln/>
        </p:spPr>
        <p:txBody>
          <a:bodyPr wrap="square" lIns="0" tIns="0" rIns="0" bIns="0" rtlCol="0" anchor="t"/>
          <a:lstStyle/>
          <a:p>
            <a:pPr algn="l" indent="0" marL="0">
              <a:buNone/>
            </a:pPr>
            <a:r>
              <a:rPr lang="en-US" sz="1200" b="1" dirty="0">
                <a:solidFill>
                  <a:srgbClr val="1F2937"/>
                </a:solidFill>
                <a:latin typeface="Calibri" pitchFamily="34" charset="0"/>
                <a:ea typeface="Calibri" pitchFamily="34" charset="-122"/>
                <a:cs typeface="Calibri" pitchFamily="34" charset="-120"/>
              </a:rPr>
              <a:t>No physical bin  </a:t>
            </a:r>
            <a:pPr algn="l" indent="0" marL="0">
              <a:buNone/>
            </a:pPr>
            <a:r>
              <a:rPr lang="en-US" sz="1100" dirty="0">
                <a:solidFill>
                  <a:srgbClr val="4B5563"/>
                </a:solidFill>
                <a:latin typeface="Calibri" pitchFamily="34" charset="0"/>
                <a:ea typeface="Calibri" pitchFamily="34" charset="-122"/>
                <a:cs typeface="Calibri" pitchFamily="34" charset="-120"/>
              </a:rPr>
              <a:t>No Raspberry Pi + sensors procured. Edge tier demonstrated via simulator, not hardware.</a:t>
            </a:r>
            <a:endParaRPr lang="en-US" sz="1200" dirty="0"/>
          </a:p>
        </p:txBody>
      </p:sp>
      <p:sp>
        <p:nvSpPr>
          <p:cNvPr id="10" name="Text 8"/>
          <p:cNvSpPr/>
          <p:nvPr/>
        </p:nvSpPr>
        <p:spPr>
          <a:xfrm>
            <a:off x="640080" y="2633472"/>
            <a:ext cx="274320" cy="320040"/>
          </a:xfrm>
          <a:prstGeom prst="rect">
            <a:avLst/>
          </a:prstGeom>
          <a:noFill/>
          <a:ln/>
        </p:spPr>
        <p:txBody>
          <a:bodyPr wrap="square" lIns="0" tIns="0" rIns="0" bIns="0" rtlCol="0" anchor="t"/>
          <a:lstStyle/>
          <a:p>
            <a:pPr algn="l" indent="0" marL="0">
              <a:buNone/>
            </a:pPr>
            <a:r>
              <a:rPr lang="en-US" sz="1500" b="1" dirty="0">
                <a:solidFill>
                  <a:srgbClr val="DC2626"/>
                </a:solidFill>
                <a:latin typeface="Calibri" pitchFamily="34" charset="0"/>
                <a:ea typeface="Calibri" pitchFamily="34" charset="-122"/>
                <a:cs typeface="Calibri" pitchFamily="34" charset="-120"/>
              </a:rPr>
              <a:t>×</a:t>
            </a:r>
            <a:endParaRPr lang="en-US" sz="1500" dirty="0"/>
          </a:p>
        </p:txBody>
      </p:sp>
      <p:sp>
        <p:nvSpPr>
          <p:cNvPr id="11" name="Text 9"/>
          <p:cNvSpPr/>
          <p:nvPr/>
        </p:nvSpPr>
        <p:spPr>
          <a:xfrm>
            <a:off x="914400" y="2633472"/>
            <a:ext cx="5166360" cy="548640"/>
          </a:xfrm>
          <a:prstGeom prst="rect">
            <a:avLst/>
          </a:prstGeom>
          <a:noFill/>
          <a:ln/>
        </p:spPr>
        <p:txBody>
          <a:bodyPr wrap="square" lIns="0" tIns="0" rIns="0" bIns="0" rtlCol="0" anchor="t"/>
          <a:lstStyle/>
          <a:p>
            <a:pPr algn="l" indent="0" marL="0">
              <a:buNone/>
            </a:pPr>
            <a:r>
              <a:rPr lang="en-US" sz="1200" b="1" dirty="0">
                <a:solidFill>
                  <a:srgbClr val="1F2937"/>
                </a:solidFill>
                <a:latin typeface="Calibri" pitchFamily="34" charset="0"/>
                <a:ea typeface="Calibri" pitchFamily="34" charset="-122"/>
                <a:cs typeface="Calibri" pitchFamily="34" charset="-120"/>
              </a:rPr>
              <a:t>No repo yet  </a:t>
            </a:r>
            <a:pPr algn="l" indent="0" marL="0">
              <a:buNone/>
            </a:pPr>
            <a:r>
              <a:rPr lang="en-US" sz="1100" dirty="0">
                <a:solidFill>
                  <a:srgbClr val="4B5563"/>
                </a:solidFill>
                <a:latin typeface="Calibri" pitchFamily="34" charset="0"/>
                <a:ea typeface="Calibri" pitchFamily="34" charset="-122"/>
                <a:cs typeface="Calibri" pitchFamily="34" charset="-120"/>
              </a:rPr>
              <a:t>Implementation starts tonight. No commits, no CI history to show today.</a:t>
            </a:r>
            <a:endParaRPr lang="en-US" sz="1200" dirty="0"/>
          </a:p>
        </p:txBody>
      </p:sp>
      <p:sp>
        <p:nvSpPr>
          <p:cNvPr id="12" name="Text 10"/>
          <p:cNvSpPr/>
          <p:nvPr/>
        </p:nvSpPr>
        <p:spPr>
          <a:xfrm>
            <a:off x="640080" y="3255264"/>
            <a:ext cx="274320" cy="320040"/>
          </a:xfrm>
          <a:prstGeom prst="rect">
            <a:avLst/>
          </a:prstGeom>
          <a:noFill/>
          <a:ln/>
        </p:spPr>
        <p:txBody>
          <a:bodyPr wrap="square" lIns="0" tIns="0" rIns="0" bIns="0" rtlCol="0" anchor="t"/>
          <a:lstStyle/>
          <a:p>
            <a:pPr algn="l" indent="0" marL="0">
              <a:buNone/>
            </a:pPr>
            <a:r>
              <a:rPr lang="en-US" sz="1500" b="1" dirty="0">
                <a:solidFill>
                  <a:srgbClr val="DC2626"/>
                </a:solidFill>
                <a:latin typeface="Calibri" pitchFamily="34" charset="0"/>
                <a:ea typeface="Calibri" pitchFamily="34" charset="-122"/>
                <a:cs typeface="Calibri" pitchFamily="34" charset="-120"/>
              </a:rPr>
              <a:t>×</a:t>
            </a:r>
            <a:endParaRPr lang="en-US" sz="1500" dirty="0"/>
          </a:p>
        </p:txBody>
      </p:sp>
      <p:sp>
        <p:nvSpPr>
          <p:cNvPr id="13" name="Text 11"/>
          <p:cNvSpPr/>
          <p:nvPr/>
        </p:nvSpPr>
        <p:spPr>
          <a:xfrm>
            <a:off x="914400" y="3255264"/>
            <a:ext cx="5166360" cy="548640"/>
          </a:xfrm>
          <a:prstGeom prst="rect">
            <a:avLst/>
          </a:prstGeom>
          <a:noFill/>
          <a:ln/>
        </p:spPr>
        <p:txBody>
          <a:bodyPr wrap="square" lIns="0" tIns="0" rIns="0" bIns="0" rtlCol="0" anchor="t"/>
          <a:lstStyle/>
          <a:p>
            <a:pPr algn="l" indent="0" marL="0">
              <a:buNone/>
            </a:pPr>
            <a:r>
              <a:rPr lang="en-US" sz="1200" b="1" dirty="0">
                <a:solidFill>
                  <a:srgbClr val="1F2937"/>
                </a:solidFill>
                <a:latin typeface="Calibri" pitchFamily="34" charset="0"/>
                <a:ea typeface="Calibri" pitchFamily="34" charset="-122"/>
                <a:cs typeface="Calibri" pitchFamily="34" charset="-120"/>
              </a:rPr>
              <a:t>Federated Learning depth  </a:t>
            </a:r>
            <a:pPr algn="l" indent="0" marL="0">
              <a:buNone/>
            </a:pPr>
            <a:r>
              <a:rPr lang="en-US" sz="1100" dirty="0">
                <a:solidFill>
                  <a:srgbClr val="4B5563"/>
                </a:solidFill>
                <a:latin typeface="Calibri" pitchFamily="34" charset="0"/>
                <a:ea typeface="Calibri" pitchFamily="34" charset="-122"/>
                <a:cs typeface="Calibri" pitchFamily="34" charset="-120"/>
              </a:rPr>
              <a:t>FL POC likely stays as architecture + code stub. Not enough hours for a full multi-round demo.</a:t>
            </a:r>
            <a:endParaRPr lang="en-US" sz="1200" dirty="0"/>
          </a:p>
        </p:txBody>
      </p:sp>
      <p:sp>
        <p:nvSpPr>
          <p:cNvPr id="14" name="Text 12"/>
          <p:cNvSpPr/>
          <p:nvPr/>
        </p:nvSpPr>
        <p:spPr>
          <a:xfrm>
            <a:off x="640080" y="3877056"/>
            <a:ext cx="274320" cy="320040"/>
          </a:xfrm>
          <a:prstGeom prst="rect">
            <a:avLst/>
          </a:prstGeom>
          <a:noFill/>
          <a:ln/>
        </p:spPr>
        <p:txBody>
          <a:bodyPr wrap="square" lIns="0" tIns="0" rIns="0" bIns="0" rtlCol="0" anchor="t"/>
          <a:lstStyle/>
          <a:p>
            <a:pPr algn="l" indent="0" marL="0">
              <a:buNone/>
            </a:pPr>
            <a:r>
              <a:rPr lang="en-US" sz="1500" b="1" dirty="0">
                <a:solidFill>
                  <a:srgbClr val="DC2626"/>
                </a:solidFill>
                <a:latin typeface="Calibri" pitchFamily="34" charset="0"/>
                <a:ea typeface="Calibri" pitchFamily="34" charset="-122"/>
                <a:cs typeface="Calibri" pitchFamily="34" charset="-120"/>
              </a:rPr>
              <a:t>×</a:t>
            </a:r>
            <a:endParaRPr lang="en-US" sz="1500" dirty="0"/>
          </a:p>
        </p:txBody>
      </p:sp>
      <p:sp>
        <p:nvSpPr>
          <p:cNvPr id="15" name="Text 13"/>
          <p:cNvSpPr/>
          <p:nvPr/>
        </p:nvSpPr>
        <p:spPr>
          <a:xfrm>
            <a:off x="914400" y="3877056"/>
            <a:ext cx="5166360" cy="548640"/>
          </a:xfrm>
          <a:prstGeom prst="rect">
            <a:avLst/>
          </a:prstGeom>
          <a:noFill/>
          <a:ln/>
        </p:spPr>
        <p:txBody>
          <a:bodyPr wrap="square" lIns="0" tIns="0" rIns="0" bIns="0" rtlCol="0" anchor="t"/>
          <a:lstStyle/>
          <a:p>
            <a:pPr algn="l" indent="0" marL="0">
              <a:buNone/>
            </a:pPr>
            <a:r>
              <a:rPr lang="en-US" sz="1200" b="1" dirty="0">
                <a:solidFill>
                  <a:srgbClr val="1F2937"/>
                </a:solidFill>
                <a:latin typeface="Calibri" pitchFamily="34" charset="0"/>
                <a:ea typeface="Calibri" pitchFamily="34" charset="-122"/>
                <a:cs typeface="Calibri" pitchFamily="34" charset="-120"/>
              </a:rPr>
              <a:t>Waste-picker mobile app  </a:t>
            </a:r>
            <a:pPr algn="l" indent="0" marL="0">
              <a:buNone/>
            </a:pPr>
            <a:r>
              <a:rPr lang="en-US" sz="1100" dirty="0">
                <a:solidFill>
                  <a:srgbClr val="4B5563"/>
                </a:solidFill>
                <a:latin typeface="Calibri" pitchFamily="34" charset="0"/>
                <a:ea typeface="Calibri" pitchFamily="34" charset="-122"/>
                <a:cs typeface="Calibri" pitchFamily="34" charset="-120"/>
              </a:rPr>
              <a:t>Mobile companion app stays as design + API contract, not a shipped React Native build.</a:t>
            </a:r>
            <a:endParaRPr lang="en-US" sz="1200" dirty="0"/>
          </a:p>
        </p:txBody>
      </p:sp>
      <p:sp>
        <p:nvSpPr>
          <p:cNvPr id="16" name="Text 14"/>
          <p:cNvSpPr/>
          <p:nvPr/>
        </p:nvSpPr>
        <p:spPr>
          <a:xfrm>
            <a:off x="640080" y="4498848"/>
            <a:ext cx="274320" cy="320040"/>
          </a:xfrm>
          <a:prstGeom prst="rect">
            <a:avLst/>
          </a:prstGeom>
          <a:noFill/>
          <a:ln/>
        </p:spPr>
        <p:txBody>
          <a:bodyPr wrap="square" lIns="0" tIns="0" rIns="0" bIns="0" rtlCol="0" anchor="t"/>
          <a:lstStyle/>
          <a:p>
            <a:pPr algn="l" indent="0" marL="0">
              <a:buNone/>
            </a:pPr>
            <a:r>
              <a:rPr lang="en-US" sz="1500" b="1" dirty="0">
                <a:solidFill>
                  <a:srgbClr val="DC2626"/>
                </a:solidFill>
                <a:latin typeface="Calibri" pitchFamily="34" charset="0"/>
                <a:ea typeface="Calibri" pitchFamily="34" charset="-122"/>
                <a:cs typeface="Calibri" pitchFamily="34" charset="-120"/>
              </a:rPr>
              <a:t>×</a:t>
            </a:r>
            <a:endParaRPr lang="en-US" sz="1500" dirty="0"/>
          </a:p>
        </p:txBody>
      </p:sp>
      <p:sp>
        <p:nvSpPr>
          <p:cNvPr id="17" name="Text 15"/>
          <p:cNvSpPr/>
          <p:nvPr/>
        </p:nvSpPr>
        <p:spPr>
          <a:xfrm>
            <a:off x="914400" y="4498848"/>
            <a:ext cx="5166360" cy="548640"/>
          </a:xfrm>
          <a:prstGeom prst="rect">
            <a:avLst/>
          </a:prstGeom>
          <a:noFill/>
          <a:ln/>
        </p:spPr>
        <p:txBody>
          <a:bodyPr wrap="square" lIns="0" tIns="0" rIns="0" bIns="0" rtlCol="0" anchor="t"/>
          <a:lstStyle/>
          <a:p>
            <a:pPr algn="l" indent="0" marL="0">
              <a:buNone/>
            </a:pPr>
            <a:r>
              <a:rPr lang="en-US" sz="1200" b="1" dirty="0">
                <a:solidFill>
                  <a:srgbClr val="1F2937"/>
                </a:solidFill>
                <a:latin typeface="Calibri" pitchFamily="34" charset="0"/>
                <a:ea typeface="Calibri" pitchFamily="34" charset="-122"/>
                <a:cs typeface="Calibri" pitchFamily="34" charset="-120"/>
              </a:rPr>
              <a:t>Dataset labeling depth  </a:t>
            </a:r>
            <a:pPr algn="l" indent="0" marL="0">
              <a:buNone/>
            </a:pPr>
            <a:r>
              <a:rPr lang="en-US" sz="1100" dirty="0">
                <a:solidFill>
                  <a:srgbClr val="4B5563"/>
                </a:solidFill>
                <a:latin typeface="Calibri" pitchFamily="34" charset="0"/>
                <a:ea typeface="Calibri" pitchFamily="34" charset="-122"/>
                <a:cs typeface="Calibri" pitchFamily="34" charset="-120"/>
              </a:rPr>
              <a:t>No custom-labeled local waste dataset. We rely on TrashNet + TACO.</a:t>
            </a:r>
            <a:endParaRPr lang="en-US" sz="1200" dirty="0"/>
          </a:p>
        </p:txBody>
      </p:sp>
      <p:sp>
        <p:nvSpPr>
          <p:cNvPr id="18" name="Text 16"/>
          <p:cNvSpPr/>
          <p:nvPr/>
        </p:nvSpPr>
        <p:spPr>
          <a:xfrm>
            <a:off x="640080" y="5120640"/>
            <a:ext cx="274320" cy="320040"/>
          </a:xfrm>
          <a:prstGeom prst="rect">
            <a:avLst/>
          </a:prstGeom>
          <a:noFill/>
          <a:ln/>
        </p:spPr>
        <p:txBody>
          <a:bodyPr wrap="square" lIns="0" tIns="0" rIns="0" bIns="0" rtlCol="0" anchor="t"/>
          <a:lstStyle/>
          <a:p>
            <a:pPr algn="l" indent="0" marL="0">
              <a:buNone/>
            </a:pPr>
            <a:r>
              <a:rPr lang="en-US" sz="1500" b="1" dirty="0">
                <a:solidFill>
                  <a:srgbClr val="DC2626"/>
                </a:solidFill>
                <a:latin typeface="Calibri" pitchFamily="34" charset="0"/>
                <a:ea typeface="Calibri" pitchFamily="34" charset="-122"/>
                <a:cs typeface="Calibri" pitchFamily="34" charset="-120"/>
              </a:rPr>
              <a:t>×</a:t>
            </a:r>
            <a:endParaRPr lang="en-US" sz="1500" dirty="0"/>
          </a:p>
        </p:txBody>
      </p:sp>
      <p:sp>
        <p:nvSpPr>
          <p:cNvPr id="19" name="Text 17"/>
          <p:cNvSpPr/>
          <p:nvPr/>
        </p:nvSpPr>
        <p:spPr>
          <a:xfrm>
            <a:off x="914400" y="5120640"/>
            <a:ext cx="5166360" cy="548640"/>
          </a:xfrm>
          <a:prstGeom prst="rect">
            <a:avLst/>
          </a:prstGeom>
          <a:noFill/>
          <a:ln/>
        </p:spPr>
        <p:txBody>
          <a:bodyPr wrap="square" lIns="0" tIns="0" rIns="0" bIns="0" rtlCol="0" anchor="t"/>
          <a:lstStyle/>
          <a:p>
            <a:pPr algn="l" indent="0" marL="0">
              <a:buNone/>
            </a:pPr>
            <a:r>
              <a:rPr lang="en-US" sz="1200" b="1" dirty="0">
                <a:solidFill>
                  <a:srgbClr val="1F2937"/>
                </a:solidFill>
                <a:latin typeface="Calibri" pitchFamily="34" charset="0"/>
                <a:ea typeface="Calibri" pitchFamily="34" charset="-122"/>
                <a:cs typeface="Calibri" pitchFamily="34" charset="-120"/>
              </a:rPr>
              <a:t>NGO / field partner  </a:t>
            </a:r>
            <a:pPr algn="l" indent="0" marL="0">
              <a:buNone/>
            </a:pPr>
            <a:r>
              <a:rPr lang="en-US" sz="1100" dirty="0">
                <a:solidFill>
                  <a:srgbClr val="4B5563"/>
                </a:solidFill>
                <a:latin typeface="Calibri" pitchFamily="34" charset="0"/>
                <a:ea typeface="Calibri" pitchFamily="34" charset="-122"/>
                <a:cs typeface="Calibri" pitchFamily="34" charset="-120"/>
              </a:rPr>
              <a:t>No confirmed pilot partner yet for the informal-sector bridge.</a:t>
            </a:r>
            <a:endParaRPr lang="en-US" sz="1200" dirty="0"/>
          </a:p>
        </p:txBody>
      </p:sp>
      <p:sp>
        <p:nvSpPr>
          <p:cNvPr id="20" name="Shape 18"/>
          <p:cNvSpPr/>
          <p:nvPr/>
        </p:nvSpPr>
        <p:spPr>
          <a:xfrm>
            <a:off x="6263640" y="1234440"/>
            <a:ext cx="5623560" cy="4709160"/>
          </a:xfrm>
          <a:prstGeom prst="roundRect">
            <a:avLst>
              <a:gd name="adj" fmla="val 2330"/>
            </a:avLst>
          </a:prstGeom>
          <a:solidFill>
            <a:srgbClr val="DCFCE7"/>
          </a:solidFill>
          <a:ln/>
        </p:spPr>
      </p:sp>
      <p:sp>
        <p:nvSpPr>
          <p:cNvPr id="21" name="Text 19"/>
          <p:cNvSpPr/>
          <p:nvPr/>
        </p:nvSpPr>
        <p:spPr>
          <a:xfrm>
            <a:off x="6446520" y="1417320"/>
            <a:ext cx="5257800" cy="411480"/>
          </a:xfrm>
          <a:prstGeom prst="rect">
            <a:avLst/>
          </a:prstGeom>
          <a:noFill/>
          <a:ln/>
        </p:spPr>
        <p:txBody>
          <a:bodyPr wrap="square" lIns="0" tIns="0" rIns="0" bIns="0" rtlCol="0" anchor="t"/>
          <a:lstStyle/>
          <a:p>
            <a:pPr algn="l" indent="0" marL="0">
              <a:buNone/>
            </a:pPr>
            <a:r>
              <a:rPr lang="en-US" sz="1600" b="1" dirty="0">
                <a:solidFill>
                  <a:srgbClr val="16A34A"/>
                </a:solidFill>
                <a:latin typeface="Calibri" pitchFamily="34" charset="0"/>
                <a:ea typeface="Calibri" pitchFamily="34" charset="-122"/>
                <a:cs typeface="Calibri" pitchFamily="34" charset="-120"/>
              </a:rPr>
              <a:t>★   What we ask of you</a:t>
            </a:r>
            <a:endParaRPr lang="en-US" sz="1600" dirty="0"/>
          </a:p>
        </p:txBody>
      </p:sp>
      <p:sp>
        <p:nvSpPr>
          <p:cNvPr id="22" name="Text 20"/>
          <p:cNvSpPr/>
          <p:nvPr/>
        </p:nvSpPr>
        <p:spPr>
          <a:xfrm>
            <a:off x="6446520" y="2011680"/>
            <a:ext cx="274320" cy="320040"/>
          </a:xfrm>
          <a:prstGeom prst="rect">
            <a:avLst/>
          </a:prstGeom>
          <a:noFill/>
          <a:ln/>
        </p:spPr>
        <p:txBody>
          <a:bodyPr wrap="square" lIns="0" tIns="0" rIns="0" bIns="0" rtlCol="0" anchor="t"/>
          <a:lstStyle/>
          <a:p>
            <a:pPr algn="l" indent="0" marL="0">
              <a:buNone/>
            </a:pPr>
            <a:r>
              <a:rPr lang="en-US" sz="1500" b="1" dirty="0">
                <a:solidFill>
                  <a:srgbClr val="16A34A"/>
                </a:solidFill>
                <a:latin typeface="Calibri" pitchFamily="34" charset="0"/>
                <a:ea typeface="Calibri" pitchFamily="34" charset="-122"/>
                <a:cs typeface="Calibri" pitchFamily="34" charset="-120"/>
              </a:rPr>
              <a:t>▸</a:t>
            </a:r>
            <a:endParaRPr lang="en-US" sz="1500" dirty="0"/>
          </a:p>
        </p:txBody>
      </p:sp>
      <p:sp>
        <p:nvSpPr>
          <p:cNvPr id="23" name="Text 21"/>
          <p:cNvSpPr/>
          <p:nvPr/>
        </p:nvSpPr>
        <p:spPr>
          <a:xfrm>
            <a:off x="6720840" y="2011680"/>
            <a:ext cx="4983480" cy="685800"/>
          </a:xfrm>
          <a:prstGeom prst="rect">
            <a:avLst/>
          </a:prstGeom>
          <a:noFill/>
          <a:ln/>
        </p:spPr>
        <p:txBody>
          <a:bodyPr wrap="square" lIns="0" tIns="0" rIns="0" bIns="0" rtlCol="0" anchor="t"/>
          <a:lstStyle/>
          <a:p>
            <a:pPr algn="l" indent="0" marL="0">
              <a:spcAft>
                <a:spcPts val="200"/>
              </a:spcAft>
              <a:buNone/>
            </a:pPr>
            <a:r>
              <a:rPr lang="en-US" sz="1200" b="1" dirty="0">
                <a:solidFill>
                  <a:srgbClr val="1F2937"/>
                </a:solidFill>
                <a:latin typeface="Calibri" pitchFamily="34" charset="0"/>
                <a:ea typeface="Calibri" pitchFamily="34" charset="-122"/>
                <a:cs typeface="Calibri" pitchFamily="34" charset="-120"/>
              </a:rPr>
              <a:t>Validate the software-first pivot
</a:t>
            </a:r>
            <a:pPr algn="l" indent="0" marL="0">
              <a:spcAft>
                <a:spcPts val="200"/>
              </a:spcAft>
              <a:buNone/>
            </a:pPr>
            <a:r>
              <a:rPr lang="en-US" sz="1100" dirty="0">
                <a:solidFill>
                  <a:srgbClr val="4B5563"/>
                </a:solidFill>
                <a:latin typeface="Calibri" pitchFamily="34" charset="0"/>
                <a:ea typeface="Calibri" pitchFamily="34" charset="-122"/>
                <a:cs typeface="Calibri" pitchFamily="34" charset="-120"/>
              </a:rPr>
              <a:t>Given 3 days, is our cut-line (ML pipeline + web app, simulator instead of hardware) the right one?</a:t>
            </a:r>
            <a:endParaRPr lang="en-US" sz="1200" dirty="0"/>
          </a:p>
        </p:txBody>
      </p:sp>
      <p:sp>
        <p:nvSpPr>
          <p:cNvPr id="24" name="Text 22"/>
          <p:cNvSpPr/>
          <p:nvPr/>
        </p:nvSpPr>
        <p:spPr>
          <a:xfrm>
            <a:off x="6446520" y="2761488"/>
            <a:ext cx="274320" cy="320040"/>
          </a:xfrm>
          <a:prstGeom prst="rect">
            <a:avLst/>
          </a:prstGeom>
          <a:noFill/>
          <a:ln/>
        </p:spPr>
        <p:txBody>
          <a:bodyPr wrap="square" lIns="0" tIns="0" rIns="0" bIns="0" rtlCol="0" anchor="t"/>
          <a:lstStyle/>
          <a:p>
            <a:pPr algn="l" indent="0" marL="0">
              <a:buNone/>
            </a:pPr>
            <a:r>
              <a:rPr lang="en-US" sz="1500" b="1" dirty="0">
                <a:solidFill>
                  <a:srgbClr val="16A34A"/>
                </a:solidFill>
                <a:latin typeface="Calibri" pitchFamily="34" charset="0"/>
                <a:ea typeface="Calibri" pitchFamily="34" charset="-122"/>
                <a:cs typeface="Calibri" pitchFamily="34" charset="-120"/>
              </a:rPr>
              <a:t>▸</a:t>
            </a:r>
            <a:endParaRPr lang="en-US" sz="1500" dirty="0"/>
          </a:p>
        </p:txBody>
      </p:sp>
      <p:sp>
        <p:nvSpPr>
          <p:cNvPr id="25" name="Text 23"/>
          <p:cNvSpPr/>
          <p:nvPr/>
        </p:nvSpPr>
        <p:spPr>
          <a:xfrm>
            <a:off x="6720840" y="2761488"/>
            <a:ext cx="4983480" cy="685800"/>
          </a:xfrm>
          <a:prstGeom prst="rect">
            <a:avLst/>
          </a:prstGeom>
          <a:noFill/>
          <a:ln/>
        </p:spPr>
        <p:txBody>
          <a:bodyPr wrap="square" lIns="0" tIns="0" rIns="0" bIns="0" rtlCol="0" anchor="t"/>
          <a:lstStyle/>
          <a:p>
            <a:pPr algn="l" indent="0" marL="0">
              <a:spcAft>
                <a:spcPts val="200"/>
              </a:spcAft>
              <a:buNone/>
            </a:pPr>
            <a:r>
              <a:rPr lang="en-US" sz="1200" b="1" dirty="0">
                <a:solidFill>
                  <a:srgbClr val="1F2937"/>
                </a:solidFill>
                <a:latin typeface="Calibri" pitchFamily="34" charset="0"/>
                <a:ea typeface="Calibri" pitchFamily="34" charset="-122"/>
                <a:cs typeface="Calibri" pitchFamily="34" charset="-120"/>
              </a:rPr>
              <a:t>Sharpen the ML approach
</a:t>
            </a:r>
            <a:pPr algn="l" indent="0" marL="0">
              <a:spcAft>
                <a:spcPts val="200"/>
              </a:spcAft>
              <a:buNone/>
            </a:pPr>
            <a:r>
              <a:rPr lang="en-US" sz="1100" dirty="0">
                <a:solidFill>
                  <a:srgbClr val="4B5563"/>
                </a:solidFill>
                <a:latin typeface="Calibri" pitchFamily="34" charset="0"/>
                <a:ea typeface="Calibri" pitchFamily="34" charset="-122"/>
                <a:cs typeface="Calibri" pitchFamily="34" charset="-120"/>
              </a:rPr>
              <a:t>Is our fine-tuning strategy on YOLOv8n + TrashNet + TACO the right path? Anything we are missing?</a:t>
            </a:r>
            <a:endParaRPr lang="en-US" sz="1200" dirty="0"/>
          </a:p>
        </p:txBody>
      </p:sp>
      <p:sp>
        <p:nvSpPr>
          <p:cNvPr id="26" name="Text 24"/>
          <p:cNvSpPr/>
          <p:nvPr/>
        </p:nvSpPr>
        <p:spPr>
          <a:xfrm>
            <a:off x="6446520" y="3511296"/>
            <a:ext cx="274320" cy="320040"/>
          </a:xfrm>
          <a:prstGeom prst="rect">
            <a:avLst/>
          </a:prstGeom>
          <a:noFill/>
          <a:ln/>
        </p:spPr>
        <p:txBody>
          <a:bodyPr wrap="square" lIns="0" tIns="0" rIns="0" bIns="0" rtlCol="0" anchor="t"/>
          <a:lstStyle/>
          <a:p>
            <a:pPr algn="l" indent="0" marL="0">
              <a:buNone/>
            </a:pPr>
            <a:r>
              <a:rPr lang="en-US" sz="1500" b="1" dirty="0">
                <a:solidFill>
                  <a:srgbClr val="16A34A"/>
                </a:solidFill>
                <a:latin typeface="Calibri" pitchFamily="34" charset="0"/>
                <a:ea typeface="Calibri" pitchFamily="34" charset="-122"/>
                <a:cs typeface="Calibri" pitchFamily="34" charset="-120"/>
              </a:rPr>
              <a:t>▸</a:t>
            </a:r>
            <a:endParaRPr lang="en-US" sz="1500" dirty="0"/>
          </a:p>
        </p:txBody>
      </p:sp>
      <p:sp>
        <p:nvSpPr>
          <p:cNvPr id="27" name="Text 25"/>
          <p:cNvSpPr/>
          <p:nvPr/>
        </p:nvSpPr>
        <p:spPr>
          <a:xfrm>
            <a:off x="6720840" y="3511296"/>
            <a:ext cx="4983480" cy="685800"/>
          </a:xfrm>
          <a:prstGeom prst="rect">
            <a:avLst/>
          </a:prstGeom>
          <a:noFill/>
          <a:ln/>
        </p:spPr>
        <p:txBody>
          <a:bodyPr wrap="square" lIns="0" tIns="0" rIns="0" bIns="0" rtlCol="0" anchor="t"/>
          <a:lstStyle/>
          <a:p>
            <a:pPr algn="l" indent="0" marL="0">
              <a:spcAft>
                <a:spcPts val="200"/>
              </a:spcAft>
              <a:buNone/>
            </a:pPr>
            <a:r>
              <a:rPr lang="en-US" sz="1200" b="1" dirty="0">
                <a:solidFill>
                  <a:srgbClr val="1F2937"/>
                </a:solidFill>
                <a:latin typeface="Calibri" pitchFamily="34" charset="0"/>
                <a:ea typeface="Calibri" pitchFamily="34" charset="-122"/>
                <a:cs typeface="Calibri" pitchFamily="34" charset="-120"/>
              </a:rPr>
              <a:t>Guide the FL story
</a:t>
            </a:r>
            <a:pPr algn="l" indent="0" marL="0">
              <a:spcAft>
                <a:spcPts val="200"/>
              </a:spcAft>
              <a:buNone/>
            </a:pPr>
            <a:r>
              <a:rPr lang="en-US" sz="1100" dirty="0">
                <a:solidFill>
                  <a:srgbClr val="4B5563"/>
                </a:solidFill>
                <a:latin typeface="Calibri" pitchFamily="34" charset="0"/>
                <a:ea typeface="Calibri" pitchFamily="34" charset="-122"/>
                <a:cs typeface="Calibri" pitchFamily="34" charset="-120"/>
              </a:rPr>
              <a:t>How do we present the Federated Learning contribution honestly, given it will be design + stub not a full demo?</a:t>
            </a:r>
            <a:endParaRPr lang="en-US" sz="1200" dirty="0"/>
          </a:p>
        </p:txBody>
      </p:sp>
      <p:sp>
        <p:nvSpPr>
          <p:cNvPr id="28" name="Text 26"/>
          <p:cNvSpPr/>
          <p:nvPr/>
        </p:nvSpPr>
        <p:spPr>
          <a:xfrm>
            <a:off x="6446520" y="4261104"/>
            <a:ext cx="274320" cy="320040"/>
          </a:xfrm>
          <a:prstGeom prst="rect">
            <a:avLst/>
          </a:prstGeom>
          <a:noFill/>
          <a:ln/>
        </p:spPr>
        <p:txBody>
          <a:bodyPr wrap="square" lIns="0" tIns="0" rIns="0" bIns="0" rtlCol="0" anchor="t"/>
          <a:lstStyle/>
          <a:p>
            <a:pPr algn="l" indent="0" marL="0">
              <a:buNone/>
            </a:pPr>
            <a:r>
              <a:rPr lang="en-US" sz="1500" b="1" dirty="0">
                <a:solidFill>
                  <a:srgbClr val="16A34A"/>
                </a:solidFill>
                <a:latin typeface="Calibri" pitchFamily="34" charset="0"/>
                <a:ea typeface="Calibri" pitchFamily="34" charset="-122"/>
                <a:cs typeface="Calibri" pitchFamily="34" charset="-120"/>
              </a:rPr>
              <a:t>▸</a:t>
            </a:r>
            <a:endParaRPr lang="en-US" sz="1500" dirty="0"/>
          </a:p>
        </p:txBody>
      </p:sp>
      <p:sp>
        <p:nvSpPr>
          <p:cNvPr id="29" name="Text 27"/>
          <p:cNvSpPr/>
          <p:nvPr/>
        </p:nvSpPr>
        <p:spPr>
          <a:xfrm>
            <a:off x="6720840" y="4261104"/>
            <a:ext cx="4983480" cy="685800"/>
          </a:xfrm>
          <a:prstGeom prst="rect">
            <a:avLst/>
          </a:prstGeom>
          <a:noFill/>
          <a:ln/>
        </p:spPr>
        <p:txBody>
          <a:bodyPr wrap="square" lIns="0" tIns="0" rIns="0" bIns="0" rtlCol="0" anchor="t"/>
          <a:lstStyle/>
          <a:p>
            <a:pPr algn="l" indent="0" marL="0">
              <a:spcAft>
                <a:spcPts val="200"/>
              </a:spcAft>
              <a:buNone/>
            </a:pPr>
            <a:r>
              <a:rPr lang="en-US" sz="1200" b="1" dirty="0">
                <a:solidFill>
                  <a:srgbClr val="1F2937"/>
                </a:solidFill>
                <a:latin typeface="Calibri" pitchFamily="34" charset="0"/>
                <a:ea typeface="Calibri" pitchFamily="34" charset="-122"/>
                <a:cs typeface="Calibri" pitchFamily="34" charset="-120"/>
              </a:rPr>
              <a:t>Post-hackathon next steps
</a:t>
            </a:r>
            <a:pPr algn="l" indent="0" marL="0">
              <a:spcAft>
                <a:spcPts val="200"/>
              </a:spcAft>
              <a:buNone/>
            </a:pPr>
            <a:r>
              <a:rPr lang="en-US" sz="1100" dirty="0">
                <a:solidFill>
                  <a:srgbClr val="4B5563"/>
                </a:solidFill>
                <a:latin typeface="Calibri" pitchFamily="34" charset="0"/>
                <a:ea typeface="Calibri" pitchFamily="34" charset="-122"/>
                <a:cs typeface="Calibri" pitchFamily="34" charset="-120"/>
              </a:rPr>
              <a:t>If we place well, what does the paper track look like? Which IEEE venue fits? Any reviewer contacts?</a:t>
            </a:r>
            <a:endParaRPr lang="en-US" sz="1200" dirty="0"/>
          </a:p>
        </p:txBody>
      </p:sp>
      <p:sp>
        <p:nvSpPr>
          <p:cNvPr id="30" name="Text 28"/>
          <p:cNvSpPr/>
          <p:nvPr/>
        </p:nvSpPr>
        <p:spPr>
          <a:xfrm>
            <a:off x="6446520" y="5010912"/>
            <a:ext cx="274320" cy="320040"/>
          </a:xfrm>
          <a:prstGeom prst="rect">
            <a:avLst/>
          </a:prstGeom>
          <a:noFill/>
          <a:ln/>
        </p:spPr>
        <p:txBody>
          <a:bodyPr wrap="square" lIns="0" tIns="0" rIns="0" bIns="0" rtlCol="0" anchor="t"/>
          <a:lstStyle/>
          <a:p>
            <a:pPr algn="l" indent="0" marL="0">
              <a:buNone/>
            </a:pPr>
            <a:r>
              <a:rPr lang="en-US" sz="1500" b="1" dirty="0">
                <a:solidFill>
                  <a:srgbClr val="16A34A"/>
                </a:solidFill>
                <a:latin typeface="Calibri" pitchFamily="34" charset="0"/>
                <a:ea typeface="Calibri" pitchFamily="34" charset="-122"/>
                <a:cs typeface="Calibri" pitchFamily="34" charset="-120"/>
              </a:rPr>
              <a:t>▸</a:t>
            </a:r>
            <a:endParaRPr lang="en-US" sz="1500" dirty="0"/>
          </a:p>
        </p:txBody>
      </p:sp>
      <p:sp>
        <p:nvSpPr>
          <p:cNvPr id="31" name="Text 29"/>
          <p:cNvSpPr/>
          <p:nvPr/>
        </p:nvSpPr>
        <p:spPr>
          <a:xfrm>
            <a:off x="6720840" y="5010912"/>
            <a:ext cx="4983480" cy="685800"/>
          </a:xfrm>
          <a:prstGeom prst="rect">
            <a:avLst/>
          </a:prstGeom>
          <a:noFill/>
          <a:ln/>
        </p:spPr>
        <p:txBody>
          <a:bodyPr wrap="square" lIns="0" tIns="0" rIns="0" bIns="0" rtlCol="0" anchor="t"/>
          <a:lstStyle/>
          <a:p>
            <a:pPr algn="l" indent="0" marL="0">
              <a:spcAft>
                <a:spcPts val="200"/>
              </a:spcAft>
              <a:buNone/>
            </a:pPr>
            <a:r>
              <a:rPr lang="en-US" sz="1200" b="1" dirty="0">
                <a:solidFill>
                  <a:srgbClr val="1F2937"/>
                </a:solidFill>
                <a:latin typeface="Calibri" pitchFamily="34" charset="0"/>
                <a:ea typeface="Calibri" pitchFamily="34" charset="-122"/>
                <a:cs typeface="Calibri" pitchFamily="34" charset="-120"/>
              </a:rPr>
              <a:t>Any resource unlock
</a:t>
            </a:r>
            <a:pPr algn="l" indent="0" marL="0">
              <a:spcAft>
                <a:spcPts val="200"/>
              </a:spcAft>
              <a:buNone/>
            </a:pPr>
            <a:r>
              <a:rPr lang="en-US" sz="1100" dirty="0">
                <a:solidFill>
                  <a:srgbClr val="4B5563"/>
                </a:solidFill>
                <a:latin typeface="Calibri" pitchFamily="34" charset="0"/>
                <a:ea typeface="Calibri" pitchFamily="34" charset="-122"/>
                <a:cs typeface="Calibri" pitchFamily="34" charset="-120"/>
              </a:rPr>
              <a:t>Access to a Pi + sensor kit (even post-submission) for a v2 demo. Any NGO connection for a pilot.</a:t>
            </a:r>
            <a:endParaRPr lang="en-US" sz="1200" dirty="0"/>
          </a:p>
        </p:txBody>
      </p:sp>
      <p:sp>
        <p:nvSpPr>
          <p:cNvPr id="32" name="Shape 30"/>
          <p:cNvSpPr/>
          <p:nvPr/>
        </p:nvSpPr>
        <p:spPr>
          <a:xfrm>
            <a:off x="457200" y="6080760"/>
            <a:ext cx="11247120" cy="502920"/>
          </a:xfrm>
          <a:prstGeom prst="roundRect">
            <a:avLst>
              <a:gd name="adj" fmla="val 18182"/>
            </a:avLst>
          </a:prstGeom>
          <a:solidFill>
            <a:srgbClr val="1F2937"/>
          </a:solidFill>
          <a:ln/>
        </p:spPr>
      </p:sp>
      <p:sp>
        <p:nvSpPr>
          <p:cNvPr id="33" name="Text 31"/>
          <p:cNvSpPr/>
          <p:nvPr/>
        </p:nvSpPr>
        <p:spPr>
          <a:xfrm>
            <a:off x="457200" y="6080760"/>
            <a:ext cx="11247120" cy="502920"/>
          </a:xfrm>
          <a:prstGeom prst="rect">
            <a:avLst/>
          </a:prstGeom>
          <a:noFill/>
          <a:ln/>
        </p:spPr>
        <p:txBody>
          <a:bodyPr wrap="square" lIns="0" tIns="0" rIns="0" bIns="0" rtlCol="0" anchor="ctr"/>
          <a:lstStyle/>
          <a:p>
            <a:pPr algn="ctr" indent="0" marL="0">
              <a:buNone/>
            </a:pPr>
            <a:r>
              <a:rPr lang="en-US" sz="1250" i="1" dirty="0">
                <a:solidFill>
                  <a:srgbClr val="FFFFFF"/>
                </a:solidFill>
                <a:latin typeface="Calibri" pitchFamily="34" charset="0"/>
                <a:ea typeface="Calibri" pitchFamily="34" charset="-122"/>
                <a:cs typeface="Calibri" pitchFamily="34" charset="-120"/>
              </a:rPr>
              <a:t>We would rather show you the honest state and get sharp guidance than dress up something we have not built.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548640" cy="502920"/>
          </a:xfrm>
          <a:prstGeom prst="roundRect">
            <a:avLst>
              <a:gd name="adj" fmla="val 14545"/>
            </a:avLst>
          </a:prstGeom>
          <a:solidFill>
            <a:srgbClr val="E85D25"/>
          </a:solidFill>
          <a:ln/>
        </p:spPr>
      </p:sp>
      <p:sp>
        <p:nvSpPr>
          <p:cNvPr id="3" name="Text 1"/>
          <p:cNvSpPr/>
          <p:nvPr/>
        </p:nvSpPr>
        <p:spPr>
          <a:xfrm>
            <a:off x="457200" y="365760"/>
            <a:ext cx="54864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07</a:t>
            </a:r>
            <a:endParaRPr lang="en-US" sz="2000" dirty="0"/>
          </a:p>
        </p:txBody>
      </p:sp>
      <p:sp>
        <p:nvSpPr>
          <p:cNvPr id="4" name="Text 2"/>
          <p:cNvSpPr/>
          <p:nvPr/>
        </p:nvSpPr>
        <p:spPr>
          <a:xfrm>
            <a:off x="1143000" y="320040"/>
            <a:ext cx="8686800" cy="594360"/>
          </a:xfrm>
          <a:prstGeom prst="rect">
            <a:avLst/>
          </a:prstGeom>
          <a:noFill/>
          <a:ln/>
        </p:spPr>
        <p:txBody>
          <a:bodyPr wrap="square" lIns="0" tIns="0" rIns="0" bIns="0" rtlCol="0" anchor="ctr"/>
          <a:lstStyle/>
          <a:p>
            <a:pPr algn="l" indent="0" marL="0">
              <a:buNone/>
            </a:pPr>
            <a:r>
              <a:rPr lang="en-US" sz="2800" b="1" dirty="0">
                <a:solidFill>
                  <a:srgbClr val="1E3A8A"/>
                </a:solidFill>
                <a:latin typeface="Calibri" pitchFamily="34" charset="0"/>
                <a:ea typeface="Calibri" pitchFamily="34" charset="-122"/>
                <a:cs typeface="Calibri" pitchFamily="34" charset="-120"/>
              </a:rPr>
              <a:t>Closing</a:t>
            </a:r>
            <a:endParaRPr lang="en-US" sz="2800" dirty="0"/>
          </a:p>
        </p:txBody>
      </p:sp>
      <p:sp>
        <p:nvSpPr>
          <p:cNvPr id="5" name="Text 3"/>
          <p:cNvSpPr/>
          <p:nvPr/>
        </p:nvSpPr>
        <p:spPr>
          <a:xfrm>
            <a:off x="9144000" y="384048"/>
            <a:ext cx="2651760" cy="457200"/>
          </a:xfrm>
          <a:prstGeom prst="rect">
            <a:avLst/>
          </a:prstGeom>
          <a:noFill/>
          <a:ln/>
        </p:spPr>
        <p:txBody>
          <a:bodyPr wrap="square" lIns="0" tIns="0" rIns="0" bIns="0" rtlCol="0" anchor="ctr"/>
          <a:lstStyle/>
          <a:p>
            <a:pPr algn="r" indent="0" marL="0">
              <a:buNone/>
            </a:pPr>
            <a:r>
              <a:rPr lang="en-US" sz="1100" i="1" dirty="0">
                <a:solidFill>
                  <a:srgbClr val="4B5563"/>
                </a:solidFill>
                <a:latin typeface="Calibri" pitchFamily="34" charset="0"/>
                <a:ea typeface="Calibri" pitchFamily="34" charset="-122"/>
                <a:cs typeface="Calibri" pitchFamily="34" charset="-120"/>
              </a:rPr>
              <a:t>Thank you</a:t>
            </a:r>
            <a:endParaRPr lang="en-US" sz="1100" dirty="0"/>
          </a:p>
        </p:txBody>
      </p:sp>
      <p:sp>
        <p:nvSpPr>
          <p:cNvPr id="6" name="Text 4"/>
          <p:cNvSpPr/>
          <p:nvPr/>
        </p:nvSpPr>
        <p:spPr>
          <a:xfrm>
            <a:off x="457200" y="1371600"/>
            <a:ext cx="11247120" cy="640080"/>
          </a:xfrm>
          <a:prstGeom prst="rect">
            <a:avLst/>
          </a:prstGeom>
          <a:noFill/>
          <a:ln/>
        </p:spPr>
        <p:txBody>
          <a:bodyPr wrap="square" lIns="0" tIns="0" rIns="0" bIns="0" rtlCol="0" anchor="t"/>
          <a:lstStyle/>
          <a:p>
            <a:pPr algn="l" indent="0" marL="0">
              <a:buNone/>
            </a:pPr>
            <a:r>
              <a:rPr lang="en-US" sz="3200" b="1" dirty="0">
                <a:solidFill>
                  <a:srgbClr val="1F2937"/>
                </a:solidFill>
                <a:latin typeface="Calibri" pitchFamily="34" charset="0"/>
                <a:ea typeface="Calibri" pitchFamily="34" charset="-122"/>
                <a:cs typeface="Calibri" pitchFamily="34" charset="-120"/>
              </a:rPr>
              <a:t>The framework is thought through.</a:t>
            </a:r>
            <a:endParaRPr lang="en-US" sz="3200" dirty="0"/>
          </a:p>
        </p:txBody>
      </p:sp>
      <p:sp>
        <p:nvSpPr>
          <p:cNvPr id="7" name="Text 5"/>
          <p:cNvSpPr/>
          <p:nvPr/>
        </p:nvSpPr>
        <p:spPr>
          <a:xfrm>
            <a:off x="457200" y="2011680"/>
            <a:ext cx="11247120" cy="822960"/>
          </a:xfrm>
          <a:prstGeom prst="rect">
            <a:avLst/>
          </a:prstGeom>
          <a:noFill/>
          <a:ln/>
        </p:spPr>
        <p:txBody>
          <a:bodyPr wrap="square" lIns="0" tIns="0" rIns="0" bIns="0" rtlCol="0" anchor="t"/>
          <a:lstStyle/>
          <a:p>
            <a:pPr algn="l" indent="0" marL="0">
              <a:buNone/>
            </a:pPr>
            <a:r>
              <a:rPr lang="en-US" sz="3800" b="1" i="1" dirty="0">
                <a:solidFill>
                  <a:srgbClr val="1F2937"/>
                </a:solidFill>
                <a:latin typeface="Calibri" pitchFamily="34" charset="0"/>
                <a:ea typeface="Calibri" pitchFamily="34" charset="-122"/>
                <a:cs typeface="Calibri" pitchFamily="34" charset="-120"/>
              </a:rPr>
              <a:t>The build starts </a:t>
            </a:r>
            <a:pPr algn="l" indent="0" marL="0">
              <a:buNone/>
            </a:pPr>
            <a:r>
              <a:rPr lang="en-US" sz="3800" b="1" i="1" dirty="0">
                <a:solidFill>
                  <a:srgbClr val="E85D25"/>
                </a:solidFill>
                <a:latin typeface="Calibri" pitchFamily="34" charset="0"/>
                <a:ea typeface="Calibri" pitchFamily="34" charset="-122"/>
                <a:cs typeface="Calibri" pitchFamily="34" charset="-120"/>
              </a:rPr>
              <a:t>tonight</a:t>
            </a:r>
            <a:pPr algn="l" indent="0" marL="0">
              <a:buNone/>
            </a:pPr>
            <a:r>
              <a:rPr lang="en-US" sz="3800" b="1" i="1" dirty="0">
                <a:solidFill>
                  <a:srgbClr val="1F2937"/>
                </a:solidFill>
                <a:latin typeface="Calibri" pitchFamily="34" charset="0"/>
                <a:ea typeface="Calibri" pitchFamily="34" charset="-122"/>
                <a:cs typeface="Calibri" pitchFamily="34" charset="-120"/>
              </a:rPr>
              <a:t>.</a:t>
            </a:r>
            <a:endParaRPr lang="en-US" sz="3800" dirty="0"/>
          </a:p>
        </p:txBody>
      </p:sp>
      <p:sp>
        <p:nvSpPr>
          <p:cNvPr id="8" name="Text 6"/>
          <p:cNvSpPr/>
          <p:nvPr/>
        </p:nvSpPr>
        <p:spPr>
          <a:xfrm>
            <a:off x="457200" y="3108960"/>
            <a:ext cx="11247120" cy="822960"/>
          </a:xfrm>
          <a:prstGeom prst="rect">
            <a:avLst/>
          </a:prstGeom>
          <a:noFill/>
          <a:ln/>
        </p:spPr>
        <p:txBody>
          <a:bodyPr wrap="square" lIns="0" tIns="0" rIns="0" bIns="0" rtlCol="0" anchor="t"/>
          <a:lstStyle/>
          <a:p>
            <a:pPr algn="l" indent="0" marL="0">
              <a:buNone/>
            </a:pPr>
            <a:r>
              <a:rPr lang="en-US" sz="1400" dirty="0">
                <a:solidFill>
                  <a:srgbClr val="1F2937"/>
                </a:solidFill>
                <a:latin typeface="Calibri" pitchFamily="34" charset="0"/>
                <a:ea typeface="Calibri" pitchFamily="34" charset="-122"/>
                <a:cs typeface="Calibri" pitchFamily="34" charset="-120"/>
              </a:rPr>
              <a:t>Round 1 gave us the framework. The last weeks gave us the </a:t>
            </a:r>
            <a:pPr algn="l" indent="0" marL="0">
              <a:buNone/>
            </a:pPr>
            <a:r>
              <a:rPr lang="en-US" sz="1400" b="1" dirty="0">
                <a:solidFill>
                  <a:srgbClr val="1E3A8A"/>
                </a:solidFill>
                <a:latin typeface="Calibri" pitchFamily="34" charset="0"/>
                <a:ea typeface="Calibri" pitchFamily="34" charset="-122"/>
                <a:cs typeface="Calibri" pitchFamily="34" charset="-120"/>
              </a:rPr>
              <a:t>architecture + ML strategy</a:t>
            </a:r>
            <a:pPr algn="l" indent="0" marL="0">
              <a:buNone/>
            </a:pPr>
            <a:r>
              <a:rPr lang="en-US" sz="1400" dirty="0">
                <a:solidFill>
                  <a:srgbClr val="1F2937"/>
                </a:solidFill>
                <a:latin typeface="Calibri" pitchFamily="34" charset="0"/>
                <a:ea typeface="Calibri" pitchFamily="34" charset="-122"/>
                <a:cs typeface="Calibri" pitchFamily="34" charset="-120"/>
              </a:rPr>
              <a:t>. The next 72 hours give us a </a:t>
            </a:r>
            <a:pPr algn="l" indent="0" marL="0">
              <a:buNone/>
            </a:pPr>
            <a:r>
              <a:rPr lang="en-US" sz="1400" b="1" dirty="0">
                <a:solidFill>
                  <a:srgbClr val="16A34A"/>
                </a:solidFill>
                <a:latin typeface="Calibri" pitchFamily="34" charset="0"/>
                <a:ea typeface="Calibri" pitchFamily="34" charset="-122"/>
                <a:cs typeface="Calibri" pitchFamily="34" charset="-120"/>
              </a:rPr>
              <a:t>working prototype</a:t>
            </a:r>
            <a:pPr algn="l" indent="0" marL="0">
              <a:buNone/>
            </a:pPr>
            <a:r>
              <a:rPr lang="en-US" sz="1400" dirty="0">
                <a:solidFill>
                  <a:srgbClr val="1F2937"/>
                </a:solidFill>
                <a:latin typeface="Calibri" pitchFamily="34" charset="0"/>
                <a:ea typeface="Calibri" pitchFamily="34" charset="-122"/>
                <a:cs typeface="Calibri" pitchFamily="34" charset="-120"/>
              </a:rPr>
              <a:t>. What we bring you today is the plan we execute, not marketing.</a:t>
            </a:r>
            <a:endParaRPr lang="en-US" sz="1400" dirty="0"/>
          </a:p>
        </p:txBody>
      </p:sp>
      <p:sp>
        <p:nvSpPr>
          <p:cNvPr id="9" name="Shape 7"/>
          <p:cNvSpPr/>
          <p:nvPr/>
        </p:nvSpPr>
        <p:spPr>
          <a:xfrm>
            <a:off x="457200" y="4251960"/>
            <a:ext cx="3703320" cy="1600200"/>
          </a:xfrm>
          <a:prstGeom prst="roundRect">
            <a:avLst>
              <a:gd name="adj" fmla="val 6857"/>
            </a:avLst>
          </a:prstGeom>
          <a:solidFill>
            <a:srgbClr val="E0E7FF"/>
          </a:solidFill>
          <a:ln/>
        </p:spPr>
      </p:sp>
      <p:sp>
        <p:nvSpPr>
          <p:cNvPr id="10" name="Text 8"/>
          <p:cNvSpPr/>
          <p:nvPr/>
        </p:nvSpPr>
        <p:spPr>
          <a:xfrm>
            <a:off x="685800" y="4434840"/>
            <a:ext cx="3246120" cy="457200"/>
          </a:xfrm>
          <a:prstGeom prst="rect">
            <a:avLst/>
          </a:prstGeom>
          <a:noFill/>
          <a:ln/>
        </p:spPr>
        <p:txBody>
          <a:bodyPr wrap="square" lIns="0" tIns="0" rIns="0" bIns="0" rtlCol="0" anchor="t"/>
          <a:lstStyle/>
          <a:p>
            <a:pPr algn="l" indent="0" marL="0">
              <a:buNone/>
            </a:pPr>
            <a:r>
              <a:rPr lang="en-US" sz="2000" b="1" dirty="0">
                <a:solidFill>
                  <a:srgbClr val="1E3A8A"/>
                </a:solidFill>
                <a:latin typeface="Calibri" pitchFamily="34" charset="0"/>
                <a:ea typeface="Calibri" pitchFamily="34" charset="-122"/>
                <a:cs typeface="Calibri" pitchFamily="34" charset="-120"/>
              </a:rPr>
              <a:t>GUIDANCE</a:t>
            </a:r>
            <a:endParaRPr lang="en-US" sz="2000" dirty="0"/>
          </a:p>
        </p:txBody>
      </p:sp>
      <p:sp>
        <p:nvSpPr>
          <p:cNvPr id="11" name="Text 9"/>
          <p:cNvSpPr/>
          <p:nvPr/>
        </p:nvSpPr>
        <p:spPr>
          <a:xfrm>
            <a:off x="685800" y="5029200"/>
            <a:ext cx="3246120" cy="68580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Validate the cut-line for the 72 hours. Sharpen ML and FL narratives.</a:t>
            </a:r>
            <a:endParaRPr lang="en-US" sz="1200" dirty="0"/>
          </a:p>
        </p:txBody>
      </p:sp>
      <p:sp>
        <p:nvSpPr>
          <p:cNvPr id="12" name="Shape 10"/>
          <p:cNvSpPr/>
          <p:nvPr/>
        </p:nvSpPr>
        <p:spPr>
          <a:xfrm>
            <a:off x="4279392" y="4251960"/>
            <a:ext cx="3703320" cy="1600200"/>
          </a:xfrm>
          <a:prstGeom prst="roundRect">
            <a:avLst>
              <a:gd name="adj" fmla="val 6857"/>
            </a:avLst>
          </a:prstGeom>
          <a:solidFill>
            <a:srgbClr val="FDE4D8"/>
          </a:solidFill>
          <a:ln/>
        </p:spPr>
      </p:sp>
      <p:sp>
        <p:nvSpPr>
          <p:cNvPr id="13" name="Text 11"/>
          <p:cNvSpPr/>
          <p:nvPr/>
        </p:nvSpPr>
        <p:spPr>
          <a:xfrm>
            <a:off x="4507992" y="4434840"/>
            <a:ext cx="3246120" cy="457200"/>
          </a:xfrm>
          <a:prstGeom prst="rect">
            <a:avLst/>
          </a:prstGeom>
          <a:noFill/>
          <a:ln/>
        </p:spPr>
        <p:txBody>
          <a:bodyPr wrap="square" lIns="0" tIns="0" rIns="0" bIns="0" rtlCol="0" anchor="t"/>
          <a:lstStyle/>
          <a:p>
            <a:pPr algn="l" indent="0" marL="0">
              <a:buNone/>
            </a:pPr>
            <a:r>
              <a:rPr lang="en-US" sz="2000" b="1" dirty="0">
                <a:solidFill>
                  <a:srgbClr val="E85D25"/>
                </a:solidFill>
                <a:latin typeface="Calibri" pitchFamily="34" charset="0"/>
                <a:ea typeface="Calibri" pitchFamily="34" charset="-122"/>
                <a:cs typeface="Calibri" pitchFamily="34" charset="-120"/>
              </a:rPr>
              <a:t>RESOURCES</a:t>
            </a:r>
            <a:endParaRPr lang="en-US" sz="2000" dirty="0"/>
          </a:p>
        </p:txBody>
      </p:sp>
      <p:sp>
        <p:nvSpPr>
          <p:cNvPr id="14" name="Text 12"/>
          <p:cNvSpPr/>
          <p:nvPr/>
        </p:nvSpPr>
        <p:spPr>
          <a:xfrm>
            <a:off x="4507992" y="5029200"/>
            <a:ext cx="3246120" cy="68580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Any post-submission access to Pi + sensors for a v2. Dataset pointers.</a:t>
            </a:r>
            <a:endParaRPr lang="en-US" sz="1200" dirty="0"/>
          </a:p>
        </p:txBody>
      </p:sp>
      <p:sp>
        <p:nvSpPr>
          <p:cNvPr id="15" name="Shape 13"/>
          <p:cNvSpPr/>
          <p:nvPr/>
        </p:nvSpPr>
        <p:spPr>
          <a:xfrm>
            <a:off x="8101584" y="4251960"/>
            <a:ext cx="3703320" cy="1600200"/>
          </a:xfrm>
          <a:prstGeom prst="roundRect">
            <a:avLst>
              <a:gd name="adj" fmla="val 6857"/>
            </a:avLst>
          </a:prstGeom>
          <a:solidFill>
            <a:srgbClr val="DCFCE7"/>
          </a:solidFill>
          <a:ln/>
        </p:spPr>
      </p:sp>
      <p:sp>
        <p:nvSpPr>
          <p:cNvPr id="16" name="Text 14"/>
          <p:cNvSpPr/>
          <p:nvPr/>
        </p:nvSpPr>
        <p:spPr>
          <a:xfrm>
            <a:off x="8330184" y="4434840"/>
            <a:ext cx="3246120" cy="457200"/>
          </a:xfrm>
          <a:prstGeom prst="rect">
            <a:avLst/>
          </a:prstGeom>
          <a:noFill/>
          <a:ln/>
        </p:spPr>
        <p:txBody>
          <a:bodyPr wrap="square" lIns="0" tIns="0" rIns="0" bIns="0" rtlCol="0" anchor="t"/>
          <a:lstStyle/>
          <a:p>
            <a:pPr algn="l" indent="0" marL="0">
              <a:buNone/>
            </a:pPr>
            <a:r>
              <a:rPr lang="en-US" sz="2000" b="1" dirty="0">
                <a:solidFill>
                  <a:srgbClr val="16A34A"/>
                </a:solidFill>
                <a:latin typeface="Calibri" pitchFamily="34" charset="0"/>
                <a:ea typeface="Calibri" pitchFamily="34" charset="-122"/>
                <a:cs typeface="Calibri" pitchFamily="34" charset="-120"/>
              </a:rPr>
              <a:t>CONNECTIONS</a:t>
            </a:r>
            <a:endParaRPr lang="en-US" sz="2000" dirty="0"/>
          </a:p>
        </p:txBody>
      </p:sp>
      <p:sp>
        <p:nvSpPr>
          <p:cNvPr id="17" name="Text 15"/>
          <p:cNvSpPr/>
          <p:nvPr/>
        </p:nvSpPr>
        <p:spPr>
          <a:xfrm>
            <a:off x="8330184" y="5029200"/>
            <a:ext cx="3246120" cy="68580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NGO or municipal contact for the pilot. IEEE reviewer / venue advice.</a:t>
            </a:r>
            <a:endParaRPr lang="en-US" sz="1200" dirty="0"/>
          </a:p>
        </p:txBody>
      </p:sp>
      <p:sp>
        <p:nvSpPr>
          <p:cNvPr id="18" name="Shape 16"/>
          <p:cNvSpPr/>
          <p:nvPr/>
        </p:nvSpPr>
        <p:spPr>
          <a:xfrm>
            <a:off x="457200" y="6035040"/>
            <a:ext cx="11247120" cy="594360"/>
          </a:xfrm>
          <a:prstGeom prst="roundRect">
            <a:avLst>
              <a:gd name="adj" fmla="val 15385"/>
            </a:avLst>
          </a:prstGeom>
          <a:solidFill>
            <a:srgbClr val="1F2937"/>
          </a:solidFill>
          <a:ln/>
        </p:spPr>
      </p:sp>
      <p:sp>
        <p:nvSpPr>
          <p:cNvPr id="19" name="Text 17"/>
          <p:cNvSpPr/>
          <p:nvPr/>
        </p:nvSpPr>
        <p:spPr>
          <a:xfrm>
            <a:off x="457200" y="6035040"/>
            <a:ext cx="1124712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Team AI4Earth   ·   </a:t>
            </a:r>
            <a:pPr algn="ctr" indent="0" marL="0">
              <a:buNone/>
            </a:pPr>
            <a:r>
              <a:rPr lang="en-US" sz="1300" dirty="0">
                <a:solidFill>
                  <a:srgbClr val="FFFFFF"/>
                </a:solidFill>
                <a:latin typeface="Calibri" pitchFamily="34" charset="0"/>
                <a:ea typeface="Calibri" pitchFamily="34" charset="-122"/>
                <a:cs typeface="Calibri" pitchFamily="34" charset="-120"/>
              </a:rPr>
              <a:t>Housseni YABRE  (Team Leader)   ·   </a:t>
            </a:r>
            <a:pPr algn="ctr" indent="0" marL="0">
              <a:buNone/>
            </a:pPr>
            <a:r>
              <a:rPr lang="en-US" sz="1300" b="1" dirty="0">
                <a:solidFill>
                  <a:srgbClr val="E85D25"/>
                </a:solidFill>
                <a:latin typeface="Calibri" pitchFamily="34" charset="0"/>
                <a:ea typeface="Calibri" pitchFamily="34" charset="-122"/>
                <a:cs typeface="Calibri" pitchFamily="34" charset="-120"/>
              </a:rPr>
              <a:t>SmartAIthon 2026   ·   </a:t>
            </a:r>
            <a:pPr algn="ctr" indent="0" marL="0">
              <a:buNone/>
            </a:pPr>
            <a:r>
              <a:rPr lang="en-US" sz="1300" i="1" dirty="0">
                <a:solidFill>
                  <a:srgbClr val="FFFFFF"/>
                </a:solidFill>
                <a:latin typeface="Calibri" pitchFamily="34" charset="0"/>
                <a:ea typeface="Calibri" pitchFamily="34" charset="-122"/>
                <a:cs typeface="Calibri" pitchFamily="34" charset="-120"/>
              </a:rPr>
              <a:t>Smart Waste Management Systems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SmartWasteAI - Round 2 Mentoring</dc:title>
  <dc:subject>PptxGenJS Presentation</dc:subject>
  <dc:creator>AI4Earth - Housseni YABRE</dc:creator>
  <cp:lastModifiedBy>AI4Earth - Housseni YABRE</cp:lastModifiedBy>
  <cp:revision>1</cp:revision>
  <dcterms:created xsi:type="dcterms:W3CDTF">2026-08-11T14:06:39Z</dcterms:created>
  <dcterms:modified xsi:type="dcterms:W3CDTF">2026-08-11T14:06:39Z</dcterms:modified>
</cp:coreProperties>
</file>